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856B5A-E825-4084-A40B-3EE15AA267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ADD80C-FC88-4DAF-A3F7-7E3F2E7EA0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A999258-F8A4-48F3-9F06-86FF63408B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12DE21C-F4A2-44D0-BB01-7B7814305F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23063D4-CDAA-4634-9826-995792C489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EE1150E-ECD9-4A40-8E37-16EA3C2DB1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BED265-4399-46FF-B078-A3688B564AF7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244A85-2D94-40A0-8327-156C27764C5D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C0AB43-A995-4A37-9488-979E3A30C5A7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0C5A9B-FD3E-4AA5-8098-38C26CA4A9EF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875F29-5DF9-4D0F-B015-7412D7D988C1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6B0C10-F73D-40BA-B05F-6CA4FE3713BF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footystats.org/" TargetMode="External"/><Relationship Id="rId2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://127.0.0.1:8000/train/CB" TargetMode="Externa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://localhost/" TargetMode="External"/><Relationship Id="rId2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://127.0.0.1:8000/predict/CB" TargetMode="Externa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link.springer.com/article/10.1007/s10994-018-5747-8" TargetMode="External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6984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400" spc="-1" strike="noStrike">
                <a:solidFill>
                  <a:srgbClr val="861141"/>
                </a:solidFill>
                <a:latin typeface="Times New Roman"/>
                <a:ea typeface="Noto Sans CJK SC"/>
              </a:rPr>
              <a:t>Proiect individual in cadrul cursului Software Development Academy -AI Engineering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71680" indent="-228600" algn="ctr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1" i="1" lang="en-US" sz="2600" spc="-1" strike="noStrike">
                <a:solidFill>
                  <a:srgbClr val="f10d0c"/>
                </a:solidFill>
                <a:latin typeface="Times New Roman"/>
                <a:ea typeface="Noto Sans CJK SC"/>
              </a:rPr>
              <a:t>Predicția rezultatului final al unui meci de fotbal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marL="571680" indent="-2286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861141"/>
                </a:solidFill>
                <a:latin typeface="Times New Roman"/>
                <a:ea typeface="Noto Sans CJK SC"/>
              </a:rPr>
              <a:t>Grupa AIRemoteRO4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571680" indent="-2286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861141"/>
                </a:solidFill>
                <a:latin typeface="Times New Roman"/>
                <a:ea typeface="Noto Sans CJK SC"/>
              </a:rPr>
              <a:t>Cursant HOHA V. Gheorghiță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32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Scurta descriere ; Librarii si environment-uri folosite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22560" y="756000"/>
            <a:ext cx="9070560" cy="14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Pe baza rezultatelor si a statisticilor meciurilor anterior disputate se incearca realizarea unei predictii a rezultatului final al unui meci de fotbal folosind algoritmi Machine Learning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Atat timp cat rezultatele obtinute au o precizie relativ scazuta (~60%) si totodata fara o strategie de pariere potrivita, proiectul ramane in zona de hobby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La implementarea proiectului au fost folosite limbajele de programare Python și PHP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S-a folosit mediul de dezvoltare VSCode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5" name="Rectangle 38"/>
          <p:cNvSpPr/>
          <p:nvPr/>
        </p:nvSpPr>
        <p:spPr>
          <a:xfrm>
            <a:off x="292320" y="2457720"/>
            <a:ext cx="893160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Librarii python 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Python 3.12.9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Keras 3.11.3 (NN)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Catboost 1.2.8 (CatBoostClassifier)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este definit modelul CatBoost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Sklearn 1.7.2 (DecisionTreeClassifier)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este definit modelul DecisionTree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Pandas 2.3.2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manipularea datelor; procesarea tabelelor(Dataframe)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Numpy 2.3.3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calcul numeric rapid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Matplotlib 3.10.6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grafice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Seaborn 0.13.2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grafice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Mlflow 3.3.2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track pe training modele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Mysql.connector 2.2.9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conector cu MySqlDatabase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Joblib 1.5.2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permite salvarea/incarcarea modelelor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my_classes 1.0.0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construieste un Dataframe din MySQL Table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Venv (din Python)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58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Dataset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000" y="902520"/>
            <a:ext cx="9070560" cy="425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Sursa datasetului este </a:t>
            </a:r>
            <a:r>
              <a:rPr b="0" lang="en-US" sz="1500" spc="-1" strike="noStrike" u="sng">
                <a:solidFill>
                  <a:srgbClr val="0000ee"/>
                </a:solidFill>
                <a:uFillTx/>
                <a:latin typeface="Arial"/>
                <a:ea typeface="DejaVu Sans"/>
                <a:hlinkClick r:id="rId1"/>
              </a:rPr>
              <a:t>https://footystats.org/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care ofera un serviciu (contra cost) pentru actualizarea meciurilor viitoare sau actualizarea statisticilor meciurilor disputate. 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Actualizarea se realizeaza cu ajutorul a doua scripturi php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Un script pentru actualizarea ligilor disponibile la sursa online (aproximativ 10300, iar numarul creste mereu) ; urmeaza o etapa in care se modifica (deocamdata manual) campul download corespunzator ligii pentru care se doreste ca meciurile sa fie adaugate in dataset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un script care extrage dintr-o lista de ligi (pe cele cu download=1), meciurile din liga si din sezonul corespunzator. Se extrage intreg setul de meciuri într-un fișier json care se prelucrează și se adaugă/actualizează intr-o bază de date mysql 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Baza de date (datasetul) contine 34 de ligi (superioare) din 30 de tari din intervalul 2013 – 2025 (prezent); la data de 02.12.2025 existau in baza de date 112391 inregistrari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Pentru utilizarea facila in algoritmii ML s-a impementat clasa </a:t>
            </a:r>
            <a:r>
              <a:rPr b="1" i="1" lang="en-US" sz="1500" spc="-1" strike="noStrike">
                <a:solidFill>
                  <a:srgbClr val="f10d0c"/>
                </a:solidFill>
                <a:latin typeface="Arial"/>
                <a:ea typeface="DejaVu Sans"/>
              </a:rPr>
              <a:t>MyDataFrame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cu ajutorul careia se preiau parametri (in constructor) referitor la perioada (de antrenare a modelului)  si liga si se returneaza un dataframe cu inregistrarile corespunzatoare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Avantaje directe : modificarea intr-un singur loc a coloanelor feature pe baza carora algoritmii de ML prezic rezultatul; manipularea datelor facila (crearea de noi coloane feature pe baza unora initial existente intr-un)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5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Dataset preprocessing 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397080" y="1273680"/>
            <a:ext cx="943560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Actiuni de feature engineering: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Asupra bazei de date direct :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Verificat valoarea cotelor (introduse eronat sau outlayere) &gt;50 ; sterse din Mysql (cam 200 inreg)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Prin feature engineering: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Modulul python “update_clasament.py” actualizeaza urmatoarele campuri direct in baza de date inaintea momentului desfasurarii jocului (fara a se tine cont de rezultatul final; rezultatul final va fi actualizat la urmatorul update, odata cu disponibilitatea lui pe footystats.org: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Numarul de puncte al echipei (pentru stabilirea locului in clasament), puncte realizate acasa/in deplasare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Locul in clasament in momentul desfasurarii meciului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Numarul de goluri inscrise acasa/in deplasare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Forma echipei in ultimele 5 meciuri (sau oricare alt numar de meciuri)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Alte statistici disponibile pe footystats.org care precum : atacuri, atacuri periculoase, faulturi, posesie, suturi, suturi pe poarta, cornere, offsideuri ; nu toate pot contribui la predictia rezultatului final al meciului, existand posibilitatea ridicarii complexitatii modelului, dar fiind utile si necesare in predictia altor evenimente dintr-un meci de fotbal (nr de cornere, offsideuri, posesie, etc)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100" spc="-1" strike="noStrike">
                <a:solidFill>
                  <a:srgbClr val="f10d0c"/>
                </a:solidFill>
                <a:latin typeface="Arial"/>
                <a:ea typeface="DejaVu Sans"/>
              </a:rPr>
              <a:t>Un indicator bun este nr de goluri inscrise, primite in ultimele 3 meciuri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</a:rPr>
              <a:t>Modulul update_clasament.py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345240" y="1126080"/>
            <a:ext cx="9070560" cy="418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Actualizarea campurilor “htranking” si “atranking” (locurile in clasament ale echipelor gazda si oaspete, inainte de disputarea meciului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structuri de date folosite :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Clasament = {}</a:t>
            </a: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	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d1 = { "gm1":0, "gm2":0, "gp1":0, "gp2":0, "coef1":[], "coef2":[], "played1":0, "played2":0, "ranking":0, "points":0, "shotsontarget_a":0, "shotsofftarget_a":0, "fouls_a":0, "possession_a":0, "dangerousattacks_a":0, "attacks_a":0, "corners_a":0, "offsides_a":0 }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Selectarea inregistrarilor din baza de date dintr-o anumita liga si un anumit sezon, ordonate dupa data disputarii jocului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Parcurgerea in ordine cronologica si actualizarea dictionarului d1 corespunzator unei echipe (exemplu de accesare: clasament[‘TeamA’][‘played1’] ; accesarea prin numele cheii facilitata de tipul de cursor asociat cu baza de date care transforma numele campurilor in chei mycursor = mydb.cursor(dictionary=True) )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Ubuntu"/>
                <a:ea typeface="DejaVu Sans"/>
              </a:rPr>
              <a:t>Ordonarea dictionarului Clasament dupa cheia dictionarului d1 [‘points’] (eventual si dupa goluri marcate)</a:t>
            </a:r>
            <a:endParaRPr b="0" lang="en-US" sz="15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Actualizarea in baza de date a caracteristicilor nou calculate (ranking, gm1,gm2...etc)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Rularea modulului </a:t>
            </a:r>
            <a:r>
              <a:rPr b="1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update_clasament </a:t>
            </a: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si </a:t>
            </a:r>
            <a:r>
              <a:rPr b="1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update_pi_rating </a:t>
            </a: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 trebuie efectuata de fiecare data dupa o actualizare a meciurilor care urmeaza sa se desfasoare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64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</a:rPr>
              <a:t>Sistemul Pi RATING</a:t>
            </a:r>
            <a:br>
              <a:rPr sz="2100"/>
            </a:br>
            <a:r>
              <a:rPr b="1" lang="en-US" sz="1200" spc="-1" strike="noStrike">
                <a:solidFill>
                  <a:srgbClr val="000000"/>
                </a:solidFill>
                <a:latin typeface="Arial"/>
              </a:rPr>
              <a:t>(creat in anul 2012 de ANTHONY C. CONSTANTINOU , NORMAN E. FENTON)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504000" y="917280"/>
            <a:ext cx="9070560" cy="45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 lnSpcReduction="10000"/>
          </a:bodyPr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Pi-Rating un sistem folosit în analiza sportivă pentru a estima forța reală și forma actuală a unei echipe, pe baza golurilor marcate și primite. Este un indicator folosit în modele statistice și în bettingul profesionist.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Este un rating dinamic, o metodă de a transforma golurile marcate/primite într-un rating numeric de formă si care: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se actualizează după fiecare meci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crește dacă echipa joacă mai bine decât se aștepta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scade dacă joacă mai slab decât se aștepta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ia în calcul forța adversarului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folosește scorul, nu doar rezultatul (1X2)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ia în calcul cât de puternic a fost adversarul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victoria 4–0 cu un adversar slab nu valorează cât o victorie 1–0 cu unul puternic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poate prezice mai bine golurile așteptate pe termen scurt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este stabil, dar sensibil la schimbări în formă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algn="just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864000" indent="0" defTabSz="9144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Formula de baza :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Pi_new = Pi_old + K * (GOALS_actual − GOALS_expected)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*) GOALS_expected_teamA = avg_goals * 10^(ratingA − ratingB)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864000" indent="0" defTabSz="9144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Unde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K = coeficient de sensibilitate (0.1–0.3 de obicei)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GOALS_expected = câte goluri ar fi trebuit să marcheze echipa conform ratingului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Noto Sans CJK SC"/>
              </a:rPr>
              <a:t>GOALS_actual = golurile reale din meci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9360" y="264600"/>
            <a:ext cx="906984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</a:rPr>
              <a:t>Stabilirea coloanelor feature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891720"/>
            <a:ext cx="8921880" cy="33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Coloanele feature dupa care se vor calcula predictiile sunt cele in legatura cu performanta echipelor, dar si unele care pot da un anumit grad de omogenitate rezultateor (un anume campionat).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3838"/>
                </a:highlight>
                <a:latin typeface="Arial"/>
                <a:ea typeface="DejaVu Sans"/>
              </a:rPr>
              <a:t>Comparatie pentru esantionul X_TEST cu meciurile din dataset din toti anii sau din ultimii X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6" name="PlaceHolder 3"/>
          <p:cNvSpPr/>
          <p:nvPr/>
        </p:nvSpPr>
        <p:spPr>
          <a:xfrm>
            <a:off x="196560" y="1406520"/>
            <a:ext cx="9584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country_cat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– tara de unde apartine divizia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divizia_cat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– divizia in care se joaca meciul (utila! Aduce un plus de precizie NN 0.4907 → 04943)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B365H,B365D,B365A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cotele pentru gazde, egalitate si oapseti inainte de meci utile pe precizia pe gazde si oaspeti (NN 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  <a:ea typeface="DejaVu Sans"/>
              </a:rPr>
              <a:t>H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0.49→0.52 </a:t>
            </a:r>
            <a:r>
              <a:rPr b="1" lang="en-US" sz="11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  <a:ea typeface="DejaVu Sans"/>
              </a:rPr>
              <a:t>A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0.60→0.61) (CB 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  <a:ea typeface="DejaVu Sans"/>
              </a:rPr>
              <a:t>H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0.607→ 0.642 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  <a:ea typeface="DejaVu Sans"/>
              </a:rPr>
              <a:t>A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0.469 →0.504) desi cotele sunt parerea bookmakerilor si pot influenta si negativ in unele cazuri, dar overall aduc un plus de preciie)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HomeTeamCat, AwayTeamCat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transformarea numelui echipei in categorie (CB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00a933"/>
                </a:highlight>
                <a:latin typeface="Arial"/>
                <a:ea typeface="Noto Sans CJK SC"/>
              </a:rPr>
              <a:t>H D A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cu valori in plus  de aprox 0.0066;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NN 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ff0000"/>
                </a:highlight>
                <a:latin typeface="Arial"/>
                <a:ea typeface="Noto Sans CJK SC"/>
              </a:rPr>
              <a:t>H 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069a2e"/>
                </a:highlight>
                <a:latin typeface="Arial"/>
                <a:ea typeface="Noto Sans CJK SC"/>
              </a:rPr>
              <a:t>D</a:t>
            </a:r>
            <a:r>
              <a:rPr b="0" lang="en-US" sz="1100" spc="-1" strike="noStrike">
                <a:solidFill>
                  <a:srgbClr val="000000"/>
                </a:solidFill>
                <a:highlight>
                  <a:srgbClr val="ff0000"/>
                </a:highlight>
                <a:latin typeface="Arial"/>
                <a:ea typeface="Noto Sans CJK SC"/>
              </a:rPr>
              <a:t> A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cu valori foarte mici in plus sau in minus ;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HTGML3, HTGPL3, ATGML3, ATGPL3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 (Goluri marcate in ultimele 3 meciuri HT si AT) (preciziile nesemnificativ schimbate)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HTPOINTS, ATPOINTS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daca nu sunt tratate ca time series atunci intervin negativ in precizie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HTRANKING, ATRANKING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 intervin nesemnificativ in predictie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HPIRATING1, HPIRATING2, APIRATING1, APIRATING2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 ratingurile echipelor gazda si oaspete acas si in deplasare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HTCOEF1, ATCOEF1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reprezinta numarul de puncte ale echipelor gazda si oaspete in ultimele 5 meciuri disputate (include acasa si deplasare)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HT_DANGEROUSATTACKS, AT_DANGEROUSATTACKS, HT_ATTACKS, AT_ATTACKS, HT_SHOTSONTARGET, AT_SHOTSONTARGET, HT_SHOTSOFFTARGET, AT_SHOTSOFFTARGET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nu vor fi disponibile pentru jocurile nedisputate astfel incat trebuie sa folosim mediile pe meci (oricum media este un indicator mai bun fata de valoarea discreta)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HT_DANGEROUSATTACKS_A, AT_DANGEROUSATTACKS_A, HT_ATTACKS_A, AT_ATTACKS_A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sunt mediile atacurilor si atacurilor periciloase ale echipelor gazda si oaspete din sezonul curent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HT_SHOTSONTARGET_A, AT_SHOTSONTARGET_A, HT_SHOTSOFFTARGET_A, AT_SHOTSOFFTARGET_A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sunt mediile suturilor spre poarta si pe poarta ale echipelor gazda si opaspete in sezonul curent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2160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HTRANKING, ATRANKING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locul in clasament al ecipei gazda si respectiv oaspete in sezonul respectiv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49360" y="264600"/>
            <a:ext cx="906984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</a:rPr>
              <a:t>Matricea de corelatii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891720"/>
            <a:ext cx="9156600" cy="4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Matricea de corelații este un tabel care arată cât de puternic și în ce direcție se leagă fiecare feature (coloană) de celelalte feature-uri dintr-un DataFrame (+1 → corelație pozitivă perfectă (când una crește, cealaltă crește exact proporționa ; –1→ corelație negativă perfectă (când una crește, cealaltă scade proporțional)l) 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9" name="PlaceHolder 6"/>
          <p:cNvSpPr/>
          <p:nvPr/>
        </p:nvSpPr>
        <p:spPr>
          <a:xfrm>
            <a:off x="196560" y="1406520"/>
            <a:ext cx="9584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60" name="Picture 53" descr=""/>
          <p:cNvPicPr/>
          <p:nvPr/>
        </p:nvPicPr>
        <p:blipFill>
          <a:blip r:embed="rId1"/>
          <a:stretch/>
        </p:blipFill>
        <p:spPr>
          <a:xfrm>
            <a:off x="1294560" y="1512000"/>
            <a:ext cx="7216920" cy="4057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49360" y="264600"/>
            <a:ext cx="906984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</a:rPr>
              <a:t>Importanta coloanelor features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504000" y="891720"/>
            <a:ext cx="9156600" cy="4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 lnSpcReduction="10000"/>
          </a:bodyPr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Graficul de mai jos indica proportia in care fiecare coloana feature intevine in calculul predictiei. Se observa ca intr-adevar cotele sunt cele care indica in mare parte castigatoarea unui meci, ele fiind deja calculate de bookmakeri si pe baza celorlalte coloane (pe langa alti factori)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3" name="PlaceHolder 9"/>
          <p:cNvSpPr/>
          <p:nvPr/>
        </p:nvSpPr>
        <p:spPr>
          <a:xfrm>
            <a:off x="196560" y="1406520"/>
            <a:ext cx="9584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64" name="Picture 57" descr=""/>
          <p:cNvPicPr/>
          <p:nvPr/>
        </p:nvPicPr>
        <p:blipFill>
          <a:blip r:embed="rId1"/>
          <a:stretch/>
        </p:blipFill>
        <p:spPr>
          <a:xfrm>
            <a:off x="432720" y="1765440"/>
            <a:ext cx="9296280" cy="361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f10d0c"/>
                </a:solidFill>
                <a:latin typeface="Arial"/>
              </a:rPr>
              <a:t>ML DL Neuronal Network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707040" y="1076760"/>
            <a:ext cx="5436000" cy="118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Reteaua Neuronala este definita de 3 hidden layere si un output layer cu activare softmax (folosita la clasificarea multiclasa) [x,y,z] (x+y+z=1, x,y,z&lt;1) </a:t>
            </a: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 = Sequential([ Dense(units=64, activation='relu', input_shape=(X_train.shape[1],)), </a:t>
            </a: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       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Dense(units=32,activation='relu'), </a:t>
            </a: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       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Dense(units=16,activation='relu'), </a:t>
            </a: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       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Dense(units=3, activation='softmax') ])</a:t>
            </a:r>
            <a:endParaRPr b="0" lang="en-US" sz="1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7" name="Rectangle 60"/>
          <p:cNvSpPr/>
          <p:nvPr/>
        </p:nvSpPr>
        <p:spPr>
          <a:xfrm>
            <a:off x="843480" y="2287440"/>
            <a:ext cx="498708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96666" lnSpcReduction="20000"/>
          </a:bodyPr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Hyperparametri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batch_size= 16 (cu 32 e mai bine)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(</a:t>
            </a:r>
            <a:r>
              <a:rPr b="0" i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cate exemple din setul de antrenare sunt procesate inainte ca reteaua sa-si actualizeze weights-urile)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Epochs = 5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(</a:t>
            </a:r>
            <a:r>
              <a:rPr b="0" i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treceri complete prin setul de antrenare)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learning_rate=0.001 </a:t>
            </a:r>
            <a:r>
              <a:rPr b="0" i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(rata de invatare weights = weights – learning_rate * gradient)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ectangle 61"/>
          <p:cNvSpPr/>
          <p:nvPr/>
        </p:nvSpPr>
        <p:spPr>
          <a:xfrm>
            <a:off x="820080" y="3270960"/>
            <a:ext cx="417528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early_stopping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= EarlyStopping( monitor='val_loss', patience=5, restore_best_weights=True 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Procesul de invatare se opreste daca timp de 5 epochs nu se imbunatateste valoare dorita (loss)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ectangle 62"/>
          <p:cNvSpPr/>
          <p:nvPr/>
        </p:nvSpPr>
        <p:spPr>
          <a:xfrm>
            <a:off x="5715360" y="2388960"/>
            <a:ext cx="369900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7222" lnSpcReduction="10000"/>
          </a:bodyPr>
          <a:p>
            <a:pPr marL="432000" indent="-3240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class_weights =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 compute_class_weight( class_weight='balanced', classes=np.array([0,1,2]), y=y_train)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Se calculeaza weigths-urile pentru fiecare clasa in parte (care e rata de aparitie a fiecarui tip de rezultat)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63"/>
          <p:cNvSpPr/>
          <p:nvPr/>
        </p:nvSpPr>
        <p:spPr>
          <a:xfrm>
            <a:off x="650160" y="4246920"/>
            <a:ext cx="8942400" cy="11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{'gazde': {'precision': 0.582089552238806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, 'recall': 0.5643564356435643, 'f1-score': 0.5730858468677494, 'support': 1313.0},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'egalitate': {'precision': 0.29634831460674155,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'recall': 0.2743823146944083, 'f1-score': 0.2849426063470628, 'support': 769.0},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'oaspeti': {'precision': 0.46100691016781836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, 'recall': 0.509825327510917, 'f1-score': 0.48418869880767235, 'support': 916.0}, 'accuracy': 0.4733155436957972, 'macro avg': {'precision': 0.44648159233778867, 'recall': 0.4495213592829632, 'f1-score': 0.4474057173408282, 'support': 2998.0}, 'weighted avg': {'precision': 0.47180045554898536, 'recall': 0.4733155436957972, 'f1-score': 0.47201448609942437, 'support': 2998.0}}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f10d0c"/>
                </a:solidFill>
                <a:latin typeface="Arial"/>
              </a:rPr>
              <a:t>ML DecisionTree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389840" cy="94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Un Decision Tree (Arbore de decizie) este unul dintre cele mai simple și intuitive modele de Machine Learning.Este un proces de punere de întrebări succesive ca să ajungă la o clasificare.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2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3" name="Rectangle 66"/>
          <p:cNvSpPr/>
          <p:nvPr/>
        </p:nvSpPr>
        <p:spPr>
          <a:xfrm>
            <a:off x="5485680" y="1172160"/>
            <a:ext cx="3741480" cy="161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Noto Sans CJK SC"/>
              </a:rPr>
              <a:t>Ce face arborele?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Pentru un meci nou: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Ia valoarea B365H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Verifică fiecare întrebare din arbore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Merge pe ramura corespunzătoare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Ajunge la o frunză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Returnează clasa dominantă din acea frunză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67"/>
          <p:cNvSpPr/>
          <p:nvPr/>
        </p:nvSpPr>
        <p:spPr>
          <a:xfrm>
            <a:off x="1488600" y="2499840"/>
            <a:ext cx="7933320" cy="10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clf = DecisionTreeClassifier(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criterion="gini", </a:t>
            </a: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# Specifica arborelui cum să măsoare calitatea unui split (împărțire a datelor într-un nod).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max_depth=12, 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# Specifica arborelui cât de adânc poate să crească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Noto Sans CJK SC"/>
              </a:rPr>
              <a:t>random_state=42 ) 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#random_state fixează o “sămânță” (seed) pentru generația aleatoare, astfel încât modelul devine 100% 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	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	</a:t>
            </a:r>
            <a:r>
              <a:rPr b="0" i="1" lang="en-US" sz="1000" spc="-1" strike="noStrike">
                <a:solidFill>
                  <a:srgbClr val="3465a4"/>
                </a:solidFill>
                <a:latin typeface="Arial"/>
                <a:ea typeface="Noto Sans CJK SC"/>
              </a:rPr>
              <a:t>reproductibil ; Numărul “42” este doar o tradiție în ML, nu are o semnificație specială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68"/>
          <p:cNvSpPr/>
          <p:nvPr/>
        </p:nvSpPr>
        <p:spPr>
          <a:xfrm>
            <a:off x="627480" y="3732480"/>
            <a:ext cx="9199440" cy="15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DejaVu Sans"/>
              </a:rPr>
              <a:t>'gazde': {'precision': 0.5275310834813499,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'recall': 0.6785986290936786, 'f1-score': 0.5936042638241172, 'support': 1313.0},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DejaVu Sans"/>
              </a:rPr>
              <a:t>'egalitate': {'precision': 0.2807486631016043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, 'recall': 0.13654096228868662, 'f1-score': 0.1837270341207349, 'support': 769.0},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DejaVu Sans"/>
              </a:rPr>
              <a:t>'oaspeti': {'precision': 0.4406417112299465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, 'recall': 0.4497816593886463, 'f1-score': 0.4451647757968666, 'support': 916.0}, 'accuracy': 0.4696464309539693, 'macro avg': {'precision': 0.41630715260430023, 'recall': 0.4216404169236705, 'f1-score': 0.4074986912472396, 'support': 2998.0}, 'weighted avg': {'precision': 0.4376824022757762, 'recall': 0.4696464309539693, 'f1-score': 0.44311521756832584, 'support': 2998.0}}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10240"/>
            <a:ext cx="9069840" cy="62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f10d0c"/>
                </a:solidFill>
                <a:latin typeface="Arial"/>
              </a:rPr>
              <a:t>ML CatBoosts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26240" y="835560"/>
            <a:ext cx="3741480" cy="161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CatBoosts Este considerat unul dintre cele mai 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bune modele pentru: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date tabulare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date cu multe categorii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clasificare multiclasa (1X2 în fotbal)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predicție din date ne-structurate numeric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57"/>
              </a:spcBef>
              <a:buNone/>
              <a:tabLst>
                <a:tab algn="l" pos="0"/>
              </a:tabLst>
            </a:pPr>
            <a:endParaRPr b="0" lang="en-US" sz="10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8" name="Rectangle 71"/>
          <p:cNvSpPr/>
          <p:nvPr/>
        </p:nvSpPr>
        <p:spPr>
          <a:xfrm>
            <a:off x="4247280" y="835560"/>
            <a:ext cx="5502600" cy="14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CatBoost “învață” prin a construi mulți arbori de decizie mici, unul după altul, unde fiecare arbore: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corectează greșelile arborilor anteriori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este influențat de gradientul erorii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adaugă un mic pas către predicția finală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La final, combinația tuturor arborilor formează un model foarte puternic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72"/>
          <p:cNvSpPr/>
          <p:nvPr/>
        </p:nvSpPr>
        <p:spPr>
          <a:xfrm>
            <a:off x="624600" y="2116080"/>
            <a:ext cx="8938080" cy="15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model = CatBoostClassifier(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iterations=300,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DejaVu Sans"/>
              </a:rPr>
              <a:t>#numar maxim de arbori pe care ii construieste algoritmul 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depth=11, 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r>
              <a:rPr b="0" lang="en-US" sz="1200" spc="-1" strike="noStrike">
                <a:solidFill>
                  <a:srgbClr val="3465a4"/>
                </a:solidFill>
                <a:latin typeface="Arial"/>
                <a:ea typeface="DejaVu Sans"/>
              </a:rPr>
              <a:t>#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DejaVu Sans"/>
              </a:rPr>
              <a:t> adancimea fiecarui arbore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learning_rate=0.1,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Noto Sans CJK SC"/>
              </a:rPr>
              <a:t># Cât de repede învață modelul la fiecare iterație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loss_function='MultiClass',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Noto Sans CJK SC"/>
              </a:rPr>
              <a:t># specifica modelululca sa se foloseasca clasificare multiclasa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eval_metric="Accuracy", 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Noto Sans CJK SC"/>
              </a:rPr>
              <a:t>#Metrică după care modelul monitorizează performanța la fiecare 10 iteratii.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class_weights=[1/0.44, 1/0.26, 1/0.29],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Noto Sans CJK SC"/>
              </a:rPr>
              <a:t># valorile reale in functioe de procentajul 1/x/2 din tot datasetul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  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verbose=10 )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	</a:t>
            </a:r>
            <a:r>
              <a:rPr b="0" i="1" lang="en-US" sz="1200" spc="-1" strike="noStrike">
                <a:solidFill>
                  <a:srgbClr val="3465a4"/>
                </a:solidFill>
                <a:latin typeface="Arial"/>
                <a:ea typeface="Noto Sans CJK SC"/>
              </a:rPr>
              <a:t>#CatBoost va printa un log la fiecare 10 iteratii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ectangle 73"/>
          <p:cNvSpPr/>
          <p:nvPr/>
        </p:nvSpPr>
        <p:spPr>
          <a:xfrm>
            <a:off x="648360" y="3841920"/>
            <a:ext cx="9039600" cy="128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{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'gazde': {'precision': 0.6050420168067226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, 'recall': 0.49352627570449353, 'f1-score': 0.5436241610738255, 'support': 1313.0}, 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'egalitate': {'precision': 0.297719087635054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, 'recall': 0.32249674902470743, 'f1-score': 0.3096129837702871, 'support': 769.0}, '</a:t>
            </a:r>
            <a:r>
              <a:rPr b="0" lang="en-US" sz="1200" spc="-1" strike="noStrik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Noto Sans CJK SC"/>
              </a:rPr>
              <a:t>oaspeti': {'precision': 0.4616087751371115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Noto Sans CJK SC"/>
              </a:rPr>
              <a:t>, 'recall': 0.5513100436681223, 'f1-score': 0.5024875621890548, 'support': 916.0}, 'accuracy': 0.46731154102735156, 'macro avg': {'precision': 0.45478995985962944, 'recall': 0.4557776894657744, 'f1-score': 0.4519082356777225, 'support': 2998.0}, 'weighted avg': {'precision': 0.4823881869526943, 'recall': 0.46731154102735156, 'f1-score': 0.47103052534171375, 'support': 2998.0}}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7"/>
              </a:spcBef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47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Apelarea algoritmilor de training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504000" y="829080"/>
            <a:ext cx="9070560" cy="447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Algoritmii de training pot fi apelati din browser, dintr-o pagina HTML, prin intermediul unei functii async + await mapate pe un link disponibil prin FastAPI (ex: </a:t>
            </a:r>
            <a:r>
              <a:rPr b="0" lang="en-US" sz="1400" spc="-1" strike="noStrike" u="sng">
                <a:solidFill>
                  <a:srgbClr val="0000ee"/>
                </a:solidFill>
                <a:uFillTx/>
                <a:latin typeface="Arial"/>
                <a:ea typeface="DejaVu Sans"/>
                <a:hlinkClick r:id="rId1"/>
              </a:rPr>
              <a:t>http://127.0.0.1:8000/train/CB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) ; raspunsul este de tip JSON , iar decodarea lui (matricea de confuzie) este afisata intr-un tabel. In scriptul </a:t>
            </a:r>
            <a:r>
              <a:rPr b="0" i="1" lang="en-US" sz="14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fast_api.py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exista un decorator care “mapeaza” cererea GET(cu link-ul din pagina HTML) de o functie din script care executa antrenarea modelului, logarea parametrilor prin mlflow si salvarea modelului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Putem accesa pagina de training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din meniu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La finalul rularii fiecarui algoritm in parte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este afisata matricea de confuzie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83" name="Picture 76" descr=""/>
          <p:cNvPicPr/>
          <p:nvPr/>
        </p:nvPicPr>
        <p:blipFill>
          <a:blip r:embed="rId2"/>
          <a:stretch/>
        </p:blipFill>
        <p:spPr>
          <a:xfrm>
            <a:off x="5760360" y="2337840"/>
            <a:ext cx="3462120" cy="1051920"/>
          </a:xfrm>
          <a:prstGeom prst="rect">
            <a:avLst/>
          </a:prstGeom>
          <a:ln w="0">
            <a:noFill/>
          </a:ln>
        </p:spPr>
      </p:pic>
      <p:pic>
        <p:nvPicPr>
          <p:cNvPr id="84" name="Picture 77" descr=""/>
          <p:cNvPicPr/>
          <p:nvPr/>
        </p:nvPicPr>
        <p:blipFill>
          <a:blip r:embed="rId3"/>
          <a:stretch/>
        </p:blipFill>
        <p:spPr>
          <a:xfrm>
            <a:off x="5364360" y="3560400"/>
            <a:ext cx="4092120" cy="1938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Training (ex: durata, echipament folosit pentru training, comparatie de performanta intre 2 equipment-uri daca ati incercat, etc) 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Sistem de operare Ubuntu 24.04.03 (LongTermSupport)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Lansare mlflow Din linia de comanda : mlflow server --host 127.0.0.1 --port 5000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Lansare FastAPI : uvicorn fast_api:app –reload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Accesare server www localhost : </a:t>
            </a:r>
            <a:r>
              <a:rPr b="0" lang="en-US" sz="1600" spc="-1" strike="noStrike" u="sng">
                <a:solidFill>
                  <a:srgbClr val="0000ee"/>
                </a:solidFill>
                <a:uFillTx/>
                <a:latin typeface="Arial"/>
                <a:ea typeface="DejaVu Sans"/>
                <a:hlinkClick r:id="rId1"/>
              </a:rPr>
              <a:t>http://localhost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108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108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Dupa dezvoltarea local a 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108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Docker 28.4.0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864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47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Realizarea predictiilor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504000" y="829080"/>
            <a:ext cx="9070560" cy="447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Predictiile pot fi apelate din browser, dintr-o pagina HTML, prin intermediul unei functii async + await mapate pe un link disponibil prin FastAPI (ex: </a:t>
            </a:r>
            <a:r>
              <a:rPr b="0" lang="en-US" sz="1400" spc="-1" strike="noStrike" u="sng">
                <a:solidFill>
                  <a:srgbClr val="0000ee"/>
                </a:solidFill>
                <a:uFillTx/>
                <a:latin typeface="Arial"/>
                <a:ea typeface="DejaVu Sans"/>
                <a:hlinkClick r:id="rId1"/>
              </a:rPr>
              <a:t>http://127.0.0.1:8000/predict/CB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) ; raspunsul este de tip JSON , iar decodarea lui (nr de predictii) este afisat intr-un tabel. In scriptul </a:t>
            </a:r>
            <a:r>
              <a:rPr b="0" i="1" lang="en-US" sz="14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fast_api.py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exista un decorator care “mapeaza” cererea GET(cu link-ul din pagina HTML) de o functie din script care executa incarcarea modelului, generarea predictiei pe meciurile selectate, si actualizarea in baza de date a predictiilor, astfel ca acestea sa poata fi vizualizate ulterior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Putem accesa pagina de predictii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din meniu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La finalul rularii fiecarui algoritm in parte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este afisat numarul de predictii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89" name="Picture 82" descr=""/>
          <p:cNvPicPr/>
          <p:nvPr/>
        </p:nvPicPr>
        <p:blipFill>
          <a:blip r:embed="rId2"/>
          <a:stretch/>
        </p:blipFill>
        <p:spPr>
          <a:xfrm>
            <a:off x="5028120" y="2429640"/>
            <a:ext cx="4757040" cy="1220400"/>
          </a:xfrm>
          <a:prstGeom prst="rect">
            <a:avLst/>
          </a:prstGeom>
          <a:ln w="0">
            <a:noFill/>
          </a:ln>
          <a:effectLst>
            <a:outerShdw dir="2700000" dist="101823" rotWithShape="0">
              <a:srgbClr val="808080"/>
            </a:outerShdw>
          </a:effectLst>
        </p:spPr>
      </p:pic>
      <p:pic>
        <p:nvPicPr>
          <p:cNvPr id="90" name="Picture 83" descr=""/>
          <p:cNvPicPr/>
          <p:nvPr/>
        </p:nvPicPr>
        <p:blipFill>
          <a:blip r:embed="rId3"/>
          <a:stretch/>
        </p:blipFill>
        <p:spPr>
          <a:xfrm>
            <a:off x="5001480" y="3858480"/>
            <a:ext cx="4814280" cy="1449720"/>
          </a:xfrm>
          <a:prstGeom prst="rect">
            <a:avLst/>
          </a:prstGeom>
          <a:ln w="0">
            <a:noFill/>
          </a:ln>
          <a:effectLst>
            <a:outerShdw dir="2700000" dist="101823" rotWithShape="0">
              <a:srgbClr val="808080"/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5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Statistici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804600"/>
            <a:ext cx="9070560" cy="442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Putem obtine statistici dupa mai multe criterii : 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tip de algoritm AI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perioada desfasurare meciuri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  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o anumita liga, tip de rezultat in meci.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De asemenea se calculeaza </a:t>
            </a: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precizia predictiilor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pe fiecare tip de algoritm si fiecare tip de rezultat. (ex: pt rezultat “oaspeti” la NN obtinem o precizie de 0.506 pt meciurile desfasurate intre 01.11.2025 – 20.12.2025) (culorile semnifica tipul de rezultat din meci sau al predictiei pt  fi mai usor de identificat vizual)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93" name="Picture 86" descr=""/>
          <p:cNvPicPr/>
          <p:nvPr/>
        </p:nvPicPr>
        <p:blipFill>
          <a:blip r:embed="rId1"/>
          <a:stretch/>
        </p:blipFill>
        <p:spPr>
          <a:xfrm>
            <a:off x="504000" y="2270160"/>
            <a:ext cx="9353880" cy="327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5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Predictia pe meciuri care urmeaza a se desfasura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504000" y="804600"/>
            <a:ext cx="9070560" cy="442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Putem vizualiza predictiile pentru meciurile care nu s-au desfasurat, dupa mai multe criterii : 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tip de algoritm AI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perioada desfasurare meciuri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,  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o anumita liga, tip de rezultat in meci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.  (culorile semnifica tipul de rezultat din meci sau al predictiei pt  fi mai usor de identificat vizual)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96" name="Picture 89" descr=""/>
          <p:cNvPicPr/>
          <p:nvPr/>
        </p:nvPicPr>
        <p:blipFill>
          <a:blip r:embed="rId1"/>
          <a:stretch/>
        </p:blipFill>
        <p:spPr>
          <a:xfrm>
            <a:off x="1329480" y="2426040"/>
            <a:ext cx="7922880" cy="3090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94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Dockerizarea aplicatiei  </a:t>
            </a:r>
            <a:br>
              <a:rPr sz="2100"/>
            </a:b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04000" y="982800"/>
            <a:ext cx="9070560" cy="44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Pentru mediul de dezvoltare am folosit o configuratie “dev”</a:t>
            </a:r>
            <a:r>
              <a:rPr b="0" lang="ro-RO" sz="1200" spc="-1" strike="noStrike">
                <a:solidFill>
                  <a:srgbClr val="000000"/>
                </a:solidFill>
                <a:latin typeface="Arial"/>
                <a:ea typeface="DejaVu Sans"/>
              </a:rPr>
              <a:t> care include 4 containere : (http://localhost:81)</a:t>
            </a: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99" name="Picture 92" descr=""/>
          <p:cNvPicPr/>
          <p:nvPr/>
        </p:nvPicPr>
        <p:blipFill>
          <a:blip r:embed="rId1"/>
          <a:stretch/>
        </p:blipFill>
        <p:spPr>
          <a:xfrm>
            <a:off x="691200" y="294120"/>
            <a:ext cx="993960" cy="551160"/>
          </a:xfrm>
          <a:prstGeom prst="rect">
            <a:avLst/>
          </a:prstGeom>
          <a:ln w="0">
            <a:noFill/>
          </a:ln>
        </p:spPr>
      </p:pic>
      <p:grpSp>
        <p:nvGrpSpPr>
          <p:cNvPr id="100" name="Group 2"/>
          <p:cNvGrpSpPr/>
          <p:nvPr/>
        </p:nvGrpSpPr>
        <p:grpSpPr>
          <a:xfrm>
            <a:off x="936000" y="1316520"/>
            <a:ext cx="1907280" cy="866880"/>
            <a:chOff x="936000" y="1316520"/>
            <a:chExt cx="1907280" cy="866880"/>
          </a:xfrm>
        </p:grpSpPr>
        <p:sp>
          <p:nvSpPr>
            <p:cNvPr id="101" name="Rectangle 1"/>
            <p:cNvSpPr/>
            <p:nvPr/>
          </p:nvSpPr>
          <p:spPr>
            <a:xfrm>
              <a:off x="936000" y="15357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1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Image:finalprojectsda-web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2" name="Rectangle 5"/>
            <p:cNvSpPr/>
            <p:nvPr/>
          </p:nvSpPr>
          <p:spPr>
            <a:xfrm>
              <a:off x="936000" y="1316520"/>
              <a:ext cx="1907280" cy="21564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Container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3" name="Rectangle 6"/>
            <p:cNvSpPr/>
            <p:nvPr/>
          </p:nvSpPr>
          <p:spPr>
            <a:xfrm>
              <a:off x="936000" y="17517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ports 81:80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4" name="Rectangle 7"/>
            <p:cNvSpPr/>
            <p:nvPr/>
          </p:nvSpPr>
          <p:spPr>
            <a:xfrm>
              <a:off x="936000" y="19677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name: dev-web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5" name="Group 9"/>
          <p:cNvGrpSpPr/>
          <p:nvPr/>
        </p:nvGrpSpPr>
        <p:grpSpPr>
          <a:xfrm>
            <a:off x="2995920" y="1317960"/>
            <a:ext cx="1907280" cy="867240"/>
            <a:chOff x="2995920" y="1317960"/>
            <a:chExt cx="1907280" cy="867240"/>
          </a:xfrm>
        </p:grpSpPr>
        <p:sp>
          <p:nvSpPr>
            <p:cNvPr id="106" name="Rectangle 10"/>
            <p:cNvSpPr/>
            <p:nvPr/>
          </p:nvSpPr>
          <p:spPr>
            <a:xfrm>
              <a:off x="2995920" y="15375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1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Image:finalprojectsda-api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7" name="Rectangle 11"/>
            <p:cNvSpPr/>
            <p:nvPr/>
          </p:nvSpPr>
          <p:spPr>
            <a:xfrm>
              <a:off x="2995920" y="1317960"/>
              <a:ext cx="1907280" cy="21564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Container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8" name="Rectangle 12"/>
            <p:cNvSpPr/>
            <p:nvPr/>
          </p:nvSpPr>
          <p:spPr>
            <a:xfrm>
              <a:off x="2995920" y="17535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ports 8000:8000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Rectangle 13"/>
            <p:cNvSpPr/>
            <p:nvPr/>
          </p:nvSpPr>
          <p:spPr>
            <a:xfrm>
              <a:off x="2995920" y="19695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name: dev-api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0" name="Group 14"/>
          <p:cNvGrpSpPr/>
          <p:nvPr/>
        </p:nvGrpSpPr>
        <p:grpSpPr>
          <a:xfrm>
            <a:off x="5076000" y="1319760"/>
            <a:ext cx="1907280" cy="866880"/>
            <a:chOff x="5076000" y="1319760"/>
            <a:chExt cx="1907280" cy="866880"/>
          </a:xfrm>
        </p:grpSpPr>
        <p:sp>
          <p:nvSpPr>
            <p:cNvPr id="111" name="Rectangle 15"/>
            <p:cNvSpPr/>
            <p:nvPr/>
          </p:nvSpPr>
          <p:spPr>
            <a:xfrm>
              <a:off x="5076000" y="153900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9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Image</a:t>
              </a:r>
              <a:r>
                <a:rPr b="0" lang="ro-RO" sz="11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:finalprojectsda-mlflow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2" name="Rectangle 16"/>
            <p:cNvSpPr/>
            <p:nvPr/>
          </p:nvSpPr>
          <p:spPr>
            <a:xfrm>
              <a:off x="5076000" y="1319760"/>
              <a:ext cx="1907280" cy="21564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Container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3" name="Rectangle 17"/>
            <p:cNvSpPr/>
            <p:nvPr/>
          </p:nvSpPr>
          <p:spPr>
            <a:xfrm>
              <a:off x="5076000" y="175500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ports 5000:5000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4" name="Rectangle 18"/>
            <p:cNvSpPr/>
            <p:nvPr/>
          </p:nvSpPr>
          <p:spPr>
            <a:xfrm>
              <a:off x="5076000" y="197100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name: dev-mlflow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5" name="Group 19"/>
          <p:cNvGrpSpPr/>
          <p:nvPr/>
        </p:nvGrpSpPr>
        <p:grpSpPr>
          <a:xfrm>
            <a:off x="7236000" y="1303920"/>
            <a:ext cx="1907280" cy="867240"/>
            <a:chOff x="7236000" y="1303920"/>
            <a:chExt cx="1907280" cy="867240"/>
          </a:xfrm>
        </p:grpSpPr>
        <p:sp>
          <p:nvSpPr>
            <p:cNvPr id="116" name="Rectangle 20"/>
            <p:cNvSpPr/>
            <p:nvPr/>
          </p:nvSpPr>
          <p:spPr>
            <a:xfrm>
              <a:off x="7236000" y="15231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9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Image</a:t>
              </a:r>
              <a:r>
                <a:rPr b="0" lang="ro-RO" sz="11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:mysql:8.0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7" name="Rectangle 21"/>
            <p:cNvSpPr/>
            <p:nvPr/>
          </p:nvSpPr>
          <p:spPr>
            <a:xfrm>
              <a:off x="7236000" y="1303920"/>
              <a:ext cx="1907280" cy="21564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Container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Rectangle 22"/>
            <p:cNvSpPr/>
            <p:nvPr/>
          </p:nvSpPr>
          <p:spPr>
            <a:xfrm>
              <a:off x="7236000" y="173916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ports 3307:3306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9" name="Rectangle 23"/>
            <p:cNvSpPr/>
            <p:nvPr/>
          </p:nvSpPr>
          <p:spPr>
            <a:xfrm>
              <a:off x="7236000" y="1955520"/>
              <a:ext cx="1907280" cy="21564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ro-RO" sz="1200" spc="-1" strike="noStrike">
                  <a:solidFill>
                    <a:schemeClr val="lt1"/>
                  </a:solidFill>
                  <a:latin typeface="Arial"/>
                  <a:ea typeface="DejaVu Sans"/>
                </a:rPr>
                <a:t>name: my_bet_db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20" name="Rectangle 24"/>
          <p:cNvSpPr/>
          <p:nvPr/>
        </p:nvSpPr>
        <p:spPr>
          <a:xfrm>
            <a:off x="936000" y="2187360"/>
            <a:ext cx="1907280" cy="43164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o-RO" sz="1000" spc="-1" strike="noStrike">
                <a:solidFill>
                  <a:schemeClr val="lt1"/>
                </a:solidFill>
                <a:latin typeface="Arial"/>
                <a:ea typeface="DejaVu Sans"/>
              </a:rPr>
              <a:t>Include partea de web server (paginile html si php)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Rectangle 26"/>
          <p:cNvSpPr/>
          <p:nvPr/>
        </p:nvSpPr>
        <p:spPr>
          <a:xfrm>
            <a:off x="2995560" y="2187360"/>
            <a:ext cx="1907280" cy="43164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o-RO" sz="1000" spc="-1" strike="noStrike">
                <a:solidFill>
                  <a:schemeClr val="lt1"/>
                </a:solidFill>
                <a:latin typeface="Arial"/>
                <a:ea typeface="DejaVu Sans"/>
              </a:rPr>
              <a:t>Include modulele de python (calcul clasamente, training si prediction)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Rectangle 27"/>
          <p:cNvSpPr/>
          <p:nvPr/>
        </p:nvSpPr>
        <p:spPr>
          <a:xfrm>
            <a:off x="5076000" y="2187720"/>
            <a:ext cx="1907280" cy="43164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o-RO" sz="1000" spc="-1" strike="noStrike">
                <a:solidFill>
                  <a:schemeClr val="lt1"/>
                </a:solidFill>
                <a:latin typeface="Arial"/>
                <a:ea typeface="DejaVu Sans"/>
              </a:rPr>
              <a:t>Include partea de logare performante modele AI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Rectangle 28"/>
          <p:cNvSpPr/>
          <p:nvPr/>
        </p:nvSpPr>
        <p:spPr>
          <a:xfrm>
            <a:off x="7236000" y="2187360"/>
            <a:ext cx="1907280" cy="43164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o-RO" sz="1000" spc="-1" strike="noStrike">
                <a:solidFill>
                  <a:schemeClr val="lt1"/>
                </a:solidFill>
                <a:latin typeface="Arial"/>
                <a:ea typeface="DejaVu Sans"/>
              </a:rPr>
              <a:t>Include partea de  baze de date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ee6ef"/>
            </a:gs>
            <a:gs pos="100000">
              <a:srgbClr val="729fcf"/>
            </a:gs>
          </a:gsLst>
          <a:lin ang="36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840" cy="110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571680" indent="-2286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222222"/>
                </a:solidFill>
                <a:latin typeface="Times New Roman"/>
                <a:ea typeface="Noto Sans CJK SC"/>
              </a:rPr>
              <a:t>Planuri de viitor pentru aplicatie</a:t>
            </a:r>
            <a:endParaRPr b="0" lang="en-US" sz="21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504000" y="1729440"/>
            <a:ext cx="9070560" cy="335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Creare de modele pentru intervale bine definite de cote (ex: cota castig gazde intre 1.1 si 1.6) si aplicarea lor tot pe aceleasi intervale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Aplicarea inca odata a unui algoritm AI doar pentru inregistrarile care sunt considerate surprize.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Regandirea functiei piRating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Documentarea din studii legate de predictia rezultatelor sportive folosind algoritmi de ML precum: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Incorporating domain knowledge in machine learning for soccer outcome prediction</a:t>
            </a:r>
            <a:r>
              <a:rPr b="0" lang="en-US" sz="1400" spc="-1" strike="noStrike" u="sng">
                <a:solidFill>
                  <a:srgbClr val="0000ee"/>
                </a:solidFill>
                <a:uFillTx/>
                <a:latin typeface="Arial"/>
                <a:ea typeface="DejaVu Sans"/>
                <a:hlinkClick r:id="rId1"/>
              </a:rPr>
              <a:t>https://link.springer.com/article/10.1007/s10994-018-5747-8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Wingdings" charset="2"/>
              <a:buChar char="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Data-driven prediction of soccer outcomes using enhanced machine and deep learning techniques https://link.springer.com/article/10.1186/s40537-024-01008-2</a:t>
            </a:r>
            <a:endParaRPr b="0" lang="en-US" sz="1400" spc="-1" strike="noStrike">
              <a:solidFill>
                <a:schemeClr val="dk1"/>
              </a:solidFill>
              <a:latin typeface="Arial"/>
            </a:endParaRPr>
          </a:p>
          <a:p>
            <a:pPr marL="864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17293</TotalTime>
  <Application>LibreOffice/24.2.7.2$Linux_X86_64 LibreOffice_project/420$Build-2</Application>
  <AppVersion>15.0000</AppVersion>
  <Words>2475</Words>
  <Paragraphs>239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2025-11-25T17:48:16Z</dcterms:created>
  <dc:creator/>
  <dc:description/>
  <dc:language>en-US</dc:language>
  <cp:lastModifiedBy/>
  <dcterms:modified xsi:type="dcterms:W3CDTF">2025-12-25T12:15:31Z</dcterms:modified>
  <cp:revision>53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19</vt:i4>
  </property>
</Properties>
</file>