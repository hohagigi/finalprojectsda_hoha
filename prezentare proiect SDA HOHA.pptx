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69480" cy="9442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p:nvPr>
        </p:nvSpPr>
        <p:spPr>
          <a:xfrm>
            <a:off x="504000" y="1326600"/>
            <a:ext cx="9070200" cy="32868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CAB01C25-56D9-40D5-91E6-2C5F8844DC9D}"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226080"/>
            <a:ext cx="9069480" cy="9442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3" name="PlaceHolder 2"/>
          <p:cNvSpPr>
            <a:spLocks noGrp="1"/>
          </p:cNvSpPr>
          <p:nvPr>
            <p:ph type="subTitle"/>
          </p:nvPr>
        </p:nvSpPr>
        <p:spPr>
          <a:xfrm>
            <a:off x="504000" y="1326600"/>
            <a:ext cx="9070200" cy="328680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6C2A7B84-9709-4DE0-A355-7D8DDF01FA96}"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2">
    <p:spTree>
      <p:nvGrpSpPr>
        <p:cNvPr id="1" name=""/>
        <p:cNvGrpSpPr/>
        <p:nvPr/>
      </p:nvGrpSpPr>
      <p:grpSpPr>
        <a:xfrm>
          <a:off x="0" y="0"/>
          <a:ext cx="0" cy="0"/>
          <a:chOff x="0" y="0"/>
          <a:chExt cx="0" cy="0"/>
        </a:xfrm>
      </p:grpSpPr>
      <p:sp>
        <p:nvSpPr>
          <p:cNvPr id="19" name="PlaceHolder 1"/>
          <p:cNvSpPr>
            <a:spLocks noGrp="1"/>
          </p:cNvSpPr>
          <p:nvPr>
            <p:ph type="title"/>
          </p:nvPr>
        </p:nvSpPr>
        <p:spPr>
          <a:xfrm>
            <a:off x="504000" y="226080"/>
            <a:ext cx="9069480" cy="9442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 name="PlaceHolder 2"/>
          <p:cNvSpPr>
            <a:spLocks noGrp="1"/>
          </p:cNvSpPr>
          <p:nvPr>
            <p:ph/>
          </p:nvPr>
        </p:nvSpPr>
        <p:spPr>
          <a:xfrm>
            <a:off x="504000" y="1326600"/>
            <a:ext cx="9070200" cy="32868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2A61D553-D17E-4A37-97DB-A4D59A34F207}"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3">
    <p:spTree>
      <p:nvGrpSpPr>
        <p:cNvPr id="1" name=""/>
        <p:cNvGrpSpPr/>
        <p:nvPr/>
      </p:nvGrpSpPr>
      <p:grpSpPr>
        <a:xfrm>
          <a:off x="0" y="0"/>
          <a:ext cx="0" cy="0"/>
          <a:chOff x="0" y="0"/>
          <a:chExt cx="0" cy="0"/>
        </a:xfrm>
      </p:grpSpPr>
      <p:sp>
        <p:nvSpPr>
          <p:cNvPr id="26" name="PlaceHolder 1"/>
          <p:cNvSpPr>
            <a:spLocks noGrp="1"/>
          </p:cNvSpPr>
          <p:nvPr>
            <p:ph type="title"/>
          </p:nvPr>
        </p:nvSpPr>
        <p:spPr>
          <a:xfrm>
            <a:off x="504000" y="226080"/>
            <a:ext cx="9069480" cy="9442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7" name="PlaceHolder 2"/>
          <p:cNvSpPr>
            <a:spLocks noGrp="1"/>
          </p:cNvSpPr>
          <p:nvPr>
            <p:ph/>
          </p:nvPr>
        </p:nvSpPr>
        <p:spPr>
          <a:xfrm>
            <a:off x="504000" y="1326600"/>
            <a:ext cx="9070200" cy="32868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79CDAC32-12A8-4A6E-8E94-93F540BAEB4A}"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4">
    <p:spTree>
      <p:nvGrpSpPr>
        <p:cNvPr id="1" name=""/>
        <p:cNvGrpSpPr/>
        <p:nvPr/>
      </p:nvGrpSpPr>
      <p:grpSpPr>
        <a:xfrm>
          <a:off x="0" y="0"/>
          <a:ext cx="0" cy="0"/>
          <a:chOff x="0" y="0"/>
          <a:chExt cx="0" cy="0"/>
        </a:xfrm>
      </p:grpSpPr>
      <p:sp>
        <p:nvSpPr>
          <p:cNvPr id="33" name="PlaceHolder 1"/>
          <p:cNvSpPr>
            <a:spLocks noGrp="1"/>
          </p:cNvSpPr>
          <p:nvPr>
            <p:ph type="title"/>
          </p:nvPr>
        </p:nvSpPr>
        <p:spPr>
          <a:xfrm>
            <a:off x="504000" y="226080"/>
            <a:ext cx="9069480" cy="9442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4" name="PlaceHolder 2"/>
          <p:cNvSpPr>
            <a:spLocks noGrp="1"/>
          </p:cNvSpPr>
          <p:nvPr>
            <p:ph/>
          </p:nvPr>
        </p:nvSpPr>
        <p:spPr>
          <a:xfrm>
            <a:off x="504000" y="1326600"/>
            <a:ext cx="9070200" cy="32868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3F66DC55-390F-44EA-839D-8354053874D8}" type="slidenum">
              <a:t>&lt;#&gt;</a:t>
            </a:fld>
          </a:p>
        </p:txBody>
      </p:sp>
      <p:sp>
        <p:nvSpPr>
          <p:cNvPr id="6" name="PlaceHolder 5"/>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5">
    <p:spTree>
      <p:nvGrpSpPr>
        <p:cNvPr id="1" name=""/>
        <p:cNvGrpSpPr/>
        <p:nvPr/>
      </p:nvGrpSpPr>
      <p:grpSpPr>
        <a:xfrm>
          <a:off x="0" y="0"/>
          <a:ext cx="0" cy="0"/>
          <a:chOff x="0" y="0"/>
          <a:chExt cx="0" cy="0"/>
        </a:xfrm>
      </p:grpSpPr>
      <p:sp>
        <p:nvSpPr>
          <p:cNvPr id="40" name="PlaceHolder 1"/>
          <p:cNvSpPr>
            <a:spLocks noGrp="1"/>
          </p:cNvSpPr>
          <p:nvPr>
            <p:ph type="title"/>
          </p:nvPr>
        </p:nvSpPr>
        <p:spPr>
          <a:xfrm>
            <a:off x="504000" y="226080"/>
            <a:ext cx="9069480" cy="9442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1" name="PlaceHolder 2"/>
          <p:cNvSpPr>
            <a:spLocks noGrp="1"/>
          </p:cNvSpPr>
          <p:nvPr>
            <p:ph/>
          </p:nvPr>
        </p:nvSpPr>
        <p:spPr>
          <a:xfrm>
            <a:off x="504000" y="1326600"/>
            <a:ext cx="9070200" cy="32868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CECCAF39-8AD0-4D9B-A776-B79585AD1C88}" type="slidenum">
              <a:t>&lt;#&gt;</a:t>
            </a:fld>
          </a:p>
        </p:txBody>
      </p:sp>
      <p:sp>
        <p:nvSpPr>
          <p:cNvPr id="6" name="PlaceHolder 5"/>
          <p:cNvSpPr>
            <a:spLocks noGrp="1"/>
          </p:cNvSpPr>
          <p:nvPr>
            <p:ph type="dt" idx="18"/>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69480" cy="9442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body"/>
          </p:nvPr>
        </p:nvSpPr>
        <p:spPr>
          <a:xfrm>
            <a:off x="504000" y="1326600"/>
            <a:ext cx="9070200" cy="3286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 name="PlaceHolder 3"/>
          <p:cNvSpPr>
            <a:spLocks noGrp="1"/>
          </p:cNvSpPr>
          <p:nvPr>
            <p:ph type="ftr" idx="1"/>
          </p:nvPr>
        </p:nvSpPr>
        <p:spPr>
          <a:xfrm>
            <a:off x="3447360" y="5165280"/>
            <a:ext cx="3192840" cy="388440"/>
          </a:xfrm>
          <a:prstGeom prst="rect">
            <a:avLst/>
          </a:prstGeom>
          <a:noFill/>
          <a:ln w="0">
            <a:noFill/>
          </a:ln>
        </p:spPr>
        <p:txBody>
          <a:bodyPr lIns="0" rIns="0" tIns="0" bIns="0" anchor="t">
            <a:noAutofit/>
          </a:bodyPr>
          <a:lstStyle>
            <a:lvl1pPr indent="0" algn="ctr" defTabSz="914400">
              <a:lnSpc>
                <a:spcPct val="100000"/>
              </a:lnSpc>
              <a:buNone/>
              <a:tabLst>
                <a:tab algn="l" pos="0"/>
              </a:tabLst>
              <a:defRPr b="0" lang="en-US" sz="1400" spc="-1" strike="noStrike">
                <a:solidFill>
                  <a:srgbClr val="000000"/>
                </a:solidFill>
                <a:latin typeface="Times New Roman"/>
                <a:ea typeface="DejaVu Sans"/>
              </a:defRPr>
            </a:lvl1pPr>
          </a:lstStyle>
          <a:p>
            <a:pPr indent="0" algn="ctr" defTabSz="914400">
              <a:lnSpc>
                <a:spcPct val="100000"/>
              </a:lnSpc>
              <a:buNone/>
              <a:tabLst>
                <a:tab algn="l" pos="0"/>
              </a:tabLst>
            </a:pPr>
            <a:r>
              <a:rPr b="0" lang="en-US" sz="1400" spc="-1" strike="noStrike">
                <a:solidFill>
                  <a:srgbClr val="000000"/>
                </a:solidFill>
                <a:latin typeface="Times New Roman"/>
                <a:ea typeface="DejaVu Sans"/>
              </a:rPr>
              <a:t>&lt;footer&gt;</a:t>
            </a:r>
            <a:endParaRPr b="0" lang="en-US" sz="1400" spc="-1" strike="noStrike">
              <a:solidFill>
                <a:srgbClr val="000000"/>
              </a:solidFill>
              <a:latin typeface="Times New Roman"/>
            </a:endParaRPr>
          </a:p>
        </p:txBody>
      </p:sp>
      <p:sp>
        <p:nvSpPr>
          <p:cNvPr id="3" name="PlaceHolder 4"/>
          <p:cNvSpPr>
            <a:spLocks noGrp="1"/>
          </p:cNvSpPr>
          <p:nvPr>
            <p:ph type="sldNum" idx="2"/>
          </p:nvPr>
        </p:nvSpPr>
        <p:spPr>
          <a:xfrm>
            <a:off x="7227360" y="5165280"/>
            <a:ext cx="2346120" cy="388440"/>
          </a:xfrm>
          <a:prstGeom prst="rect">
            <a:avLst/>
          </a:prstGeom>
          <a:noFill/>
          <a:ln w="0">
            <a:noFill/>
          </a:ln>
        </p:spPr>
        <p:txBody>
          <a:bodyPr lIns="0" rIns="0" tIns="0" bIns="0" anchor="t">
            <a:noAutofit/>
          </a:bodyPr>
          <a:lstStyle>
            <a:lvl1pPr indent="0" algn="r" defTabSz="914400">
              <a:lnSpc>
                <a:spcPct val="100000"/>
              </a:lnSpc>
              <a:buNone/>
              <a:tabLst>
                <a:tab algn="l" pos="0"/>
              </a:tabLst>
              <a:defRPr b="0" lang="en-US" sz="1400" spc="-1" strike="noStrike">
                <a:solidFill>
                  <a:srgbClr val="000000"/>
                </a:solidFill>
                <a:latin typeface="Times New Roman"/>
                <a:ea typeface="DejaVu Sans"/>
              </a:defRPr>
            </a:lvl1pPr>
          </a:lstStyle>
          <a:p>
            <a:pPr indent="0" algn="r" defTabSz="914400">
              <a:lnSpc>
                <a:spcPct val="100000"/>
              </a:lnSpc>
              <a:buNone/>
              <a:tabLst>
                <a:tab algn="l" pos="0"/>
              </a:tabLst>
            </a:pPr>
            <a:fld id="{7C8952BF-5902-4EA0-BDDC-3DD82468D626}" type="slidenum">
              <a:rPr b="0" lang="en-US" sz="1400" spc="-1" strike="noStrike">
                <a:solidFill>
                  <a:srgbClr val="000000"/>
                </a:solidFill>
                <a:latin typeface="Times New Roman"/>
                <a:ea typeface="DejaVu Sans"/>
              </a:rPr>
              <a:t>&lt;number&gt;</a:t>
            </a:fld>
            <a:endParaRPr b="0" lang="en-US" sz="1400" spc="-1" strike="noStrike">
              <a:solidFill>
                <a:srgbClr val="000000"/>
              </a:solidFill>
              <a:latin typeface="Times New Roman"/>
            </a:endParaRPr>
          </a:p>
        </p:txBody>
      </p:sp>
      <p:sp>
        <p:nvSpPr>
          <p:cNvPr id="4" name="PlaceHolder 5"/>
          <p:cNvSpPr>
            <a:spLocks noGrp="1"/>
          </p:cNvSpPr>
          <p:nvPr>
            <p:ph type="dt" idx="3"/>
          </p:nvPr>
        </p:nvSpPr>
        <p:spPr>
          <a:xfrm>
            <a:off x="504000" y="5165280"/>
            <a:ext cx="2346120" cy="38844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69480" cy="9442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 name="PlaceHolder 2"/>
          <p:cNvSpPr>
            <a:spLocks noGrp="1"/>
          </p:cNvSpPr>
          <p:nvPr>
            <p:ph type="ftr" idx="4"/>
          </p:nvPr>
        </p:nvSpPr>
        <p:spPr>
          <a:xfrm>
            <a:off x="3447360" y="5165280"/>
            <a:ext cx="3192840" cy="388440"/>
          </a:xfrm>
          <a:prstGeom prst="rect">
            <a:avLst/>
          </a:prstGeom>
          <a:noFill/>
          <a:ln w="0">
            <a:noFill/>
          </a:ln>
        </p:spPr>
        <p:txBody>
          <a:bodyPr lIns="0" rIns="0" tIns="0" bIns="0" anchor="t">
            <a:noAutofit/>
          </a:bodyPr>
          <a:lstStyle>
            <a:lvl1pPr indent="0" algn="ctr" defTabSz="914400">
              <a:lnSpc>
                <a:spcPct val="100000"/>
              </a:lnSpc>
              <a:buNone/>
              <a:tabLst>
                <a:tab algn="l" pos="0"/>
              </a:tabLst>
              <a:defRPr b="0" lang="en-US" sz="1400" spc="-1" strike="noStrike">
                <a:solidFill>
                  <a:srgbClr val="000000"/>
                </a:solidFill>
                <a:latin typeface="Times New Roman"/>
                <a:ea typeface="DejaVu Sans"/>
              </a:defRPr>
            </a:lvl1pPr>
          </a:lstStyle>
          <a:p>
            <a:pPr indent="0" algn="ctr" defTabSz="914400">
              <a:lnSpc>
                <a:spcPct val="100000"/>
              </a:lnSpc>
              <a:buNone/>
              <a:tabLst>
                <a:tab algn="l" pos="0"/>
              </a:tabLst>
            </a:pPr>
            <a:r>
              <a:rPr b="0" lang="en-US" sz="1400" spc="-1" strike="noStrike">
                <a:solidFill>
                  <a:srgbClr val="000000"/>
                </a:solidFill>
                <a:latin typeface="Times New Roman"/>
                <a:ea typeface="DejaVu Sans"/>
              </a:rPr>
              <a:t>&lt;footer&gt;</a:t>
            </a:r>
            <a:endParaRPr b="0" lang="en-US" sz="1400" spc="-1" strike="noStrike">
              <a:solidFill>
                <a:srgbClr val="000000"/>
              </a:solidFill>
              <a:latin typeface="Times New Roman"/>
            </a:endParaRPr>
          </a:p>
        </p:txBody>
      </p:sp>
      <p:sp>
        <p:nvSpPr>
          <p:cNvPr id="9" name="PlaceHolder 3"/>
          <p:cNvSpPr>
            <a:spLocks noGrp="1"/>
          </p:cNvSpPr>
          <p:nvPr>
            <p:ph type="sldNum" idx="5"/>
          </p:nvPr>
        </p:nvSpPr>
        <p:spPr>
          <a:xfrm>
            <a:off x="7227360" y="5165280"/>
            <a:ext cx="2346120" cy="388440"/>
          </a:xfrm>
          <a:prstGeom prst="rect">
            <a:avLst/>
          </a:prstGeom>
          <a:noFill/>
          <a:ln w="0">
            <a:noFill/>
          </a:ln>
        </p:spPr>
        <p:txBody>
          <a:bodyPr lIns="0" rIns="0" tIns="0" bIns="0" anchor="t">
            <a:noAutofit/>
          </a:bodyPr>
          <a:lstStyle>
            <a:lvl1pPr indent="0" algn="r" defTabSz="914400">
              <a:lnSpc>
                <a:spcPct val="100000"/>
              </a:lnSpc>
              <a:buNone/>
              <a:tabLst>
                <a:tab algn="l" pos="0"/>
              </a:tabLst>
              <a:defRPr b="0" lang="en-US" sz="1400" spc="-1" strike="noStrike">
                <a:solidFill>
                  <a:srgbClr val="000000"/>
                </a:solidFill>
                <a:latin typeface="Times New Roman"/>
                <a:ea typeface="DejaVu Sans"/>
              </a:defRPr>
            </a:lvl1pPr>
          </a:lstStyle>
          <a:p>
            <a:pPr indent="0" algn="r" defTabSz="914400">
              <a:lnSpc>
                <a:spcPct val="100000"/>
              </a:lnSpc>
              <a:buNone/>
              <a:tabLst>
                <a:tab algn="l" pos="0"/>
              </a:tabLst>
            </a:pPr>
            <a:fld id="{F565F63E-9E40-4F41-B15F-1D40B49EEB26}" type="slidenum">
              <a:rPr b="0" lang="en-US" sz="1400" spc="-1" strike="noStrike">
                <a:solidFill>
                  <a:srgbClr val="000000"/>
                </a:solidFill>
                <a:latin typeface="Times New Roman"/>
                <a:ea typeface="DejaVu Sans"/>
              </a:rPr>
              <a:t>&lt;number&gt;</a:t>
            </a:fld>
            <a:endParaRPr b="0" lang="en-US" sz="1400" spc="-1" strike="noStrike">
              <a:solidFill>
                <a:srgbClr val="000000"/>
              </a:solidFill>
              <a:latin typeface="Times New Roman"/>
            </a:endParaRPr>
          </a:p>
        </p:txBody>
      </p:sp>
      <p:sp>
        <p:nvSpPr>
          <p:cNvPr id="10" name="PlaceHolder 4"/>
          <p:cNvSpPr>
            <a:spLocks noGrp="1"/>
          </p:cNvSpPr>
          <p:nvPr>
            <p:ph type="dt" idx="6"/>
          </p:nvPr>
        </p:nvSpPr>
        <p:spPr>
          <a:xfrm>
            <a:off x="504000" y="5165280"/>
            <a:ext cx="2346120" cy="38844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1"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226080"/>
            <a:ext cx="9069480" cy="9442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5" name="PlaceHolder 2"/>
          <p:cNvSpPr>
            <a:spLocks noGrp="1"/>
          </p:cNvSpPr>
          <p:nvPr>
            <p:ph type="body"/>
          </p:nvPr>
        </p:nvSpPr>
        <p:spPr>
          <a:xfrm>
            <a:off x="504000" y="1326600"/>
            <a:ext cx="9070200" cy="3286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 name="PlaceHolder 3"/>
          <p:cNvSpPr>
            <a:spLocks noGrp="1"/>
          </p:cNvSpPr>
          <p:nvPr>
            <p:ph type="ftr" idx="7"/>
          </p:nvPr>
        </p:nvSpPr>
        <p:spPr>
          <a:xfrm>
            <a:off x="3447360" y="5165280"/>
            <a:ext cx="3192840" cy="388440"/>
          </a:xfrm>
          <a:prstGeom prst="rect">
            <a:avLst/>
          </a:prstGeom>
          <a:noFill/>
          <a:ln w="0">
            <a:noFill/>
          </a:ln>
        </p:spPr>
        <p:txBody>
          <a:bodyPr lIns="0" rIns="0" tIns="0" bIns="0" anchor="t">
            <a:noAutofit/>
          </a:bodyPr>
          <a:lstStyle>
            <a:lvl1pPr indent="0" algn="ctr" defTabSz="914400">
              <a:lnSpc>
                <a:spcPct val="100000"/>
              </a:lnSpc>
              <a:buNone/>
              <a:tabLst>
                <a:tab algn="l" pos="0"/>
              </a:tabLst>
              <a:defRPr b="0" lang="en-US" sz="1400" spc="-1" strike="noStrike">
                <a:solidFill>
                  <a:srgbClr val="000000"/>
                </a:solidFill>
                <a:latin typeface="Times New Roman"/>
                <a:ea typeface="DejaVu Sans"/>
              </a:defRPr>
            </a:lvl1pPr>
          </a:lstStyle>
          <a:p>
            <a:pPr indent="0" algn="ctr" defTabSz="914400">
              <a:lnSpc>
                <a:spcPct val="100000"/>
              </a:lnSpc>
              <a:buNone/>
              <a:tabLst>
                <a:tab algn="l" pos="0"/>
              </a:tabLst>
            </a:pPr>
            <a:r>
              <a:rPr b="0" lang="en-US" sz="1400" spc="-1" strike="noStrike">
                <a:solidFill>
                  <a:srgbClr val="000000"/>
                </a:solidFill>
                <a:latin typeface="Times New Roman"/>
                <a:ea typeface="DejaVu Sans"/>
              </a:rPr>
              <a:t>&lt;footer&gt;</a:t>
            </a:r>
            <a:endParaRPr b="0" lang="en-US" sz="1400" spc="-1" strike="noStrike">
              <a:solidFill>
                <a:srgbClr val="000000"/>
              </a:solidFill>
              <a:latin typeface="Times New Roman"/>
            </a:endParaRPr>
          </a:p>
        </p:txBody>
      </p:sp>
      <p:sp>
        <p:nvSpPr>
          <p:cNvPr id="17" name="PlaceHolder 4"/>
          <p:cNvSpPr>
            <a:spLocks noGrp="1"/>
          </p:cNvSpPr>
          <p:nvPr>
            <p:ph type="sldNum" idx="8"/>
          </p:nvPr>
        </p:nvSpPr>
        <p:spPr>
          <a:xfrm>
            <a:off x="7227360" y="5165280"/>
            <a:ext cx="2346120" cy="388440"/>
          </a:xfrm>
          <a:prstGeom prst="rect">
            <a:avLst/>
          </a:prstGeom>
          <a:noFill/>
          <a:ln w="0">
            <a:noFill/>
          </a:ln>
        </p:spPr>
        <p:txBody>
          <a:bodyPr lIns="0" rIns="0" tIns="0" bIns="0" anchor="t">
            <a:noAutofit/>
          </a:bodyPr>
          <a:lstStyle>
            <a:lvl1pPr indent="0" algn="r" defTabSz="914400">
              <a:lnSpc>
                <a:spcPct val="100000"/>
              </a:lnSpc>
              <a:buNone/>
              <a:tabLst>
                <a:tab algn="l" pos="0"/>
              </a:tabLst>
              <a:defRPr b="0" lang="en-US" sz="1400" spc="-1" strike="noStrike">
                <a:solidFill>
                  <a:srgbClr val="000000"/>
                </a:solidFill>
                <a:latin typeface="Times New Roman"/>
                <a:ea typeface="DejaVu Sans"/>
              </a:defRPr>
            </a:lvl1pPr>
          </a:lstStyle>
          <a:p>
            <a:pPr indent="0" algn="r" defTabSz="914400">
              <a:lnSpc>
                <a:spcPct val="100000"/>
              </a:lnSpc>
              <a:buNone/>
              <a:tabLst>
                <a:tab algn="l" pos="0"/>
              </a:tabLst>
            </a:pPr>
            <a:fld id="{7BFB2680-D74C-4456-8BE8-C7304FAAD660}" type="slidenum">
              <a:rPr b="0" lang="en-US" sz="1400" spc="-1" strike="noStrike">
                <a:solidFill>
                  <a:srgbClr val="000000"/>
                </a:solidFill>
                <a:latin typeface="Times New Roman"/>
                <a:ea typeface="DejaVu Sans"/>
              </a:rPr>
              <a:t>&lt;number&gt;</a:t>
            </a:fld>
            <a:endParaRPr b="0" lang="en-US" sz="1400" spc="-1" strike="noStrike">
              <a:solidFill>
                <a:srgbClr val="000000"/>
              </a:solidFill>
              <a:latin typeface="Times New Roman"/>
            </a:endParaRPr>
          </a:p>
        </p:txBody>
      </p:sp>
      <p:sp>
        <p:nvSpPr>
          <p:cNvPr id="18" name="PlaceHolder 5"/>
          <p:cNvSpPr>
            <a:spLocks noGrp="1"/>
          </p:cNvSpPr>
          <p:nvPr>
            <p:ph type="dt" idx="9"/>
          </p:nvPr>
        </p:nvSpPr>
        <p:spPr>
          <a:xfrm>
            <a:off x="504000" y="5165280"/>
            <a:ext cx="2346120" cy="38844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504000" y="226080"/>
            <a:ext cx="9069480" cy="9442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2" name="PlaceHolder 2"/>
          <p:cNvSpPr>
            <a:spLocks noGrp="1"/>
          </p:cNvSpPr>
          <p:nvPr>
            <p:ph type="body"/>
          </p:nvPr>
        </p:nvSpPr>
        <p:spPr>
          <a:xfrm>
            <a:off x="504000" y="1326600"/>
            <a:ext cx="9070200" cy="3286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3" name="PlaceHolder 3"/>
          <p:cNvSpPr>
            <a:spLocks noGrp="1"/>
          </p:cNvSpPr>
          <p:nvPr>
            <p:ph type="ftr" idx="10"/>
          </p:nvPr>
        </p:nvSpPr>
        <p:spPr>
          <a:xfrm>
            <a:off x="3447360" y="5165280"/>
            <a:ext cx="3192840" cy="388440"/>
          </a:xfrm>
          <a:prstGeom prst="rect">
            <a:avLst/>
          </a:prstGeom>
          <a:noFill/>
          <a:ln w="0">
            <a:noFill/>
          </a:ln>
        </p:spPr>
        <p:txBody>
          <a:bodyPr lIns="0" rIns="0" tIns="0" bIns="0" anchor="t">
            <a:noAutofit/>
          </a:bodyPr>
          <a:lstStyle>
            <a:lvl1pPr indent="0" algn="ctr" defTabSz="914400">
              <a:lnSpc>
                <a:spcPct val="100000"/>
              </a:lnSpc>
              <a:buNone/>
              <a:tabLst>
                <a:tab algn="l" pos="0"/>
              </a:tabLst>
              <a:defRPr b="0" lang="en-US" sz="1400" spc="-1" strike="noStrike">
                <a:solidFill>
                  <a:srgbClr val="000000"/>
                </a:solidFill>
                <a:latin typeface="Times New Roman"/>
                <a:ea typeface="DejaVu Sans"/>
              </a:defRPr>
            </a:lvl1pPr>
          </a:lstStyle>
          <a:p>
            <a:pPr indent="0" algn="ctr" defTabSz="914400">
              <a:lnSpc>
                <a:spcPct val="100000"/>
              </a:lnSpc>
              <a:buNone/>
              <a:tabLst>
                <a:tab algn="l" pos="0"/>
              </a:tabLst>
            </a:pPr>
            <a:r>
              <a:rPr b="0" lang="en-US" sz="1400" spc="-1" strike="noStrike">
                <a:solidFill>
                  <a:srgbClr val="000000"/>
                </a:solidFill>
                <a:latin typeface="Times New Roman"/>
                <a:ea typeface="DejaVu Sans"/>
              </a:rPr>
              <a:t>&lt;footer&gt;</a:t>
            </a:r>
            <a:endParaRPr b="0" lang="en-US" sz="1400" spc="-1" strike="noStrike">
              <a:solidFill>
                <a:srgbClr val="000000"/>
              </a:solidFill>
              <a:latin typeface="Times New Roman"/>
            </a:endParaRPr>
          </a:p>
        </p:txBody>
      </p:sp>
      <p:sp>
        <p:nvSpPr>
          <p:cNvPr id="24" name="PlaceHolder 4"/>
          <p:cNvSpPr>
            <a:spLocks noGrp="1"/>
          </p:cNvSpPr>
          <p:nvPr>
            <p:ph type="sldNum" idx="11"/>
          </p:nvPr>
        </p:nvSpPr>
        <p:spPr>
          <a:xfrm>
            <a:off x="7227360" y="5165280"/>
            <a:ext cx="2346120" cy="388440"/>
          </a:xfrm>
          <a:prstGeom prst="rect">
            <a:avLst/>
          </a:prstGeom>
          <a:noFill/>
          <a:ln w="0">
            <a:noFill/>
          </a:ln>
        </p:spPr>
        <p:txBody>
          <a:bodyPr lIns="0" rIns="0" tIns="0" bIns="0" anchor="t">
            <a:noAutofit/>
          </a:bodyPr>
          <a:lstStyle>
            <a:lvl1pPr indent="0" algn="r" defTabSz="914400">
              <a:lnSpc>
                <a:spcPct val="100000"/>
              </a:lnSpc>
              <a:buNone/>
              <a:tabLst>
                <a:tab algn="l" pos="0"/>
              </a:tabLst>
              <a:defRPr b="0" lang="en-US" sz="1400" spc="-1" strike="noStrike">
                <a:solidFill>
                  <a:srgbClr val="000000"/>
                </a:solidFill>
                <a:latin typeface="Times New Roman"/>
                <a:ea typeface="DejaVu Sans"/>
              </a:defRPr>
            </a:lvl1pPr>
          </a:lstStyle>
          <a:p>
            <a:pPr indent="0" algn="r" defTabSz="914400">
              <a:lnSpc>
                <a:spcPct val="100000"/>
              </a:lnSpc>
              <a:buNone/>
              <a:tabLst>
                <a:tab algn="l" pos="0"/>
              </a:tabLst>
            </a:pPr>
            <a:fld id="{79A7CE12-80C4-4B9B-8675-403749F755FA}" type="slidenum">
              <a:rPr b="0" lang="en-US" sz="1400" spc="-1" strike="noStrike">
                <a:solidFill>
                  <a:srgbClr val="000000"/>
                </a:solidFill>
                <a:latin typeface="Times New Roman"/>
                <a:ea typeface="DejaVu Sans"/>
              </a:rPr>
              <a:t>&lt;number&gt;</a:t>
            </a:fld>
            <a:endParaRPr b="0" lang="en-US" sz="1400" spc="-1" strike="noStrike">
              <a:solidFill>
                <a:srgbClr val="000000"/>
              </a:solidFill>
              <a:latin typeface="Times New Roman"/>
            </a:endParaRPr>
          </a:p>
        </p:txBody>
      </p:sp>
      <p:sp>
        <p:nvSpPr>
          <p:cNvPr id="25" name="PlaceHolder 5"/>
          <p:cNvSpPr>
            <a:spLocks noGrp="1"/>
          </p:cNvSpPr>
          <p:nvPr>
            <p:ph type="dt" idx="12"/>
          </p:nvPr>
        </p:nvSpPr>
        <p:spPr>
          <a:xfrm>
            <a:off x="504000" y="5165280"/>
            <a:ext cx="2346120" cy="38844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504000" y="226080"/>
            <a:ext cx="9069480" cy="9442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9" name="PlaceHolder 2"/>
          <p:cNvSpPr>
            <a:spLocks noGrp="1"/>
          </p:cNvSpPr>
          <p:nvPr>
            <p:ph type="body"/>
          </p:nvPr>
        </p:nvSpPr>
        <p:spPr>
          <a:xfrm>
            <a:off x="504000" y="1326600"/>
            <a:ext cx="9070200" cy="3286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0" name="PlaceHolder 3"/>
          <p:cNvSpPr>
            <a:spLocks noGrp="1"/>
          </p:cNvSpPr>
          <p:nvPr>
            <p:ph type="ftr" idx="13"/>
          </p:nvPr>
        </p:nvSpPr>
        <p:spPr>
          <a:xfrm>
            <a:off x="3447360" y="5165280"/>
            <a:ext cx="3192840" cy="388440"/>
          </a:xfrm>
          <a:prstGeom prst="rect">
            <a:avLst/>
          </a:prstGeom>
          <a:noFill/>
          <a:ln w="0">
            <a:noFill/>
          </a:ln>
        </p:spPr>
        <p:txBody>
          <a:bodyPr lIns="0" rIns="0" tIns="0" bIns="0" anchor="t">
            <a:noAutofit/>
          </a:bodyPr>
          <a:lstStyle>
            <a:lvl1pPr indent="0" algn="ctr" defTabSz="914400">
              <a:lnSpc>
                <a:spcPct val="100000"/>
              </a:lnSpc>
              <a:buNone/>
              <a:tabLst>
                <a:tab algn="l" pos="0"/>
              </a:tabLst>
              <a:defRPr b="0" lang="en-US" sz="1400" spc="-1" strike="noStrike">
                <a:solidFill>
                  <a:srgbClr val="000000"/>
                </a:solidFill>
                <a:latin typeface="Times New Roman"/>
                <a:ea typeface="DejaVu Sans"/>
              </a:defRPr>
            </a:lvl1pPr>
          </a:lstStyle>
          <a:p>
            <a:pPr indent="0" algn="ctr" defTabSz="914400">
              <a:lnSpc>
                <a:spcPct val="100000"/>
              </a:lnSpc>
              <a:buNone/>
              <a:tabLst>
                <a:tab algn="l" pos="0"/>
              </a:tabLst>
            </a:pPr>
            <a:r>
              <a:rPr b="0" lang="en-US" sz="1400" spc="-1" strike="noStrike">
                <a:solidFill>
                  <a:srgbClr val="000000"/>
                </a:solidFill>
                <a:latin typeface="Times New Roman"/>
                <a:ea typeface="DejaVu Sans"/>
              </a:rPr>
              <a:t>&lt;footer&gt;</a:t>
            </a:r>
            <a:endParaRPr b="0" lang="en-US" sz="1400" spc="-1" strike="noStrike">
              <a:solidFill>
                <a:srgbClr val="000000"/>
              </a:solidFill>
              <a:latin typeface="Times New Roman"/>
            </a:endParaRPr>
          </a:p>
        </p:txBody>
      </p:sp>
      <p:sp>
        <p:nvSpPr>
          <p:cNvPr id="31" name="PlaceHolder 4"/>
          <p:cNvSpPr>
            <a:spLocks noGrp="1"/>
          </p:cNvSpPr>
          <p:nvPr>
            <p:ph type="sldNum" idx="14"/>
          </p:nvPr>
        </p:nvSpPr>
        <p:spPr>
          <a:xfrm>
            <a:off x="7227360" y="5165280"/>
            <a:ext cx="2346120" cy="388440"/>
          </a:xfrm>
          <a:prstGeom prst="rect">
            <a:avLst/>
          </a:prstGeom>
          <a:noFill/>
          <a:ln w="0">
            <a:noFill/>
          </a:ln>
        </p:spPr>
        <p:txBody>
          <a:bodyPr lIns="0" rIns="0" tIns="0" bIns="0" anchor="t">
            <a:noAutofit/>
          </a:bodyPr>
          <a:lstStyle>
            <a:lvl1pPr indent="0" algn="r" defTabSz="914400">
              <a:lnSpc>
                <a:spcPct val="100000"/>
              </a:lnSpc>
              <a:buNone/>
              <a:tabLst>
                <a:tab algn="l" pos="0"/>
              </a:tabLst>
              <a:defRPr b="0" lang="en-US" sz="1400" spc="-1" strike="noStrike">
                <a:solidFill>
                  <a:srgbClr val="000000"/>
                </a:solidFill>
                <a:latin typeface="Times New Roman"/>
                <a:ea typeface="DejaVu Sans"/>
              </a:defRPr>
            </a:lvl1pPr>
          </a:lstStyle>
          <a:p>
            <a:pPr indent="0" algn="r" defTabSz="914400">
              <a:lnSpc>
                <a:spcPct val="100000"/>
              </a:lnSpc>
              <a:buNone/>
              <a:tabLst>
                <a:tab algn="l" pos="0"/>
              </a:tabLst>
            </a:pPr>
            <a:fld id="{A424CC7F-39CB-44EA-91EB-844CD9223B6B}" type="slidenum">
              <a:rPr b="0" lang="en-US" sz="1400" spc="-1" strike="noStrike">
                <a:solidFill>
                  <a:srgbClr val="000000"/>
                </a:solidFill>
                <a:latin typeface="Times New Roman"/>
                <a:ea typeface="DejaVu Sans"/>
              </a:rPr>
              <a:t>&lt;number&gt;</a:t>
            </a:fld>
            <a:endParaRPr b="0" lang="en-US" sz="1400" spc="-1" strike="noStrike">
              <a:solidFill>
                <a:srgbClr val="000000"/>
              </a:solidFill>
              <a:latin typeface="Times New Roman"/>
            </a:endParaRPr>
          </a:p>
        </p:txBody>
      </p:sp>
      <p:sp>
        <p:nvSpPr>
          <p:cNvPr id="32" name="PlaceHolder 5"/>
          <p:cNvSpPr>
            <a:spLocks noGrp="1"/>
          </p:cNvSpPr>
          <p:nvPr>
            <p:ph type="dt" idx="15"/>
          </p:nvPr>
        </p:nvSpPr>
        <p:spPr>
          <a:xfrm>
            <a:off x="504000" y="5165280"/>
            <a:ext cx="2346120" cy="38844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504000" y="226080"/>
            <a:ext cx="9069480" cy="9442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6" name="PlaceHolder 2"/>
          <p:cNvSpPr>
            <a:spLocks noGrp="1"/>
          </p:cNvSpPr>
          <p:nvPr>
            <p:ph type="body"/>
          </p:nvPr>
        </p:nvSpPr>
        <p:spPr>
          <a:xfrm>
            <a:off x="504000" y="1326600"/>
            <a:ext cx="9070200" cy="3286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7" name="PlaceHolder 3"/>
          <p:cNvSpPr>
            <a:spLocks noGrp="1"/>
          </p:cNvSpPr>
          <p:nvPr>
            <p:ph type="ftr" idx="16"/>
          </p:nvPr>
        </p:nvSpPr>
        <p:spPr>
          <a:xfrm>
            <a:off x="3447360" y="5165280"/>
            <a:ext cx="3192840" cy="388440"/>
          </a:xfrm>
          <a:prstGeom prst="rect">
            <a:avLst/>
          </a:prstGeom>
          <a:noFill/>
          <a:ln w="0">
            <a:noFill/>
          </a:ln>
        </p:spPr>
        <p:txBody>
          <a:bodyPr lIns="0" rIns="0" tIns="0" bIns="0" anchor="t">
            <a:noAutofit/>
          </a:bodyPr>
          <a:lstStyle>
            <a:lvl1pPr indent="0" algn="ctr" defTabSz="914400">
              <a:lnSpc>
                <a:spcPct val="100000"/>
              </a:lnSpc>
              <a:buNone/>
              <a:tabLst>
                <a:tab algn="l" pos="0"/>
              </a:tabLst>
              <a:defRPr b="0" lang="en-US" sz="1400" spc="-1" strike="noStrike">
                <a:solidFill>
                  <a:srgbClr val="000000"/>
                </a:solidFill>
                <a:latin typeface="Times New Roman"/>
                <a:ea typeface="DejaVu Sans"/>
              </a:defRPr>
            </a:lvl1pPr>
          </a:lstStyle>
          <a:p>
            <a:pPr indent="0" algn="ctr" defTabSz="914400">
              <a:lnSpc>
                <a:spcPct val="100000"/>
              </a:lnSpc>
              <a:buNone/>
              <a:tabLst>
                <a:tab algn="l" pos="0"/>
              </a:tabLst>
            </a:pPr>
            <a:r>
              <a:rPr b="0" lang="en-US" sz="1400" spc="-1" strike="noStrike">
                <a:solidFill>
                  <a:srgbClr val="000000"/>
                </a:solidFill>
                <a:latin typeface="Times New Roman"/>
                <a:ea typeface="DejaVu Sans"/>
              </a:rPr>
              <a:t>&lt;footer&gt;</a:t>
            </a:r>
            <a:endParaRPr b="0" lang="en-US" sz="1400" spc="-1" strike="noStrike">
              <a:solidFill>
                <a:srgbClr val="000000"/>
              </a:solidFill>
              <a:latin typeface="Times New Roman"/>
            </a:endParaRPr>
          </a:p>
        </p:txBody>
      </p:sp>
      <p:sp>
        <p:nvSpPr>
          <p:cNvPr id="38" name="PlaceHolder 4"/>
          <p:cNvSpPr>
            <a:spLocks noGrp="1"/>
          </p:cNvSpPr>
          <p:nvPr>
            <p:ph type="sldNum" idx="17"/>
          </p:nvPr>
        </p:nvSpPr>
        <p:spPr>
          <a:xfrm>
            <a:off x="7227360" y="5165280"/>
            <a:ext cx="2346120" cy="388440"/>
          </a:xfrm>
          <a:prstGeom prst="rect">
            <a:avLst/>
          </a:prstGeom>
          <a:noFill/>
          <a:ln w="0">
            <a:noFill/>
          </a:ln>
        </p:spPr>
        <p:txBody>
          <a:bodyPr lIns="0" rIns="0" tIns="0" bIns="0" anchor="t">
            <a:noAutofit/>
          </a:bodyPr>
          <a:lstStyle>
            <a:lvl1pPr indent="0" algn="r" defTabSz="914400">
              <a:lnSpc>
                <a:spcPct val="100000"/>
              </a:lnSpc>
              <a:buNone/>
              <a:tabLst>
                <a:tab algn="l" pos="0"/>
              </a:tabLst>
              <a:defRPr b="0" lang="en-US" sz="1400" spc="-1" strike="noStrike">
                <a:solidFill>
                  <a:srgbClr val="000000"/>
                </a:solidFill>
                <a:latin typeface="Times New Roman"/>
                <a:ea typeface="DejaVu Sans"/>
              </a:defRPr>
            </a:lvl1pPr>
          </a:lstStyle>
          <a:p>
            <a:pPr indent="0" algn="r" defTabSz="914400">
              <a:lnSpc>
                <a:spcPct val="100000"/>
              </a:lnSpc>
              <a:buNone/>
              <a:tabLst>
                <a:tab algn="l" pos="0"/>
              </a:tabLst>
            </a:pPr>
            <a:fld id="{9F509CD6-611A-4EC7-8E25-18CAA534742C}" type="slidenum">
              <a:rPr b="0" lang="en-US" sz="1400" spc="-1" strike="noStrike">
                <a:solidFill>
                  <a:srgbClr val="000000"/>
                </a:solidFill>
                <a:latin typeface="Times New Roman"/>
                <a:ea typeface="DejaVu Sans"/>
              </a:rPr>
              <a:t>&lt;number&gt;</a:t>
            </a:fld>
            <a:endParaRPr b="0" lang="en-US" sz="1400" spc="-1" strike="noStrike">
              <a:solidFill>
                <a:srgbClr val="000000"/>
              </a:solidFill>
              <a:latin typeface="Times New Roman"/>
            </a:endParaRPr>
          </a:p>
        </p:txBody>
      </p:sp>
      <p:sp>
        <p:nvSpPr>
          <p:cNvPr id="39" name="PlaceHolder 5"/>
          <p:cNvSpPr>
            <a:spLocks noGrp="1"/>
          </p:cNvSpPr>
          <p:nvPr>
            <p:ph type="dt" idx="18"/>
          </p:nvPr>
        </p:nvSpPr>
        <p:spPr>
          <a:xfrm>
            <a:off x="504000" y="5165280"/>
            <a:ext cx="2346120" cy="38844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hyperlink" Target="https://footystats.org/" TargetMode="External"/><Relationship Id="rId2" Type="http://schemas.openxmlformats.org/officeDocument/2006/relationships/slideLayout" Target="../slideLayouts/slideLayout6.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6.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3.xml.rels><?xml version="1.0" encoding="UTF-8"?>
<Relationships xmlns="http://schemas.openxmlformats.org/package/2006/relationships"><Relationship Id="rId1" Type="http://schemas.openxmlformats.org/officeDocument/2006/relationships/hyperlink" Target="http://127.0.0.1:8000/train/CB" TargetMode="Externa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6.xml"/>
</Relationships>
</file>

<file path=ppt/slides/_rels/slide14.xml.rels><?xml version="1.0" encoding="UTF-8"?>
<Relationships xmlns="http://schemas.openxmlformats.org/package/2006/relationships"><Relationship Id="rId1" Type="http://schemas.openxmlformats.org/officeDocument/2006/relationships/hyperlink" Target="http://127.0.0.1:8000/predict/CB" TargetMode="Externa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6.xml"/>
</Relationships>
</file>

<file path=ppt/slides/_rels/slide1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6.xml"/>
</Relationships>
</file>

<file path=ppt/slides/_rels/slide1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6.xml"/>
</Relationships>
</file>

<file path=ppt/slides/_rels/slide17.xml.rels><?xml version="1.0" encoding="UTF-8"?>
<Relationships xmlns="http://schemas.openxmlformats.org/package/2006/relationships"><Relationship Id="rId1" Type="http://schemas.openxmlformats.org/officeDocument/2006/relationships/hyperlink" Target="http://localhost/" TargetMode="External"/><Relationship Id="rId2" Type="http://schemas.openxmlformats.org/officeDocument/2006/relationships/hyperlink" Target="https://github.com/hohagigi/FinalProjectSDA_HOHA.git" TargetMode="External"/><Relationship Id="rId3" Type="http://schemas.openxmlformats.org/officeDocument/2006/relationships/slideLayout" Target="../slideLayouts/slideLayout6.xml"/>
</Relationships>
</file>

<file path=ppt/slides/_rels/slide18.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6.xml"/>
</Relationships>
</file>

<file path=ppt/slides/_rels/slide19.xml.rels><?xml version="1.0" encoding="UTF-8"?>
<Relationships xmlns="http://schemas.openxmlformats.org/package/2006/relationships"><Relationship Id="rId1" Type="http://schemas.openxmlformats.org/officeDocument/2006/relationships/hyperlink" Target="https://link.springer.com/article/10.1007/s10994-018-5747-8" TargetMode="External"/><Relationship Id="rId2" Type="http://schemas.openxmlformats.org/officeDocument/2006/relationships/hyperlink" Target="https://link.springer.com/article/10.1186/s40537-024-01008-2" TargetMode="External"/><Relationship Id="rId3" Type="http://schemas.openxmlformats.org/officeDocument/2006/relationships/slideLayout" Target="../slideLayouts/slideLayout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dee6ef"/>
            </a:gs>
            <a:gs pos="100000">
              <a:srgbClr val="729fcf"/>
            </a:gs>
          </a:gsLst>
          <a:lin ang="3600000"/>
        </a:gradFill>
      </p:bgPr>
    </p:bg>
    <p:spTree>
      <p:nvGrpSpPr>
        <p:cNvPr id="1" name=""/>
        <p:cNvGrpSpPr/>
        <p:nvPr/>
      </p:nvGrpSpPr>
      <p:grpSpPr>
        <a:xfrm>
          <a:off x="0" y="0"/>
          <a:ext cx="0" cy="0"/>
          <a:chOff x="0" y="0"/>
          <a:chExt cx="0" cy="0"/>
        </a:xfrm>
      </p:grpSpPr>
      <p:sp>
        <p:nvSpPr>
          <p:cNvPr id="42" name="PlaceHolder 1"/>
          <p:cNvSpPr>
            <a:spLocks noGrp="1"/>
          </p:cNvSpPr>
          <p:nvPr>
            <p:ph type="subTitle"/>
          </p:nvPr>
        </p:nvSpPr>
        <p:spPr>
          <a:xfrm>
            <a:off x="504000" y="226080"/>
            <a:ext cx="9069480" cy="4383720"/>
          </a:xfrm>
          <a:prstGeom prst="rect">
            <a:avLst/>
          </a:prstGeom>
          <a:noFill/>
          <a:ln w="0">
            <a:noFill/>
          </a:ln>
        </p:spPr>
        <p:txBody>
          <a:bodyPr lIns="0" rIns="0" tIns="0" bIns="0" anchor="ctr">
            <a:noAutofit/>
          </a:bodyPr>
          <a:p>
            <a:pPr marL="571680" indent="-228600" algn="ctr">
              <a:lnSpc>
                <a:spcPct val="100000"/>
              </a:lnSpc>
              <a:spcBef>
                <a:spcPts val="1191"/>
              </a:spcBef>
              <a:spcAft>
                <a:spcPts val="992"/>
              </a:spcAft>
              <a:tabLst>
                <a:tab algn="l" pos="0"/>
              </a:tabLst>
            </a:pPr>
            <a:r>
              <a:rPr b="1" lang="en-US" sz="1400" spc="-1" strike="noStrike">
                <a:solidFill>
                  <a:srgbClr val="861141"/>
                </a:solidFill>
                <a:latin typeface="Times New Roman"/>
                <a:ea typeface="Noto Sans CJK SC"/>
              </a:rPr>
              <a:t>Proiect individual in cadrul cursului Software Development Academy -AI Engineering</a:t>
            </a:r>
            <a:endParaRPr b="0" lang="en-US" sz="1400" spc="-1" strike="noStrike">
              <a:solidFill>
                <a:srgbClr val="000000"/>
              </a:solidFill>
              <a:latin typeface="Arial"/>
            </a:endParaRPr>
          </a:p>
          <a:p>
            <a:pPr marL="571680" indent="-228600" algn="ctr">
              <a:lnSpc>
                <a:spcPct val="100000"/>
              </a:lnSpc>
              <a:spcBef>
                <a:spcPts val="1417"/>
              </a:spcBef>
              <a:tabLst>
                <a:tab algn="l" pos="0"/>
              </a:tabLst>
            </a:pPr>
            <a:r>
              <a:rPr b="1" i="1" lang="en-US" sz="2600" spc="-1" strike="noStrike">
                <a:solidFill>
                  <a:srgbClr val="f10d0c"/>
                </a:solidFill>
                <a:latin typeface="Times New Roman"/>
                <a:ea typeface="Noto Sans CJK SC"/>
              </a:rPr>
              <a:t>Predicția rezultatului final al unui meci de fotbal</a:t>
            </a:r>
            <a:endParaRPr b="0" lang="en-US" sz="2600" spc="-1" strike="noStrike">
              <a:solidFill>
                <a:srgbClr val="000000"/>
              </a:solidFill>
              <a:latin typeface="Arial"/>
            </a:endParaRPr>
          </a:p>
          <a:p>
            <a:pPr marL="571680" indent="-228600" algn="ctr">
              <a:lnSpc>
                <a:spcPct val="100000"/>
              </a:lnSpc>
              <a:spcBef>
                <a:spcPts val="1191"/>
              </a:spcBef>
              <a:spcAft>
                <a:spcPts val="992"/>
              </a:spcAft>
              <a:tabLst>
                <a:tab algn="l" pos="0"/>
              </a:tabLst>
            </a:pPr>
            <a:r>
              <a:rPr b="1" lang="en-US" sz="1600" spc="-1" strike="noStrike">
                <a:solidFill>
                  <a:srgbClr val="861141"/>
                </a:solidFill>
                <a:latin typeface="Times New Roman"/>
                <a:ea typeface="Noto Sans CJK SC"/>
              </a:rPr>
              <a:t>Grupa AIRemoteRO4</a:t>
            </a:r>
            <a:endParaRPr b="0" lang="en-US" sz="1600" spc="-1" strike="noStrike">
              <a:solidFill>
                <a:srgbClr val="000000"/>
              </a:solidFill>
              <a:latin typeface="Arial"/>
            </a:endParaRPr>
          </a:p>
          <a:p>
            <a:pPr marL="571680" indent="-228600" algn="ctr">
              <a:lnSpc>
                <a:spcPct val="100000"/>
              </a:lnSpc>
              <a:spcBef>
                <a:spcPts val="1191"/>
              </a:spcBef>
              <a:spcAft>
                <a:spcPts val="992"/>
              </a:spcAft>
              <a:tabLst>
                <a:tab algn="l" pos="0"/>
              </a:tabLst>
            </a:pPr>
            <a:r>
              <a:rPr b="1" lang="en-US" sz="1600" spc="-1" strike="noStrike">
                <a:solidFill>
                  <a:srgbClr val="861141"/>
                </a:solidFill>
                <a:latin typeface="Times New Roman"/>
                <a:ea typeface="Noto Sans CJK SC"/>
              </a:rPr>
              <a:t>Cursant HOHA V. Gheorghiță</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dee6ef"/>
            </a:gs>
            <a:gs pos="100000">
              <a:srgbClr val="729fcf"/>
            </a:gs>
          </a:gsLst>
          <a:lin ang="3600000"/>
        </a:gra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504000" y="226080"/>
            <a:ext cx="9069480" cy="325080"/>
          </a:xfrm>
          <a:prstGeom prst="rect">
            <a:avLst/>
          </a:prstGeom>
          <a:noFill/>
          <a:ln w="0">
            <a:noFill/>
          </a:ln>
        </p:spPr>
        <p:txBody>
          <a:bodyPr lIns="0" rIns="0" tIns="0" bIns="0" anchor="ctr">
            <a:noAutofit/>
          </a:bodyPr>
          <a:p>
            <a:pPr marL="571680" indent="-228600" algn="ctr">
              <a:lnSpc>
                <a:spcPct val="100000"/>
              </a:lnSpc>
              <a:buNone/>
              <a:tabLst>
                <a:tab algn="l" pos="0"/>
              </a:tabLst>
            </a:pPr>
            <a:r>
              <a:rPr b="1" lang="en-US" sz="2100" spc="-1" strike="noStrike">
                <a:solidFill>
                  <a:srgbClr val="222222"/>
                </a:solidFill>
                <a:latin typeface="Times New Roman"/>
                <a:ea typeface="Noto Sans CJK SC"/>
              </a:rPr>
              <a:t>Scurta descriere ; Librarii si environment-uri folosite</a:t>
            </a:r>
            <a:endParaRPr b="0" lang="en-US" sz="2100" spc="-1" strike="noStrike">
              <a:solidFill>
                <a:srgbClr val="000000"/>
              </a:solidFill>
              <a:latin typeface="Arial"/>
            </a:endParaRPr>
          </a:p>
        </p:txBody>
      </p:sp>
      <p:sp>
        <p:nvSpPr>
          <p:cNvPr id="44" name="PlaceHolder 2"/>
          <p:cNvSpPr>
            <a:spLocks noGrp="1"/>
          </p:cNvSpPr>
          <p:nvPr>
            <p:ph/>
          </p:nvPr>
        </p:nvSpPr>
        <p:spPr>
          <a:xfrm>
            <a:off x="322560" y="756000"/>
            <a:ext cx="9070200" cy="1488240"/>
          </a:xfrm>
          <a:prstGeom prst="rect">
            <a:avLst/>
          </a:prstGeom>
          <a:noFill/>
          <a:ln w="0">
            <a:noFill/>
          </a:ln>
        </p:spPr>
        <p:txBody>
          <a:bodyPr lIns="0" rIns="0" tIns="0" bIns="0" anchor="t">
            <a:normAutofit/>
          </a:bodyPr>
          <a:p>
            <a:pPr marL="432000" indent="-324000" defTabSz="914400">
              <a:lnSpc>
                <a:spcPct val="100000"/>
              </a:lnSpc>
              <a:buClr>
                <a:srgbClr val="000000"/>
              </a:buClr>
              <a:buSzPct val="45000"/>
              <a:buFont typeface="Wingdings" charset="2"/>
              <a:buChar char=""/>
              <a:tabLst>
                <a:tab algn="l" pos="0"/>
              </a:tabLst>
            </a:pPr>
            <a:r>
              <a:rPr b="0" lang="en-US" sz="1400" spc="-1" strike="noStrike">
                <a:solidFill>
                  <a:srgbClr val="000000"/>
                </a:solidFill>
                <a:latin typeface="Arial"/>
                <a:ea typeface="Noto Sans CJK SC"/>
              </a:rPr>
              <a:t>Pe baza rezultatelor si a statisticilor meciurilor anterior disputate se incearca realizarea unei predictii a rezultatului final al unui meci de fotbal folosind algoritmi Machine Learning</a:t>
            </a:r>
            <a:endParaRPr b="0" lang="en-US" sz="1400" spc="-1" strike="noStrike">
              <a:solidFill>
                <a:srgbClr val="000000"/>
              </a:solidFill>
              <a:latin typeface="Arial"/>
            </a:endParaRPr>
          </a:p>
          <a:p>
            <a:pPr marL="432000" indent="-324000" defTabSz="914400">
              <a:lnSpc>
                <a:spcPct val="100000"/>
              </a:lnSpc>
              <a:buClr>
                <a:srgbClr val="000000"/>
              </a:buClr>
              <a:buSzPct val="45000"/>
              <a:buFont typeface="Wingdings" charset="2"/>
              <a:buChar char=""/>
              <a:tabLst>
                <a:tab algn="l" pos="0"/>
              </a:tabLst>
            </a:pPr>
            <a:r>
              <a:rPr b="0" lang="en-US" sz="1400" spc="-1" strike="noStrike">
                <a:solidFill>
                  <a:srgbClr val="000000"/>
                </a:solidFill>
                <a:latin typeface="Arial"/>
                <a:ea typeface="Noto Sans CJK SC"/>
              </a:rPr>
              <a:t>Atat timp cat rezultatele obtinute au o precizie relativ scazuta (~60%) si totodata fara o strategie de pariere potrivita, proiectul ramane in zona de hobby</a:t>
            </a:r>
            <a:endParaRPr b="0" lang="en-US" sz="1400" spc="-1" strike="noStrike">
              <a:solidFill>
                <a:srgbClr val="000000"/>
              </a:solidFill>
              <a:latin typeface="Arial"/>
            </a:endParaRPr>
          </a:p>
          <a:p>
            <a:pPr marL="432000" indent="-324000" defTabSz="914400">
              <a:lnSpc>
                <a:spcPct val="100000"/>
              </a:lnSpc>
              <a:buClr>
                <a:srgbClr val="000000"/>
              </a:buClr>
              <a:buSzPct val="45000"/>
              <a:buFont typeface="Wingdings" charset="2"/>
              <a:buChar char=""/>
              <a:tabLst>
                <a:tab algn="l" pos="0"/>
              </a:tabLst>
            </a:pPr>
            <a:r>
              <a:rPr b="0" lang="en-US" sz="1400" spc="-1" strike="noStrike">
                <a:solidFill>
                  <a:srgbClr val="000000"/>
                </a:solidFill>
                <a:latin typeface="Arial"/>
                <a:ea typeface="Noto Sans CJK SC"/>
              </a:rPr>
              <a:t>La implementarea proiectului au fost folosite limbajele de programare Python și PHP </a:t>
            </a:r>
            <a:endParaRPr b="0" lang="en-US" sz="1400" spc="-1" strike="noStrike">
              <a:solidFill>
                <a:srgbClr val="000000"/>
              </a:solidFill>
              <a:latin typeface="Arial"/>
            </a:endParaRPr>
          </a:p>
          <a:p>
            <a:pPr marL="432000" indent="-324000" defTabSz="914400">
              <a:lnSpc>
                <a:spcPct val="100000"/>
              </a:lnSpc>
              <a:buClr>
                <a:srgbClr val="000000"/>
              </a:buClr>
              <a:buSzPct val="45000"/>
              <a:buFont typeface="Wingdings" charset="2"/>
              <a:buChar char=""/>
              <a:tabLst>
                <a:tab algn="l" pos="0"/>
              </a:tabLst>
            </a:pPr>
            <a:r>
              <a:rPr b="0" lang="en-US" sz="1400" spc="-1" strike="noStrike">
                <a:solidFill>
                  <a:srgbClr val="000000"/>
                </a:solidFill>
                <a:latin typeface="Arial"/>
                <a:ea typeface="Noto Sans CJK SC"/>
              </a:rPr>
              <a:t>S-a folosit mediul de dezvoltare VSCode</a:t>
            </a:r>
            <a:endParaRPr b="0" lang="en-US" sz="1400" spc="-1" strike="noStrike">
              <a:solidFill>
                <a:srgbClr val="000000"/>
              </a:solidFill>
              <a:latin typeface="Arial"/>
            </a:endParaRPr>
          </a:p>
          <a:p>
            <a:pPr marL="432000" indent="0" defTabSz="914400">
              <a:lnSpc>
                <a:spcPct val="100000"/>
              </a:lnSpc>
              <a:buNone/>
              <a:tabLst>
                <a:tab algn="l" pos="0"/>
              </a:tabLst>
            </a:pPr>
            <a:endParaRPr b="0" lang="en-US" sz="2000" spc="-1" strike="noStrike">
              <a:solidFill>
                <a:srgbClr val="000000"/>
              </a:solidFill>
              <a:latin typeface="Arial"/>
            </a:endParaRPr>
          </a:p>
        </p:txBody>
      </p:sp>
      <p:sp>
        <p:nvSpPr>
          <p:cNvPr id="45" name="Rectangle 38"/>
          <p:cNvSpPr/>
          <p:nvPr/>
        </p:nvSpPr>
        <p:spPr>
          <a:xfrm>
            <a:off x="292320" y="2457720"/>
            <a:ext cx="8931240" cy="3455280"/>
          </a:xfrm>
          <a:prstGeom prst="rect">
            <a:avLst/>
          </a:prstGeom>
          <a:noFill/>
          <a:ln w="0">
            <a:noFill/>
          </a:ln>
        </p:spPr>
        <p:style>
          <a:lnRef idx="0"/>
          <a:fillRef idx="0"/>
          <a:effectRef idx="0"/>
          <a:fontRef idx="minor"/>
        </p:style>
        <p:txBody>
          <a:bodyPr lIns="0" rIns="0" tIns="0" bIns="0" anchor="t">
            <a:normAutofit/>
          </a:bodyPr>
          <a:p>
            <a:pPr marL="432000" indent="-324000" defTabSz="914400">
              <a:lnSpc>
                <a:spcPct val="100000"/>
              </a:lnSpc>
              <a:spcBef>
                <a:spcPts val="1417"/>
              </a:spcBef>
              <a:buClr>
                <a:srgbClr val="000000"/>
              </a:buClr>
              <a:buSzPct val="45000"/>
              <a:buFont typeface="Wingdings" charset="2"/>
              <a:buChar char=""/>
            </a:pPr>
            <a:r>
              <a:rPr b="0" lang="en-US" sz="1200" spc="-1" strike="noStrike">
                <a:solidFill>
                  <a:srgbClr val="000000"/>
                </a:solidFill>
                <a:latin typeface="Arial"/>
                <a:ea typeface="DejaVu Sans"/>
              </a:rPr>
              <a:t>Librarii python :</a:t>
            </a:r>
            <a:endParaRPr b="0" lang="en-US" sz="1200" spc="-1" strike="noStrike">
              <a:solidFill>
                <a:srgbClr val="000000"/>
              </a:solidFill>
              <a:latin typeface="Arial"/>
            </a:endParaRPr>
          </a:p>
          <a:p>
            <a:pPr lvl="1" marL="864000" indent="-324000" defTabSz="914400">
              <a:lnSpc>
                <a:spcPct val="100000"/>
              </a:lnSpc>
              <a:spcBef>
                <a:spcPts val="1134"/>
              </a:spcBef>
              <a:buClr>
                <a:srgbClr val="000000"/>
              </a:buClr>
              <a:buSzPct val="75000"/>
              <a:buFont typeface="Symbol" charset="2"/>
              <a:buChar char=""/>
            </a:pPr>
            <a:r>
              <a:rPr b="0" lang="en-US" sz="1200" spc="-1" strike="noStrike">
                <a:solidFill>
                  <a:srgbClr val="000000"/>
                </a:solidFill>
                <a:latin typeface="Arial"/>
                <a:ea typeface="DejaVu Sans"/>
              </a:rPr>
              <a:t>Python 3.12.9</a:t>
            </a:r>
            <a:endParaRPr b="0" lang="en-US" sz="1200" spc="-1" strike="noStrike">
              <a:solidFill>
                <a:srgbClr val="000000"/>
              </a:solidFill>
              <a:latin typeface="Arial"/>
            </a:endParaRPr>
          </a:p>
          <a:p>
            <a:pPr lvl="1" marL="864000" indent="-324000" defTabSz="914400">
              <a:lnSpc>
                <a:spcPct val="100000"/>
              </a:lnSpc>
              <a:buClr>
                <a:srgbClr val="000000"/>
              </a:buClr>
              <a:buSzPct val="75000"/>
              <a:buFont typeface="Symbol" charset="2"/>
              <a:buChar char=""/>
            </a:pPr>
            <a:r>
              <a:rPr b="0" lang="en-US" sz="1200" spc="-1" strike="noStrike">
                <a:solidFill>
                  <a:srgbClr val="000000"/>
                </a:solidFill>
                <a:latin typeface="Arial"/>
                <a:ea typeface="DejaVu Sans"/>
              </a:rPr>
              <a:t>Keras 3.11.3 (NN)</a:t>
            </a:r>
            <a:endParaRPr b="0" lang="en-US" sz="1200" spc="-1" strike="noStrike">
              <a:solidFill>
                <a:srgbClr val="000000"/>
              </a:solidFill>
              <a:latin typeface="Arial"/>
            </a:endParaRPr>
          </a:p>
          <a:p>
            <a:pPr lvl="1" marL="864000" indent="-324000" defTabSz="914400">
              <a:lnSpc>
                <a:spcPct val="100000"/>
              </a:lnSpc>
              <a:buClr>
                <a:srgbClr val="000000"/>
              </a:buClr>
              <a:buSzPct val="75000"/>
              <a:buFont typeface="Symbol" charset="2"/>
              <a:buChar char=""/>
            </a:pPr>
            <a:r>
              <a:rPr b="0" lang="en-US" sz="1200" spc="-1" strike="noStrike">
                <a:solidFill>
                  <a:srgbClr val="000000"/>
                </a:solidFill>
                <a:latin typeface="Arial"/>
                <a:ea typeface="DejaVu Sans"/>
              </a:rPr>
              <a:t>Catboost 1.2.8 (CatBoostClassifier)</a:t>
            </a:r>
            <a:r>
              <a:rPr b="0" lang="en-US" sz="1200" spc="-1" strike="noStrike">
                <a:solidFill>
                  <a:srgbClr val="000000"/>
                </a:solidFill>
                <a:latin typeface="Arial"/>
                <a:ea typeface="DejaVu Sans"/>
              </a:rPr>
              <a:t>	</a:t>
            </a:r>
            <a:r>
              <a:rPr b="0" lang="en-US" sz="1200" spc="-1" strike="noStrike">
                <a:solidFill>
                  <a:srgbClr val="000000"/>
                </a:solidFill>
                <a:latin typeface="Arial"/>
                <a:ea typeface="DejaVu Sans"/>
              </a:rPr>
              <a:t>este definit modelul CatBoost</a:t>
            </a:r>
            <a:endParaRPr b="0" lang="en-US" sz="1200" spc="-1" strike="noStrike">
              <a:solidFill>
                <a:srgbClr val="000000"/>
              </a:solidFill>
              <a:latin typeface="Arial"/>
            </a:endParaRPr>
          </a:p>
          <a:p>
            <a:pPr lvl="1" marL="864000" indent="-324000" defTabSz="914400">
              <a:lnSpc>
                <a:spcPct val="100000"/>
              </a:lnSpc>
              <a:buClr>
                <a:srgbClr val="000000"/>
              </a:buClr>
              <a:buSzPct val="75000"/>
              <a:buFont typeface="Symbol" charset="2"/>
              <a:buChar char=""/>
            </a:pPr>
            <a:r>
              <a:rPr b="0" lang="en-US" sz="1200" spc="-1" strike="noStrike">
                <a:solidFill>
                  <a:srgbClr val="000000"/>
                </a:solidFill>
                <a:latin typeface="Arial"/>
                <a:ea typeface="DejaVu Sans"/>
              </a:rPr>
              <a:t>Sklearn 1.7.2 (DecisionTreeClassifier)</a:t>
            </a:r>
            <a:r>
              <a:rPr b="0" lang="en-US" sz="1200" spc="-1" strike="noStrike">
                <a:solidFill>
                  <a:srgbClr val="000000"/>
                </a:solidFill>
                <a:latin typeface="Arial"/>
                <a:ea typeface="DejaVu Sans"/>
              </a:rPr>
              <a:t>	</a:t>
            </a:r>
            <a:r>
              <a:rPr b="0" lang="en-US" sz="1200" spc="-1" strike="noStrike">
                <a:solidFill>
                  <a:srgbClr val="000000"/>
                </a:solidFill>
                <a:latin typeface="Arial"/>
                <a:ea typeface="DejaVu Sans"/>
              </a:rPr>
              <a:t>este definit modelul DecisionTree</a:t>
            </a:r>
            <a:endParaRPr b="0" lang="en-US" sz="1200" spc="-1" strike="noStrike">
              <a:solidFill>
                <a:srgbClr val="000000"/>
              </a:solidFill>
              <a:latin typeface="Arial"/>
            </a:endParaRPr>
          </a:p>
          <a:p>
            <a:pPr lvl="1" marL="864000" indent="-324000" defTabSz="914400">
              <a:lnSpc>
                <a:spcPct val="100000"/>
              </a:lnSpc>
              <a:buClr>
                <a:srgbClr val="000000"/>
              </a:buClr>
              <a:buSzPct val="75000"/>
              <a:buFont typeface="Symbol" charset="2"/>
              <a:buChar char=""/>
            </a:pPr>
            <a:r>
              <a:rPr b="0" lang="en-US" sz="1200" spc="-1" strike="noStrike">
                <a:solidFill>
                  <a:srgbClr val="000000"/>
                </a:solidFill>
                <a:latin typeface="Arial"/>
                <a:ea typeface="DejaVu Sans"/>
              </a:rPr>
              <a:t>Pandas 2.3.2</a:t>
            </a:r>
            <a:r>
              <a:rPr b="0" lang="en-US" sz="1200" spc="-1" strike="noStrike">
                <a:solidFill>
                  <a:srgbClr val="000000"/>
                </a:solidFill>
                <a:latin typeface="Arial"/>
                <a:ea typeface="DejaVu Sans"/>
              </a:rPr>
              <a:t>	</a:t>
            </a:r>
            <a:r>
              <a:rPr b="0" lang="en-US" sz="1200" spc="-1" strike="noStrike">
                <a:solidFill>
                  <a:srgbClr val="000000"/>
                </a:solidFill>
                <a:latin typeface="Arial"/>
                <a:ea typeface="DejaVu Sans"/>
              </a:rPr>
              <a:t>	</a:t>
            </a:r>
            <a:r>
              <a:rPr b="0" lang="en-US" sz="1200" spc="-1" strike="noStrike">
                <a:solidFill>
                  <a:srgbClr val="000000"/>
                </a:solidFill>
                <a:latin typeface="Arial"/>
                <a:ea typeface="DejaVu Sans"/>
              </a:rPr>
              <a:t>	</a:t>
            </a:r>
            <a:r>
              <a:rPr b="0" lang="en-US" sz="1200" spc="-1" strike="noStrike">
                <a:solidFill>
                  <a:srgbClr val="000000"/>
                </a:solidFill>
                <a:latin typeface="Arial"/>
                <a:ea typeface="DejaVu Sans"/>
              </a:rPr>
              <a:t>manipularea datelor; procesarea tabelelor(Dataframe)</a:t>
            </a:r>
            <a:endParaRPr b="0" lang="en-US" sz="1200" spc="-1" strike="noStrike">
              <a:solidFill>
                <a:srgbClr val="000000"/>
              </a:solidFill>
              <a:latin typeface="Arial"/>
            </a:endParaRPr>
          </a:p>
          <a:p>
            <a:pPr lvl="1" marL="864000" indent="-324000" defTabSz="914400">
              <a:lnSpc>
                <a:spcPct val="100000"/>
              </a:lnSpc>
              <a:buClr>
                <a:srgbClr val="000000"/>
              </a:buClr>
              <a:buSzPct val="75000"/>
              <a:buFont typeface="Symbol" charset="2"/>
              <a:buChar char=""/>
            </a:pPr>
            <a:r>
              <a:rPr b="0" lang="en-US" sz="1200" spc="-1" strike="noStrike">
                <a:solidFill>
                  <a:srgbClr val="000000"/>
                </a:solidFill>
                <a:latin typeface="Arial"/>
                <a:ea typeface="DejaVu Sans"/>
              </a:rPr>
              <a:t>Numpy 2.3.3</a:t>
            </a:r>
            <a:r>
              <a:rPr b="0" lang="en-US" sz="1200" spc="-1" strike="noStrike">
                <a:solidFill>
                  <a:srgbClr val="000000"/>
                </a:solidFill>
                <a:latin typeface="Arial"/>
                <a:ea typeface="DejaVu Sans"/>
              </a:rPr>
              <a:t>	</a:t>
            </a:r>
            <a:r>
              <a:rPr b="0" lang="en-US" sz="1200" spc="-1" strike="noStrike">
                <a:solidFill>
                  <a:srgbClr val="000000"/>
                </a:solidFill>
                <a:latin typeface="Arial"/>
                <a:ea typeface="DejaVu Sans"/>
              </a:rPr>
              <a:t>	</a:t>
            </a:r>
            <a:r>
              <a:rPr b="0" lang="en-US" sz="1200" spc="-1" strike="noStrike">
                <a:solidFill>
                  <a:srgbClr val="000000"/>
                </a:solidFill>
                <a:latin typeface="Arial"/>
                <a:ea typeface="DejaVu Sans"/>
              </a:rPr>
              <a:t>	</a:t>
            </a:r>
            <a:r>
              <a:rPr b="0" lang="en-US" sz="1200" spc="-1" strike="noStrike">
                <a:solidFill>
                  <a:srgbClr val="000000"/>
                </a:solidFill>
                <a:latin typeface="Arial"/>
                <a:ea typeface="DejaVu Sans"/>
              </a:rPr>
              <a:t>calcul numeric rapid</a:t>
            </a:r>
            <a:endParaRPr b="0" lang="en-US" sz="1200" spc="-1" strike="noStrike">
              <a:solidFill>
                <a:srgbClr val="000000"/>
              </a:solidFill>
              <a:latin typeface="Arial"/>
            </a:endParaRPr>
          </a:p>
          <a:p>
            <a:pPr lvl="1" marL="864000" indent="-324000" defTabSz="914400">
              <a:lnSpc>
                <a:spcPct val="100000"/>
              </a:lnSpc>
              <a:buClr>
                <a:srgbClr val="000000"/>
              </a:buClr>
              <a:buSzPct val="75000"/>
              <a:buFont typeface="Symbol" charset="2"/>
              <a:buChar char=""/>
            </a:pPr>
            <a:r>
              <a:rPr b="0" lang="en-US" sz="1200" spc="-1" strike="noStrike">
                <a:solidFill>
                  <a:srgbClr val="000000"/>
                </a:solidFill>
                <a:latin typeface="Arial"/>
                <a:ea typeface="DejaVu Sans"/>
              </a:rPr>
              <a:t>Matplotlib 3.10.6</a:t>
            </a:r>
            <a:r>
              <a:rPr b="0" lang="en-US" sz="1200" spc="-1" strike="noStrike">
                <a:solidFill>
                  <a:srgbClr val="000000"/>
                </a:solidFill>
                <a:latin typeface="Arial"/>
                <a:ea typeface="DejaVu Sans"/>
              </a:rPr>
              <a:t>	</a:t>
            </a:r>
            <a:r>
              <a:rPr b="0" lang="en-US" sz="1200" spc="-1" strike="noStrike">
                <a:solidFill>
                  <a:srgbClr val="000000"/>
                </a:solidFill>
                <a:latin typeface="Arial"/>
                <a:ea typeface="DejaVu Sans"/>
              </a:rPr>
              <a:t>	</a:t>
            </a:r>
            <a:r>
              <a:rPr b="0" lang="en-US" sz="1200" spc="-1" strike="noStrike">
                <a:solidFill>
                  <a:srgbClr val="000000"/>
                </a:solidFill>
                <a:latin typeface="Arial"/>
                <a:ea typeface="DejaVu Sans"/>
              </a:rPr>
              <a:t>grafice</a:t>
            </a:r>
            <a:endParaRPr b="0" lang="en-US" sz="1200" spc="-1" strike="noStrike">
              <a:solidFill>
                <a:srgbClr val="000000"/>
              </a:solidFill>
              <a:latin typeface="Arial"/>
            </a:endParaRPr>
          </a:p>
          <a:p>
            <a:pPr lvl="1" marL="864000" indent="-324000" defTabSz="914400">
              <a:lnSpc>
                <a:spcPct val="100000"/>
              </a:lnSpc>
              <a:buClr>
                <a:srgbClr val="000000"/>
              </a:buClr>
              <a:buSzPct val="75000"/>
              <a:buFont typeface="Symbol" charset="2"/>
              <a:buChar char=""/>
            </a:pPr>
            <a:r>
              <a:rPr b="0" lang="en-US" sz="1200" spc="-1" strike="noStrike">
                <a:solidFill>
                  <a:srgbClr val="000000"/>
                </a:solidFill>
                <a:latin typeface="Arial"/>
                <a:ea typeface="DejaVu Sans"/>
              </a:rPr>
              <a:t>Seaborn 0.13.2</a:t>
            </a:r>
            <a:r>
              <a:rPr b="0" lang="en-US" sz="1200" spc="-1" strike="noStrike">
                <a:solidFill>
                  <a:srgbClr val="000000"/>
                </a:solidFill>
                <a:latin typeface="Arial"/>
                <a:ea typeface="DejaVu Sans"/>
              </a:rPr>
              <a:t>	</a:t>
            </a:r>
            <a:r>
              <a:rPr b="0" lang="en-US" sz="1200" spc="-1" strike="noStrike">
                <a:solidFill>
                  <a:srgbClr val="000000"/>
                </a:solidFill>
                <a:latin typeface="Arial"/>
                <a:ea typeface="DejaVu Sans"/>
              </a:rPr>
              <a:t>	</a:t>
            </a:r>
            <a:r>
              <a:rPr b="0" lang="en-US" sz="1200" spc="-1" strike="noStrike">
                <a:solidFill>
                  <a:srgbClr val="000000"/>
                </a:solidFill>
                <a:latin typeface="Arial"/>
                <a:ea typeface="DejaVu Sans"/>
              </a:rPr>
              <a:t>grafice</a:t>
            </a:r>
            <a:endParaRPr b="0" lang="en-US" sz="1200" spc="-1" strike="noStrike">
              <a:solidFill>
                <a:srgbClr val="000000"/>
              </a:solidFill>
              <a:latin typeface="Arial"/>
            </a:endParaRPr>
          </a:p>
          <a:p>
            <a:pPr lvl="1" marL="864000" indent="-324000" defTabSz="914400">
              <a:lnSpc>
                <a:spcPct val="100000"/>
              </a:lnSpc>
              <a:buClr>
                <a:srgbClr val="000000"/>
              </a:buClr>
              <a:buSzPct val="75000"/>
              <a:buFont typeface="Symbol" charset="2"/>
              <a:buChar char=""/>
            </a:pPr>
            <a:r>
              <a:rPr b="0" lang="en-US" sz="1200" spc="-1" strike="noStrike">
                <a:solidFill>
                  <a:srgbClr val="000000"/>
                </a:solidFill>
                <a:latin typeface="Arial"/>
                <a:ea typeface="DejaVu Sans"/>
              </a:rPr>
              <a:t>Mlflow 3.3.2</a:t>
            </a:r>
            <a:r>
              <a:rPr b="0" lang="en-US" sz="1200" spc="-1" strike="noStrike">
                <a:solidFill>
                  <a:srgbClr val="000000"/>
                </a:solidFill>
                <a:latin typeface="Arial"/>
                <a:ea typeface="DejaVu Sans"/>
              </a:rPr>
              <a:t>	</a:t>
            </a:r>
            <a:r>
              <a:rPr b="0" lang="en-US" sz="1200" spc="-1" strike="noStrike">
                <a:solidFill>
                  <a:srgbClr val="000000"/>
                </a:solidFill>
                <a:latin typeface="Arial"/>
                <a:ea typeface="DejaVu Sans"/>
              </a:rPr>
              <a:t>	</a:t>
            </a:r>
            <a:r>
              <a:rPr b="0" lang="en-US" sz="1200" spc="-1" strike="noStrike">
                <a:solidFill>
                  <a:srgbClr val="000000"/>
                </a:solidFill>
                <a:latin typeface="Arial"/>
                <a:ea typeface="DejaVu Sans"/>
              </a:rPr>
              <a:t>	</a:t>
            </a:r>
            <a:r>
              <a:rPr b="0" lang="en-US" sz="1200" spc="-1" strike="noStrike">
                <a:solidFill>
                  <a:srgbClr val="000000"/>
                </a:solidFill>
                <a:latin typeface="Arial"/>
                <a:ea typeface="DejaVu Sans"/>
              </a:rPr>
              <a:t>track pe training modele</a:t>
            </a:r>
            <a:endParaRPr b="0" lang="en-US" sz="1200" spc="-1" strike="noStrike">
              <a:solidFill>
                <a:srgbClr val="000000"/>
              </a:solidFill>
              <a:latin typeface="Arial"/>
            </a:endParaRPr>
          </a:p>
          <a:p>
            <a:pPr lvl="1" marL="864000" indent="-324000" defTabSz="914400">
              <a:lnSpc>
                <a:spcPct val="100000"/>
              </a:lnSpc>
              <a:buClr>
                <a:srgbClr val="000000"/>
              </a:buClr>
              <a:buSzPct val="75000"/>
              <a:buFont typeface="Symbol" charset="2"/>
              <a:buChar char=""/>
            </a:pPr>
            <a:r>
              <a:rPr b="0" lang="en-US" sz="1200" spc="-1" strike="noStrike">
                <a:solidFill>
                  <a:srgbClr val="000000"/>
                </a:solidFill>
                <a:latin typeface="Arial"/>
                <a:ea typeface="DejaVu Sans"/>
              </a:rPr>
              <a:t>Mysql.connector 2.2.9</a:t>
            </a:r>
            <a:r>
              <a:rPr b="0" lang="en-US" sz="1200" spc="-1" strike="noStrike">
                <a:solidFill>
                  <a:srgbClr val="000000"/>
                </a:solidFill>
                <a:latin typeface="Arial"/>
                <a:ea typeface="DejaVu Sans"/>
              </a:rPr>
              <a:t>	</a:t>
            </a:r>
            <a:r>
              <a:rPr b="0" lang="en-US" sz="1200" spc="-1" strike="noStrike">
                <a:solidFill>
                  <a:srgbClr val="000000"/>
                </a:solidFill>
                <a:latin typeface="Arial"/>
                <a:ea typeface="DejaVu Sans"/>
              </a:rPr>
              <a:t>	</a:t>
            </a:r>
            <a:r>
              <a:rPr b="0" lang="en-US" sz="1200" spc="-1" strike="noStrike">
                <a:solidFill>
                  <a:srgbClr val="000000"/>
                </a:solidFill>
                <a:latin typeface="Arial"/>
                <a:ea typeface="DejaVu Sans"/>
              </a:rPr>
              <a:t>conector cu MySqlDatabase</a:t>
            </a:r>
            <a:endParaRPr b="0" lang="en-US" sz="1200" spc="-1" strike="noStrike">
              <a:solidFill>
                <a:srgbClr val="000000"/>
              </a:solidFill>
              <a:latin typeface="Arial"/>
            </a:endParaRPr>
          </a:p>
          <a:p>
            <a:pPr lvl="1" marL="864000" indent="-324000" defTabSz="914400">
              <a:lnSpc>
                <a:spcPct val="100000"/>
              </a:lnSpc>
              <a:buClr>
                <a:srgbClr val="000000"/>
              </a:buClr>
              <a:buSzPct val="75000"/>
              <a:buFont typeface="Symbol" charset="2"/>
              <a:buChar char=""/>
            </a:pPr>
            <a:r>
              <a:rPr b="0" lang="en-US" sz="1200" spc="-1" strike="noStrike">
                <a:solidFill>
                  <a:srgbClr val="000000"/>
                </a:solidFill>
                <a:latin typeface="Arial"/>
                <a:ea typeface="DejaVu Sans"/>
              </a:rPr>
              <a:t>Joblib 1.5.2</a:t>
            </a:r>
            <a:r>
              <a:rPr b="0" lang="en-US" sz="1200" spc="-1" strike="noStrike">
                <a:solidFill>
                  <a:srgbClr val="000000"/>
                </a:solidFill>
                <a:latin typeface="Arial"/>
                <a:ea typeface="DejaVu Sans"/>
              </a:rPr>
              <a:t>	</a:t>
            </a:r>
            <a:r>
              <a:rPr b="0" lang="en-US" sz="1200" spc="-1" strike="noStrike">
                <a:solidFill>
                  <a:srgbClr val="000000"/>
                </a:solidFill>
                <a:latin typeface="Arial"/>
                <a:ea typeface="DejaVu Sans"/>
              </a:rPr>
              <a:t>	</a:t>
            </a:r>
            <a:r>
              <a:rPr b="0" lang="en-US" sz="1200" spc="-1" strike="noStrike">
                <a:solidFill>
                  <a:srgbClr val="000000"/>
                </a:solidFill>
                <a:latin typeface="Arial"/>
                <a:ea typeface="DejaVu Sans"/>
              </a:rPr>
              <a:t>	</a:t>
            </a:r>
            <a:r>
              <a:rPr b="0" lang="en-US" sz="1200" spc="-1" strike="noStrike">
                <a:solidFill>
                  <a:srgbClr val="000000"/>
                </a:solidFill>
                <a:latin typeface="Arial"/>
                <a:ea typeface="DejaVu Sans"/>
              </a:rPr>
              <a:t>permite salvarea/incarcarea modelelor</a:t>
            </a:r>
            <a:endParaRPr b="0" lang="en-US" sz="1200" spc="-1" strike="noStrike">
              <a:solidFill>
                <a:srgbClr val="000000"/>
              </a:solidFill>
              <a:latin typeface="Arial"/>
            </a:endParaRPr>
          </a:p>
          <a:p>
            <a:pPr lvl="1" marL="864000" indent="-324000" defTabSz="914400">
              <a:lnSpc>
                <a:spcPct val="100000"/>
              </a:lnSpc>
              <a:buClr>
                <a:srgbClr val="000000"/>
              </a:buClr>
              <a:buSzPct val="75000"/>
              <a:buFont typeface="Symbol" charset="2"/>
              <a:buChar char=""/>
            </a:pPr>
            <a:r>
              <a:rPr b="0" lang="en-US" sz="1200" spc="-1" strike="noStrike">
                <a:solidFill>
                  <a:srgbClr val="000000"/>
                </a:solidFill>
                <a:latin typeface="Arial"/>
                <a:ea typeface="DejaVu Sans"/>
              </a:rPr>
              <a:t>my_classes 1.0.0</a:t>
            </a:r>
            <a:r>
              <a:rPr b="0" lang="en-US" sz="1200" spc="-1" strike="noStrike">
                <a:solidFill>
                  <a:srgbClr val="000000"/>
                </a:solidFill>
                <a:latin typeface="Arial"/>
                <a:ea typeface="DejaVu Sans"/>
              </a:rPr>
              <a:t>	</a:t>
            </a:r>
            <a:r>
              <a:rPr b="0" lang="en-US" sz="1200" spc="-1" strike="noStrike">
                <a:solidFill>
                  <a:srgbClr val="000000"/>
                </a:solidFill>
                <a:latin typeface="Arial"/>
                <a:ea typeface="DejaVu Sans"/>
              </a:rPr>
              <a:t>	</a:t>
            </a:r>
            <a:r>
              <a:rPr b="0" lang="en-US" sz="1200" spc="-1" strike="noStrike">
                <a:solidFill>
                  <a:srgbClr val="000000"/>
                </a:solidFill>
                <a:latin typeface="Arial"/>
                <a:ea typeface="DejaVu Sans"/>
              </a:rPr>
              <a:t>construieste un Dataframe din MySQL Table</a:t>
            </a:r>
            <a:endParaRPr b="0" lang="en-US" sz="1200" spc="-1" strike="noStrike">
              <a:solidFill>
                <a:srgbClr val="000000"/>
              </a:solidFill>
              <a:latin typeface="Arial"/>
            </a:endParaRPr>
          </a:p>
          <a:p>
            <a:pPr lvl="1" marL="864000" indent="-324000" defTabSz="914400">
              <a:lnSpc>
                <a:spcPct val="100000"/>
              </a:lnSpc>
              <a:buClr>
                <a:srgbClr val="000000"/>
              </a:buClr>
              <a:buSzPct val="75000"/>
              <a:buFont typeface="Symbol" charset="2"/>
              <a:buChar char=""/>
            </a:pPr>
            <a:r>
              <a:rPr b="0" lang="en-US" sz="1200" spc="-1" strike="noStrike">
                <a:solidFill>
                  <a:srgbClr val="000000"/>
                </a:solidFill>
                <a:latin typeface="Arial"/>
                <a:ea typeface="DejaVu Sans"/>
              </a:rPr>
              <a:t>Venv (din Python)</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dee6ef"/>
            </a:gs>
            <a:gs pos="100000">
              <a:srgbClr val="729fcf"/>
            </a:gs>
          </a:gsLst>
          <a:lin ang="3600000"/>
        </a:gra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504000" y="226080"/>
            <a:ext cx="9069480" cy="583920"/>
          </a:xfrm>
          <a:prstGeom prst="rect">
            <a:avLst/>
          </a:prstGeom>
          <a:noFill/>
          <a:ln w="0">
            <a:noFill/>
          </a:ln>
        </p:spPr>
        <p:txBody>
          <a:bodyPr lIns="0" rIns="0" tIns="0" bIns="0" anchor="ctr">
            <a:noAutofit/>
          </a:bodyPr>
          <a:p>
            <a:pPr marL="571680" indent="-228600" algn="ctr">
              <a:lnSpc>
                <a:spcPct val="100000"/>
              </a:lnSpc>
              <a:buNone/>
              <a:tabLst>
                <a:tab algn="l" pos="0"/>
              </a:tabLst>
            </a:pPr>
            <a:r>
              <a:rPr b="1" lang="en-US" sz="2100" spc="-1" strike="noStrike">
                <a:solidFill>
                  <a:srgbClr val="222222"/>
                </a:solidFill>
                <a:latin typeface="Times New Roman"/>
                <a:ea typeface="Noto Sans CJK SC"/>
              </a:rPr>
              <a:t>Dataset</a:t>
            </a:r>
            <a:endParaRPr b="0" lang="en-US" sz="2100" spc="-1" strike="noStrike">
              <a:solidFill>
                <a:srgbClr val="000000"/>
              </a:solidFill>
              <a:latin typeface="Arial"/>
            </a:endParaRPr>
          </a:p>
        </p:txBody>
      </p:sp>
      <p:sp>
        <p:nvSpPr>
          <p:cNvPr id="47" name="PlaceHolder 2"/>
          <p:cNvSpPr>
            <a:spLocks noGrp="1"/>
          </p:cNvSpPr>
          <p:nvPr>
            <p:ph/>
          </p:nvPr>
        </p:nvSpPr>
        <p:spPr>
          <a:xfrm>
            <a:off x="504000" y="902520"/>
            <a:ext cx="9070200" cy="4259160"/>
          </a:xfrm>
          <a:prstGeom prst="rect">
            <a:avLst/>
          </a:prstGeom>
          <a:noFill/>
          <a:ln w="0">
            <a:noFill/>
          </a:ln>
        </p:spPr>
        <p:txBody>
          <a:bodyPr lIns="0" rIns="0" tIns="0" bIns="0" anchor="t">
            <a:normAutofit fontScale="87222"/>
          </a:bodyPr>
          <a:p>
            <a:pPr marL="432000" indent="-324000" defTabSz="914400">
              <a:lnSpc>
                <a:spcPct val="100000"/>
              </a:lnSpc>
              <a:spcBef>
                <a:spcPts val="1417"/>
              </a:spcBef>
              <a:buClr>
                <a:srgbClr val="000000"/>
              </a:buClr>
              <a:buSzPct val="45000"/>
              <a:buFont typeface="Wingdings" charset="2"/>
              <a:buChar char=""/>
            </a:pPr>
            <a:r>
              <a:rPr b="0" lang="en-US" sz="1500" spc="-1" strike="noStrike">
                <a:solidFill>
                  <a:srgbClr val="000000"/>
                </a:solidFill>
                <a:latin typeface="Arial"/>
                <a:ea typeface="DejaVu Sans"/>
              </a:rPr>
              <a:t>Sursa datasetului este </a:t>
            </a:r>
            <a:r>
              <a:rPr b="0" lang="en-US" sz="1500" spc="-1" strike="noStrike" u="sng">
                <a:solidFill>
                  <a:srgbClr val="0000ee"/>
                </a:solidFill>
                <a:uFillTx/>
                <a:latin typeface="Arial"/>
                <a:ea typeface="DejaVu Sans"/>
                <a:hlinkClick r:id="rId1"/>
              </a:rPr>
              <a:t>https://footystats.org/</a:t>
            </a:r>
            <a:r>
              <a:rPr b="0" lang="en-US" sz="1500" spc="-1" strike="noStrike">
                <a:solidFill>
                  <a:srgbClr val="000000"/>
                </a:solidFill>
                <a:latin typeface="Arial"/>
                <a:ea typeface="DejaVu Sans"/>
              </a:rPr>
              <a:t> care ofera un serviciu (contra cost) pentru actualizarea meciurilor viitoare sau actualizarea statisticilor meciurilor disputate. </a:t>
            </a:r>
            <a:endParaRPr b="0" lang="en-US" sz="1500" spc="-1" strike="noStrike">
              <a:solidFill>
                <a:srgbClr val="000000"/>
              </a:solidFill>
              <a:latin typeface="Arial"/>
            </a:endParaRPr>
          </a:p>
          <a:p>
            <a:pPr marL="432000" indent="-324000" defTabSz="914400">
              <a:lnSpc>
                <a:spcPct val="100000"/>
              </a:lnSpc>
              <a:spcBef>
                <a:spcPts val="1417"/>
              </a:spcBef>
              <a:buClr>
                <a:srgbClr val="000000"/>
              </a:buClr>
              <a:buSzPct val="45000"/>
              <a:buFont typeface="Wingdings" charset="2"/>
              <a:buChar char=""/>
            </a:pPr>
            <a:r>
              <a:rPr b="0" lang="en-US" sz="1500" spc="-1" strike="noStrike">
                <a:solidFill>
                  <a:srgbClr val="000000"/>
                </a:solidFill>
                <a:latin typeface="Arial"/>
                <a:ea typeface="DejaVu Sans"/>
              </a:rPr>
              <a:t>Actualizarea se realizeaza cu ajutorul a doua scripturi php</a:t>
            </a:r>
            <a:endParaRPr b="0" lang="en-US" sz="1500" spc="-1" strike="noStrike">
              <a:solidFill>
                <a:srgbClr val="000000"/>
              </a:solidFill>
              <a:latin typeface="Arial"/>
            </a:endParaRPr>
          </a:p>
          <a:p>
            <a:pPr lvl="1" marL="864000" indent="-324000" defTabSz="914400">
              <a:lnSpc>
                <a:spcPct val="100000"/>
              </a:lnSpc>
              <a:spcBef>
                <a:spcPts val="1134"/>
              </a:spcBef>
              <a:buClr>
                <a:srgbClr val="000000"/>
              </a:buClr>
              <a:buSzPct val="75000"/>
              <a:buFont typeface="Symbol" charset="2"/>
              <a:buChar char=""/>
            </a:pPr>
            <a:r>
              <a:rPr b="0" lang="en-US" sz="1500" spc="-1" strike="noStrike">
                <a:solidFill>
                  <a:srgbClr val="000000"/>
                </a:solidFill>
                <a:latin typeface="Arial"/>
                <a:ea typeface="DejaVu Sans"/>
              </a:rPr>
              <a:t>Un script pentru actualizarea ligilor disponibile la sursa online (aproximativ 10300, iar numarul creste mereu) ; urmeaza o etapa in care se modifica (deocamdata manual) campul download corespunzator ligii pentru care se doreste ca meciurile sa fie adaugate in dataset</a:t>
            </a:r>
            <a:endParaRPr b="0" lang="en-US" sz="1500" spc="-1" strike="noStrike">
              <a:solidFill>
                <a:srgbClr val="000000"/>
              </a:solidFill>
              <a:latin typeface="Arial"/>
            </a:endParaRPr>
          </a:p>
          <a:p>
            <a:pPr lvl="1" marL="864000" indent="-324000" defTabSz="914400">
              <a:lnSpc>
                <a:spcPct val="100000"/>
              </a:lnSpc>
              <a:spcBef>
                <a:spcPts val="1134"/>
              </a:spcBef>
              <a:buClr>
                <a:srgbClr val="000000"/>
              </a:buClr>
              <a:buSzPct val="75000"/>
              <a:buFont typeface="Symbol" charset="2"/>
              <a:buChar char=""/>
            </a:pPr>
            <a:r>
              <a:rPr b="0" lang="en-US" sz="1500" spc="-1" strike="noStrike">
                <a:solidFill>
                  <a:srgbClr val="000000"/>
                </a:solidFill>
                <a:latin typeface="Arial"/>
                <a:ea typeface="DejaVu Sans"/>
              </a:rPr>
              <a:t>un script care extrage dintr-o lista de ligi (pe cele cu download=1), meciurile din liga si din sezonul corespunzator. Se extrage intreg setul de meciuri într-un fișier json care se prelucrează și se adaugă/actualizează intr-o bază de date mysql </a:t>
            </a:r>
            <a:endParaRPr b="0" lang="en-US" sz="1500" spc="-1" strike="noStrike">
              <a:solidFill>
                <a:srgbClr val="000000"/>
              </a:solidFill>
              <a:latin typeface="Arial"/>
            </a:endParaRPr>
          </a:p>
          <a:p>
            <a:pPr marL="432000" indent="-324000" defTabSz="914400">
              <a:lnSpc>
                <a:spcPct val="100000"/>
              </a:lnSpc>
              <a:spcBef>
                <a:spcPts val="1417"/>
              </a:spcBef>
              <a:buClr>
                <a:srgbClr val="000000"/>
              </a:buClr>
              <a:buSzPct val="45000"/>
              <a:buFont typeface="Wingdings" charset="2"/>
              <a:buChar char=""/>
            </a:pPr>
            <a:r>
              <a:rPr b="0" lang="en-US" sz="1500" spc="-1" strike="noStrike">
                <a:solidFill>
                  <a:srgbClr val="000000"/>
                </a:solidFill>
                <a:latin typeface="Arial"/>
                <a:ea typeface="DejaVu Sans"/>
              </a:rPr>
              <a:t>Baza de date (datasetul) contine 34 de ligi (superioare) din 30 de tari din intervalul 2013 – 2025 (prezent); la data de 02.12.2025 existau in baza de date 112391 inregistrari</a:t>
            </a:r>
            <a:endParaRPr b="0" lang="en-US" sz="1500" spc="-1" strike="noStrike">
              <a:solidFill>
                <a:srgbClr val="000000"/>
              </a:solidFill>
              <a:latin typeface="Arial"/>
            </a:endParaRPr>
          </a:p>
          <a:p>
            <a:pPr marL="432000" indent="-324000" defTabSz="914400">
              <a:lnSpc>
                <a:spcPct val="100000"/>
              </a:lnSpc>
              <a:spcBef>
                <a:spcPts val="1417"/>
              </a:spcBef>
              <a:buClr>
                <a:srgbClr val="000000"/>
              </a:buClr>
              <a:buSzPct val="45000"/>
              <a:buFont typeface="Wingdings" charset="2"/>
              <a:buChar char=""/>
            </a:pPr>
            <a:r>
              <a:rPr b="0" lang="en-US" sz="1500" spc="-1" strike="noStrike">
                <a:solidFill>
                  <a:srgbClr val="000000"/>
                </a:solidFill>
                <a:latin typeface="Arial"/>
                <a:ea typeface="DejaVu Sans"/>
              </a:rPr>
              <a:t>Pentru utilizarea facila in algoritmii ML s-a impementat clasa </a:t>
            </a:r>
            <a:r>
              <a:rPr b="1" i="1" lang="en-US" sz="1500" spc="-1" strike="noStrike">
                <a:solidFill>
                  <a:srgbClr val="f10d0c"/>
                </a:solidFill>
                <a:latin typeface="Arial"/>
                <a:ea typeface="DejaVu Sans"/>
              </a:rPr>
              <a:t>MyDataFrame</a:t>
            </a:r>
            <a:r>
              <a:rPr b="0" lang="en-US" sz="1500" spc="-1" strike="noStrike">
                <a:solidFill>
                  <a:srgbClr val="000000"/>
                </a:solidFill>
                <a:latin typeface="Arial"/>
                <a:ea typeface="DejaVu Sans"/>
              </a:rPr>
              <a:t> cu ajutorul careia se preiau parametri (in constructor) referitor la perioada (de antrenare a modelului)  si liga si se returneaza un dataframe cu inregistrarile corespunzatoare</a:t>
            </a:r>
            <a:endParaRPr b="0" lang="en-US" sz="1500" spc="-1" strike="noStrike">
              <a:solidFill>
                <a:srgbClr val="000000"/>
              </a:solidFill>
              <a:latin typeface="Arial"/>
            </a:endParaRPr>
          </a:p>
          <a:p>
            <a:pPr lvl="1" marL="864000" indent="-324000" defTabSz="914400">
              <a:lnSpc>
                <a:spcPct val="100000"/>
              </a:lnSpc>
              <a:spcBef>
                <a:spcPts val="1134"/>
              </a:spcBef>
              <a:buClr>
                <a:srgbClr val="000000"/>
              </a:buClr>
              <a:buSzPct val="75000"/>
              <a:buFont typeface="Symbol" charset="2"/>
              <a:buChar char=""/>
            </a:pPr>
            <a:r>
              <a:rPr b="0" lang="en-US" sz="1500" spc="-1" strike="noStrike">
                <a:solidFill>
                  <a:srgbClr val="000000"/>
                </a:solidFill>
                <a:latin typeface="Arial"/>
                <a:ea typeface="DejaVu Sans"/>
              </a:rPr>
              <a:t>Avantaje directe : modificarea intr-un singur loc a coloanelor feature pe baza carora algoritmii de ML prezic rezultatul; manipularea datelor facila (crearea de noi coloane feature pe baza unora initial existente intr-un)</a:t>
            </a:r>
            <a:endParaRPr b="0" lang="en-US" sz="1500" spc="-1" strike="noStrike">
              <a:solidFill>
                <a:srgbClr val="000000"/>
              </a:solidFill>
              <a:latin typeface="Arial"/>
            </a:endParaRPr>
          </a:p>
          <a:p>
            <a:pPr marL="432000" indent="0" defTabSz="914400">
              <a:lnSpc>
                <a:spcPct val="100000"/>
              </a:lnSpc>
              <a:spcBef>
                <a:spcPts val="1417"/>
              </a:spcBef>
              <a:buNone/>
              <a:tabLst>
                <a:tab algn="l" pos="0"/>
              </a:tabLst>
            </a:pP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dee6ef"/>
            </a:gs>
            <a:gs pos="100000">
              <a:srgbClr val="729fcf"/>
            </a:gs>
          </a:gsLst>
          <a:lin ang="3600000"/>
        </a:gra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504000" y="226080"/>
            <a:ext cx="9069480" cy="944280"/>
          </a:xfrm>
          <a:prstGeom prst="rect">
            <a:avLst/>
          </a:prstGeom>
          <a:noFill/>
          <a:ln w="0">
            <a:noFill/>
          </a:ln>
        </p:spPr>
        <p:txBody>
          <a:bodyPr lIns="0" rIns="0" tIns="0" bIns="0" anchor="ctr">
            <a:noAutofit/>
          </a:bodyPr>
          <a:p>
            <a:pPr marL="571680" indent="-228600" algn="ctr">
              <a:lnSpc>
                <a:spcPct val="100000"/>
              </a:lnSpc>
              <a:buNone/>
              <a:tabLst>
                <a:tab algn="l" pos="0"/>
              </a:tabLst>
            </a:pPr>
            <a:r>
              <a:rPr b="1" lang="en-US" sz="2100" spc="-1" strike="noStrike">
                <a:solidFill>
                  <a:srgbClr val="222222"/>
                </a:solidFill>
                <a:latin typeface="Times New Roman"/>
                <a:ea typeface="Noto Sans CJK SC"/>
              </a:rPr>
              <a:t>Dataset preprocessing </a:t>
            </a:r>
            <a:endParaRPr b="0" lang="en-US" sz="2100" spc="-1" strike="noStrike">
              <a:solidFill>
                <a:srgbClr val="000000"/>
              </a:solidFill>
              <a:latin typeface="Arial"/>
            </a:endParaRPr>
          </a:p>
        </p:txBody>
      </p:sp>
      <p:sp>
        <p:nvSpPr>
          <p:cNvPr id="49" name="PlaceHolder 2"/>
          <p:cNvSpPr>
            <a:spLocks noGrp="1"/>
          </p:cNvSpPr>
          <p:nvPr>
            <p:ph/>
          </p:nvPr>
        </p:nvSpPr>
        <p:spPr>
          <a:xfrm>
            <a:off x="397080" y="1273680"/>
            <a:ext cx="9435240" cy="4113360"/>
          </a:xfrm>
          <a:prstGeom prst="rect">
            <a:avLst/>
          </a:prstGeom>
          <a:noFill/>
          <a:ln w="0">
            <a:noFill/>
          </a:ln>
        </p:spPr>
        <p:txBody>
          <a:bodyPr lIns="0" rIns="0" tIns="0" bIns="0" anchor="t">
            <a:normAutofit/>
          </a:bodyPr>
          <a:p>
            <a:pPr marL="432000" indent="-324000" defTabSz="914400">
              <a:lnSpc>
                <a:spcPct val="100000"/>
              </a:lnSpc>
              <a:buClr>
                <a:srgbClr val="000000"/>
              </a:buClr>
              <a:buSzPct val="45000"/>
              <a:buFont typeface="Wingdings" charset="2"/>
              <a:buChar char=""/>
            </a:pPr>
            <a:r>
              <a:rPr b="0" lang="en-US" sz="1200" spc="-1" strike="noStrike">
                <a:solidFill>
                  <a:srgbClr val="000000"/>
                </a:solidFill>
                <a:latin typeface="Arial"/>
                <a:ea typeface="DejaVu Sans"/>
              </a:rPr>
              <a:t>Actiuni de feature engineering:</a:t>
            </a:r>
            <a:endParaRPr b="0" lang="en-US" sz="1200" spc="-1" strike="noStrike">
              <a:solidFill>
                <a:srgbClr val="000000"/>
              </a:solidFill>
              <a:latin typeface="Arial"/>
            </a:endParaRPr>
          </a:p>
          <a:p>
            <a:pPr marL="432000" indent="0" defTabSz="914400">
              <a:lnSpc>
                <a:spcPct val="100000"/>
              </a:lnSpc>
              <a:buNone/>
              <a:tabLst>
                <a:tab algn="l" pos="0"/>
              </a:tabLst>
            </a:pPr>
            <a:r>
              <a:rPr b="0" lang="en-US" sz="1200" spc="-1" strike="noStrike">
                <a:solidFill>
                  <a:srgbClr val="000000"/>
                </a:solidFill>
                <a:latin typeface="Arial"/>
                <a:ea typeface="DejaVu Sans"/>
              </a:rPr>
              <a:t>Asupra bazei de date direct :</a:t>
            </a:r>
            <a:endParaRPr b="0" lang="en-US" sz="1200" spc="-1" strike="noStrike">
              <a:solidFill>
                <a:srgbClr val="000000"/>
              </a:solidFill>
              <a:latin typeface="Arial"/>
            </a:endParaRPr>
          </a:p>
          <a:p>
            <a:pPr marL="432000" indent="-324000" defTabSz="914400">
              <a:lnSpc>
                <a:spcPct val="100000"/>
              </a:lnSpc>
              <a:buClr>
                <a:srgbClr val="000000"/>
              </a:buClr>
              <a:buSzPct val="45000"/>
              <a:buFont typeface="Wingdings" charset="2"/>
              <a:buChar char=""/>
              <a:tabLst>
                <a:tab algn="l" pos="0"/>
              </a:tabLst>
            </a:pPr>
            <a:r>
              <a:rPr b="0" lang="en-US" sz="1200" spc="-1" strike="noStrike">
                <a:solidFill>
                  <a:srgbClr val="000000"/>
                </a:solidFill>
                <a:latin typeface="Arial"/>
                <a:ea typeface="DejaVu Sans"/>
              </a:rPr>
              <a:t>Verificat valoarea cotelor (introduse eronat sau outlayere) &gt;50 ; sterse din Mysql (cam 200 inreg)</a:t>
            </a:r>
            <a:endParaRPr b="0" lang="en-US" sz="1200" spc="-1" strike="noStrike">
              <a:solidFill>
                <a:srgbClr val="000000"/>
              </a:solidFill>
              <a:latin typeface="Arial"/>
            </a:endParaRPr>
          </a:p>
          <a:p>
            <a:pPr marL="432000" indent="0" defTabSz="914400">
              <a:lnSpc>
                <a:spcPct val="100000"/>
              </a:lnSpc>
              <a:buNone/>
              <a:tabLst>
                <a:tab algn="l" pos="0"/>
              </a:tabLst>
            </a:pPr>
            <a:endParaRPr b="0" lang="en-US" sz="1200" spc="-1" strike="noStrike">
              <a:solidFill>
                <a:srgbClr val="000000"/>
              </a:solidFill>
              <a:latin typeface="Arial"/>
            </a:endParaRPr>
          </a:p>
          <a:p>
            <a:pPr marL="432000" indent="0" defTabSz="914400">
              <a:lnSpc>
                <a:spcPct val="100000"/>
              </a:lnSpc>
              <a:buNone/>
              <a:tabLst>
                <a:tab algn="l" pos="0"/>
              </a:tabLst>
            </a:pPr>
            <a:r>
              <a:rPr b="0" lang="en-US" sz="1200" spc="-1" strike="noStrike">
                <a:solidFill>
                  <a:srgbClr val="000000"/>
                </a:solidFill>
                <a:latin typeface="Arial"/>
                <a:ea typeface="DejaVu Sans"/>
              </a:rPr>
              <a:t>Prin feature engineering:</a:t>
            </a:r>
            <a:endParaRPr b="0" lang="en-US" sz="1200" spc="-1" strike="noStrike">
              <a:solidFill>
                <a:srgbClr val="000000"/>
              </a:solidFill>
              <a:latin typeface="Arial"/>
            </a:endParaRPr>
          </a:p>
          <a:p>
            <a:pPr marL="432000" indent="-324000" defTabSz="914400">
              <a:lnSpc>
                <a:spcPct val="100000"/>
              </a:lnSpc>
              <a:buClr>
                <a:srgbClr val="000000"/>
              </a:buClr>
              <a:buSzPct val="45000"/>
              <a:buFont typeface="Wingdings" charset="2"/>
              <a:buChar char=""/>
              <a:tabLst>
                <a:tab algn="l" pos="0"/>
              </a:tabLst>
            </a:pPr>
            <a:r>
              <a:rPr b="0" lang="en-US" sz="1200" spc="-1" strike="noStrike">
                <a:solidFill>
                  <a:srgbClr val="000000"/>
                </a:solidFill>
                <a:latin typeface="Arial"/>
                <a:ea typeface="DejaVu Sans"/>
              </a:rPr>
              <a:t>Modulul python “update_clasament.py” actualizeaza urmatoarele campuri direct in baza de date inaintea momentului desfasurarii jocului (fara a se tine cont de rezultatul final; rezultatul final va fi actualizat la urmatorul update, odata cu disponibilitatea lui pe footystats.org:</a:t>
            </a:r>
            <a:endParaRPr b="0" lang="en-US" sz="1200" spc="-1" strike="noStrike">
              <a:solidFill>
                <a:srgbClr val="000000"/>
              </a:solidFill>
              <a:latin typeface="Arial"/>
            </a:endParaRPr>
          </a:p>
          <a:p>
            <a:pPr marL="432000" indent="-324000" defTabSz="914400">
              <a:lnSpc>
                <a:spcPct val="100000"/>
              </a:lnSpc>
              <a:buClr>
                <a:srgbClr val="000000"/>
              </a:buClr>
              <a:buSzPct val="45000"/>
              <a:buFont typeface="Wingdings" charset="2"/>
              <a:buChar char=""/>
              <a:tabLst>
                <a:tab algn="l" pos="0"/>
              </a:tabLst>
            </a:pPr>
            <a:r>
              <a:rPr b="0" lang="en-US" sz="1200" spc="-1" strike="noStrike">
                <a:solidFill>
                  <a:srgbClr val="000000"/>
                </a:solidFill>
                <a:latin typeface="Arial"/>
                <a:ea typeface="DejaVu Sans"/>
              </a:rPr>
              <a:t>Numarul de puncte al echipei (pentru stabilirea locului in clasament), puncte realizate acasa/in deplasare</a:t>
            </a:r>
            <a:endParaRPr b="0" lang="en-US" sz="1200" spc="-1" strike="noStrike">
              <a:solidFill>
                <a:srgbClr val="000000"/>
              </a:solidFill>
              <a:latin typeface="Arial"/>
            </a:endParaRPr>
          </a:p>
          <a:p>
            <a:pPr marL="432000" indent="-324000" defTabSz="914400">
              <a:lnSpc>
                <a:spcPct val="100000"/>
              </a:lnSpc>
              <a:buClr>
                <a:srgbClr val="000000"/>
              </a:buClr>
              <a:buSzPct val="45000"/>
              <a:buFont typeface="Wingdings" charset="2"/>
              <a:buChar char=""/>
              <a:tabLst>
                <a:tab algn="l" pos="0"/>
              </a:tabLst>
            </a:pPr>
            <a:r>
              <a:rPr b="0" lang="en-US" sz="1200" spc="-1" strike="noStrike">
                <a:solidFill>
                  <a:srgbClr val="000000"/>
                </a:solidFill>
                <a:latin typeface="Arial"/>
                <a:ea typeface="DejaVu Sans"/>
              </a:rPr>
              <a:t>Locul in clasament in momentul desfasurarii meciului</a:t>
            </a:r>
            <a:endParaRPr b="0" lang="en-US" sz="1200" spc="-1" strike="noStrike">
              <a:solidFill>
                <a:srgbClr val="000000"/>
              </a:solidFill>
              <a:latin typeface="Arial"/>
            </a:endParaRPr>
          </a:p>
          <a:p>
            <a:pPr marL="432000" indent="-324000" defTabSz="914400">
              <a:lnSpc>
                <a:spcPct val="100000"/>
              </a:lnSpc>
              <a:buClr>
                <a:srgbClr val="000000"/>
              </a:buClr>
              <a:buSzPct val="45000"/>
              <a:buFont typeface="Wingdings" charset="2"/>
              <a:buChar char=""/>
              <a:tabLst>
                <a:tab algn="l" pos="0"/>
              </a:tabLst>
            </a:pPr>
            <a:r>
              <a:rPr b="0" lang="en-US" sz="1200" spc="-1" strike="noStrike">
                <a:solidFill>
                  <a:srgbClr val="000000"/>
                </a:solidFill>
                <a:latin typeface="Arial"/>
                <a:ea typeface="DejaVu Sans"/>
              </a:rPr>
              <a:t>Numarul de goluri inscrise acasa/in deplasare</a:t>
            </a:r>
            <a:endParaRPr b="0" lang="en-US" sz="1200" spc="-1" strike="noStrike">
              <a:solidFill>
                <a:srgbClr val="000000"/>
              </a:solidFill>
              <a:latin typeface="Arial"/>
            </a:endParaRPr>
          </a:p>
          <a:p>
            <a:pPr marL="432000" indent="-324000" defTabSz="914400">
              <a:lnSpc>
                <a:spcPct val="100000"/>
              </a:lnSpc>
              <a:buClr>
                <a:srgbClr val="000000"/>
              </a:buClr>
              <a:buSzPct val="45000"/>
              <a:buFont typeface="Wingdings" charset="2"/>
              <a:buChar char=""/>
              <a:tabLst>
                <a:tab algn="l" pos="0"/>
              </a:tabLst>
            </a:pPr>
            <a:r>
              <a:rPr b="0" lang="en-US" sz="1200" spc="-1" strike="noStrike">
                <a:solidFill>
                  <a:srgbClr val="000000"/>
                </a:solidFill>
                <a:latin typeface="Arial"/>
                <a:ea typeface="DejaVu Sans"/>
              </a:rPr>
              <a:t>Forma echipei in ultimele 5 meciuri (sau oricare alt numar de meciuri)</a:t>
            </a:r>
            <a:endParaRPr b="0" lang="en-US" sz="1200" spc="-1" strike="noStrike">
              <a:solidFill>
                <a:srgbClr val="000000"/>
              </a:solidFill>
              <a:latin typeface="Arial"/>
            </a:endParaRPr>
          </a:p>
          <a:p>
            <a:pPr marL="432000" indent="-324000" defTabSz="914400">
              <a:lnSpc>
                <a:spcPct val="100000"/>
              </a:lnSpc>
              <a:buClr>
                <a:srgbClr val="000000"/>
              </a:buClr>
              <a:buSzPct val="45000"/>
              <a:buFont typeface="Wingdings" charset="2"/>
              <a:buChar char=""/>
              <a:tabLst>
                <a:tab algn="l" pos="0"/>
              </a:tabLst>
            </a:pPr>
            <a:r>
              <a:rPr b="0" lang="en-US" sz="1200" spc="-1" strike="noStrike">
                <a:solidFill>
                  <a:srgbClr val="000000"/>
                </a:solidFill>
                <a:latin typeface="Arial"/>
                <a:ea typeface="DejaVu Sans"/>
              </a:rPr>
              <a:t>Alte statistici disponibile pe footystats.org care precum : atacuri, atacuri periculoase, faulturi, posesie, suturi, suturi pe poarta, cornere, offsideuri ; nu toate pot contribui la predictia rezultatului final al meciului, existand posibilitatea ridicarii complexitatii modelului, dar fiind utile si necesare in predictia altor evenimente dintr-un meci de fotbal (nr de cornere, offsideuri, posesie, etc)</a:t>
            </a:r>
            <a:endParaRPr b="0" lang="en-US" sz="1200" spc="-1" strike="noStrike">
              <a:solidFill>
                <a:srgbClr val="000000"/>
              </a:solidFill>
              <a:latin typeface="Arial"/>
            </a:endParaRPr>
          </a:p>
          <a:p>
            <a:pPr marL="432000" indent="-324000" defTabSz="914400">
              <a:lnSpc>
                <a:spcPct val="100000"/>
              </a:lnSpc>
              <a:spcBef>
                <a:spcPts val="1417"/>
              </a:spcBef>
              <a:buClr>
                <a:srgbClr val="000000"/>
              </a:buClr>
              <a:buSzPct val="45000"/>
              <a:buFont typeface="Wingdings" charset="2"/>
              <a:buChar char=""/>
              <a:tabLst>
                <a:tab algn="l" pos="0"/>
              </a:tabLst>
            </a:pPr>
            <a:r>
              <a:rPr b="0" lang="en-US" sz="2100" spc="-1" strike="noStrike">
                <a:solidFill>
                  <a:srgbClr val="f10d0c"/>
                </a:solidFill>
                <a:latin typeface="Arial"/>
                <a:ea typeface="DejaVu Sans"/>
              </a:rPr>
              <a:t>Un indicator bun este nr de goluri inscrise, primite in ultimele 3 meciuri</a:t>
            </a:r>
            <a:endParaRPr b="0" lang="en-US" sz="2100" spc="-1" strike="noStrike">
              <a:solidFill>
                <a:srgbClr val="000000"/>
              </a:solidFill>
              <a:latin typeface="Arial"/>
            </a:endParaRPr>
          </a:p>
          <a:p>
            <a:pPr marL="432000" indent="0" defTabSz="914400">
              <a:lnSpc>
                <a:spcPct val="100000"/>
              </a:lnSpc>
              <a:buNone/>
              <a:tabLst>
                <a:tab algn="l" pos="0"/>
              </a:tabLst>
            </a:pPr>
            <a:endParaRPr b="0" lang="en-US" sz="1200" spc="-1" strike="noStrike">
              <a:solidFill>
                <a:srgbClr val="000000"/>
              </a:solidFill>
              <a:latin typeface="Arial"/>
            </a:endParaRPr>
          </a:p>
          <a:p>
            <a:pPr marL="432000" indent="0" defTabSz="914400">
              <a:lnSpc>
                <a:spcPct val="100000"/>
              </a:lnSpc>
              <a:buNone/>
              <a:tabLst>
                <a:tab algn="l" pos="0"/>
              </a:tabLst>
            </a:pPr>
            <a:endParaRPr b="0" lang="en-US" sz="1200" spc="-1" strike="noStrike">
              <a:solidFill>
                <a:srgbClr val="000000"/>
              </a:solidFill>
              <a:latin typeface="Arial"/>
            </a:endParaRPr>
          </a:p>
          <a:p>
            <a:pPr marL="432000" indent="0" defTabSz="914400">
              <a:lnSpc>
                <a:spcPct val="100000"/>
              </a:lnSpc>
              <a:buNone/>
              <a:tabLst>
                <a:tab algn="l" pos="0"/>
              </a:tabLst>
            </a:pPr>
            <a:endParaRPr b="0" lang="en-US" sz="1200" spc="-1" strike="noStrike">
              <a:solidFill>
                <a:srgbClr val="000000"/>
              </a:solidFill>
              <a:latin typeface="Arial"/>
            </a:endParaRPr>
          </a:p>
          <a:p>
            <a:pPr marL="432000" indent="0" defTabSz="914400">
              <a:lnSpc>
                <a:spcPct val="100000"/>
              </a:lnSpc>
              <a:buNone/>
              <a:tabLst>
                <a:tab algn="l" pos="0"/>
              </a:tabLst>
            </a:pP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dee6ef"/>
            </a:gs>
            <a:gs pos="100000">
              <a:srgbClr val="729fcf"/>
            </a:gs>
          </a:gsLst>
          <a:lin ang="3600000"/>
        </a:gra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504000" y="226080"/>
            <a:ext cx="9069480" cy="944280"/>
          </a:xfrm>
          <a:prstGeom prst="rect">
            <a:avLst/>
          </a:prstGeom>
          <a:noFill/>
          <a:ln w="0">
            <a:noFill/>
          </a:ln>
        </p:spPr>
        <p:txBody>
          <a:bodyPr lIns="0" rIns="0" tIns="0" bIns="0" anchor="ctr">
            <a:noAutofit/>
          </a:bodyPr>
          <a:p>
            <a:pPr indent="0" algn="ctr">
              <a:lnSpc>
                <a:spcPct val="100000"/>
              </a:lnSpc>
              <a:buNone/>
              <a:tabLst>
                <a:tab algn="l" pos="0"/>
              </a:tabLst>
            </a:pPr>
            <a:r>
              <a:rPr b="1" lang="en-US" sz="2100" spc="-1" strike="noStrike">
                <a:solidFill>
                  <a:srgbClr val="000000"/>
                </a:solidFill>
                <a:latin typeface="Arial"/>
              </a:rPr>
              <a:t>Modulul update_clasament.py</a:t>
            </a:r>
            <a:endParaRPr b="0" lang="en-US" sz="2100" spc="-1" strike="noStrike">
              <a:solidFill>
                <a:srgbClr val="000000"/>
              </a:solidFill>
              <a:latin typeface="Arial"/>
            </a:endParaRPr>
          </a:p>
        </p:txBody>
      </p:sp>
      <p:sp>
        <p:nvSpPr>
          <p:cNvPr id="51" name="PlaceHolder 2"/>
          <p:cNvSpPr>
            <a:spLocks noGrp="1"/>
          </p:cNvSpPr>
          <p:nvPr>
            <p:ph/>
          </p:nvPr>
        </p:nvSpPr>
        <p:spPr>
          <a:xfrm>
            <a:off x="345240" y="1126080"/>
            <a:ext cx="9070200" cy="4181040"/>
          </a:xfrm>
          <a:prstGeom prst="rect">
            <a:avLst/>
          </a:prstGeom>
          <a:noFill/>
          <a:ln w="0">
            <a:noFill/>
          </a:ln>
        </p:spPr>
        <p:txBody>
          <a:bodyPr lIns="0" rIns="0" tIns="0" bIns="0" anchor="t">
            <a:normAutofit fontScale="75000"/>
          </a:bodyPr>
          <a:p>
            <a:pPr marL="432000" indent="-324000" defTabSz="914400">
              <a:lnSpc>
                <a:spcPct val="100000"/>
              </a:lnSpc>
              <a:spcBef>
                <a:spcPts val="1417"/>
              </a:spcBef>
              <a:buClr>
                <a:srgbClr val="000000"/>
              </a:buClr>
              <a:buSzPct val="45000"/>
              <a:buFont typeface="Wingdings" charset="2"/>
              <a:buChar char=""/>
            </a:pPr>
            <a:r>
              <a:rPr b="0" lang="en-US" sz="1500" spc="-1" strike="noStrike">
                <a:solidFill>
                  <a:srgbClr val="000000"/>
                </a:solidFill>
                <a:latin typeface="Ubuntu"/>
                <a:ea typeface="DejaVu Sans"/>
              </a:rPr>
              <a:t>Actualizarea campurilor “htranking” si “atranking” (locurile in clasament ale echipelor gazda si oaspete, inainte de disputarea meciului</a:t>
            </a:r>
            <a:endParaRPr b="0" lang="en-US" sz="1500" spc="-1" strike="noStrike">
              <a:solidFill>
                <a:srgbClr val="000000"/>
              </a:solidFill>
              <a:latin typeface="Arial"/>
            </a:endParaRPr>
          </a:p>
          <a:p>
            <a:pPr marL="432000" indent="0" defTabSz="914400">
              <a:lnSpc>
                <a:spcPct val="100000"/>
              </a:lnSpc>
              <a:spcBef>
                <a:spcPts val="1417"/>
              </a:spcBef>
              <a:buNone/>
              <a:tabLst>
                <a:tab algn="l" pos="0"/>
              </a:tabLst>
            </a:pPr>
            <a:r>
              <a:rPr b="0" lang="en-US" sz="1500" spc="-1" strike="noStrike">
                <a:solidFill>
                  <a:srgbClr val="000000"/>
                </a:solidFill>
                <a:latin typeface="Ubuntu"/>
                <a:ea typeface="DejaVu Sans"/>
              </a:rPr>
              <a:t>structuri de date folosite :</a:t>
            </a:r>
            <a:endParaRPr b="0" lang="en-US" sz="1500" spc="-1" strike="noStrike">
              <a:solidFill>
                <a:srgbClr val="000000"/>
              </a:solidFill>
              <a:latin typeface="Arial"/>
            </a:endParaRPr>
          </a:p>
          <a:p>
            <a:pPr lvl="1" marL="864000" indent="-324000" defTabSz="914400">
              <a:lnSpc>
                <a:spcPct val="100000"/>
              </a:lnSpc>
              <a:spcBef>
                <a:spcPts val="624"/>
              </a:spcBef>
              <a:spcAft>
                <a:spcPts val="425"/>
              </a:spcAft>
              <a:buClr>
                <a:srgbClr val="000000"/>
              </a:buClr>
              <a:buSzPct val="75000"/>
              <a:buFont typeface="Symbol" charset="2"/>
              <a:buChar char=""/>
              <a:tabLst>
                <a:tab algn="l" pos="0"/>
              </a:tabLst>
            </a:pPr>
            <a:r>
              <a:rPr b="0" lang="en-US" sz="1500" spc="-1" strike="noStrike">
                <a:solidFill>
                  <a:srgbClr val="000000"/>
                </a:solidFill>
                <a:latin typeface="Ubuntu"/>
                <a:ea typeface="DejaVu Sans"/>
              </a:rPr>
              <a:t>Clasament = {}</a:t>
            </a:r>
            <a:r>
              <a:rPr b="0" lang="en-US" sz="1500" spc="-1" strike="noStrike">
                <a:solidFill>
                  <a:srgbClr val="000000"/>
                </a:solidFill>
                <a:latin typeface="Ubuntu"/>
                <a:ea typeface="DejaVu Sans"/>
              </a:rPr>
              <a:t>	</a:t>
            </a:r>
            <a:endParaRPr b="0" lang="en-US" sz="1500" spc="-1" strike="noStrike">
              <a:solidFill>
                <a:srgbClr val="000000"/>
              </a:solidFill>
              <a:latin typeface="Arial"/>
            </a:endParaRPr>
          </a:p>
          <a:p>
            <a:pPr lvl="1" marL="864000" indent="-324000" defTabSz="914400">
              <a:lnSpc>
                <a:spcPct val="100000"/>
              </a:lnSpc>
              <a:spcBef>
                <a:spcPts val="624"/>
              </a:spcBef>
              <a:spcAft>
                <a:spcPts val="425"/>
              </a:spcAft>
              <a:buClr>
                <a:srgbClr val="000000"/>
              </a:buClr>
              <a:buSzPct val="75000"/>
              <a:buFont typeface="Symbol" charset="2"/>
              <a:buChar char=""/>
              <a:tabLst>
                <a:tab algn="l" pos="0"/>
              </a:tabLst>
            </a:pPr>
            <a:r>
              <a:rPr b="0" lang="en-US" sz="1500" spc="-1" strike="noStrike">
                <a:solidFill>
                  <a:srgbClr val="000000"/>
                </a:solidFill>
                <a:latin typeface="Ubuntu"/>
                <a:ea typeface="DejaVu Sans"/>
              </a:rPr>
              <a:t>d1 = { "gm1":0, "gm2":0, "gp1":0, "gp2":0, "coef1":[], "coef2":[], "played1":0, "played2":0, "ranking":0, "points":0, "shotsontarget_a":0, "shotsofftarget_a":0, "fouls_a":0, "possession_a":0, "dangerousattacks_a":0, "attacks_a":0, "corners_a":0, "offsides_a":0 }</a:t>
            </a:r>
            <a:endParaRPr b="0" lang="en-US" sz="1500" spc="-1" strike="noStrike">
              <a:solidFill>
                <a:srgbClr val="000000"/>
              </a:solidFill>
              <a:latin typeface="Arial"/>
            </a:endParaRPr>
          </a:p>
          <a:p>
            <a:pPr marL="432000" indent="-324000" defTabSz="914400">
              <a:lnSpc>
                <a:spcPct val="100000"/>
              </a:lnSpc>
              <a:spcBef>
                <a:spcPts val="850"/>
              </a:spcBef>
              <a:buClr>
                <a:srgbClr val="000000"/>
              </a:buClr>
              <a:buSzPct val="45000"/>
              <a:buFont typeface="Wingdings" charset="2"/>
              <a:buChar char=""/>
              <a:tabLst>
                <a:tab algn="l" pos="0"/>
              </a:tabLst>
            </a:pPr>
            <a:r>
              <a:rPr b="0" lang="en-US" sz="1500" spc="-1" strike="noStrike">
                <a:solidFill>
                  <a:srgbClr val="000000"/>
                </a:solidFill>
                <a:latin typeface="Ubuntu"/>
                <a:ea typeface="DejaVu Sans"/>
              </a:rPr>
              <a:t>Selectarea inregistrarilor din baza de date dintr-o anumita liga si un anumit sezon, ordonate dupa data disputarii jocului</a:t>
            </a:r>
            <a:endParaRPr b="0" lang="en-US" sz="1500" spc="-1" strike="noStrike">
              <a:solidFill>
                <a:srgbClr val="000000"/>
              </a:solidFill>
              <a:latin typeface="Arial"/>
            </a:endParaRPr>
          </a:p>
          <a:p>
            <a:pPr marL="432000" indent="-324000" defTabSz="914400">
              <a:lnSpc>
                <a:spcPct val="100000"/>
              </a:lnSpc>
              <a:spcBef>
                <a:spcPts val="624"/>
              </a:spcBef>
              <a:spcAft>
                <a:spcPts val="425"/>
              </a:spcAft>
              <a:buClr>
                <a:srgbClr val="000000"/>
              </a:buClr>
              <a:buSzPct val="45000"/>
              <a:buFont typeface="Wingdings" charset="2"/>
              <a:buChar char=""/>
              <a:tabLst>
                <a:tab algn="l" pos="0"/>
              </a:tabLst>
            </a:pPr>
            <a:r>
              <a:rPr b="0" lang="en-US" sz="1500" spc="-1" strike="noStrike">
                <a:solidFill>
                  <a:srgbClr val="000000"/>
                </a:solidFill>
                <a:latin typeface="Ubuntu"/>
                <a:ea typeface="DejaVu Sans"/>
              </a:rPr>
              <a:t>Parcurgerea in ordine cronologica si actualizarea dictionarului d1 corespunzator unei echipe (exemplu de accesare: clasament[‘TeamA’][‘played1’] ; accesarea prin numele cheii facilitata de tipul de cursor asociat cu baza de date care transforma numele campurilor in chei mycursor = mydb.cursor(dictionary=True) )</a:t>
            </a:r>
            <a:endParaRPr b="0" lang="en-US" sz="1500" spc="-1" strike="noStrike">
              <a:solidFill>
                <a:srgbClr val="000000"/>
              </a:solidFill>
              <a:latin typeface="Arial"/>
            </a:endParaRPr>
          </a:p>
          <a:p>
            <a:pPr marL="432000" indent="-324000" defTabSz="914400">
              <a:lnSpc>
                <a:spcPct val="100000"/>
              </a:lnSpc>
              <a:spcBef>
                <a:spcPts val="850"/>
              </a:spcBef>
              <a:buClr>
                <a:srgbClr val="000000"/>
              </a:buClr>
              <a:buSzPct val="45000"/>
              <a:buFont typeface="Wingdings" charset="2"/>
              <a:buChar char=""/>
              <a:tabLst>
                <a:tab algn="l" pos="0"/>
              </a:tabLst>
            </a:pPr>
            <a:r>
              <a:rPr b="0" lang="en-US" sz="1500" spc="-1" strike="noStrike">
                <a:solidFill>
                  <a:srgbClr val="000000"/>
                </a:solidFill>
                <a:latin typeface="Ubuntu"/>
                <a:ea typeface="DejaVu Sans"/>
              </a:rPr>
              <a:t>Ordonarea dictionarului Clasament dupa cheia dictionarului d1 [‘points’] (eventual si dupa goluri marcate)</a:t>
            </a:r>
            <a:endParaRPr b="0" lang="en-US" sz="1500" spc="-1" strike="noStrike">
              <a:solidFill>
                <a:srgbClr val="000000"/>
              </a:solidFill>
              <a:latin typeface="Arial"/>
            </a:endParaRPr>
          </a:p>
          <a:p>
            <a:pPr marL="432000" indent="-324000" defTabSz="914400">
              <a:lnSpc>
                <a:spcPct val="100000"/>
              </a:lnSpc>
              <a:spcBef>
                <a:spcPts val="850"/>
              </a:spcBef>
              <a:buClr>
                <a:srgbClr val="000000"/>
              </a:buClr>
              <a:buSzPct val="45000"/>
              <a:buFont typeface="Wingdings" charset="2"/>
              <a:buChar char=""/>
              <a:tabLst>
                <a:tab algn="l" pos="0"/>
              </a:tabLst>
            </a:pPr>
            <a:r>
              <a:rPr b="0" lang="en-US" sz="1400" spc="-1" strike="noStrike">
                <a:solidFill>
                  <a:srgbClr val="000000"/>
                </a:solidFill>
                <a:latin typeface="DejaVu Sans"/>
                <a:ea typeface="DejaVu Sans"/>
              </a:rPr>
              <a:t>Actualizarea in baza de date a caracteristicilor nou calculate (ranking, gm1,gm2...etc) </a:t>
            </a:r>
            <a:endParaRPr b="0" lang="en-US" sz="1400" spc="-1" strike="noStrike">
              <a:solidFill>
                <a:srgbClr val="000000"/>
              </a:solidFill>
              <a:latin typeface="Arial"/>
            </a:endParaRPr>
          </a:p>
          <a:p>
            <a:pPr marL="432000" indent="-324000" defTabSz="914400">
              <a:lnSpc>
                <a:spcPct val="100000"/>
              </a:lnSpc>
              <a:spcBef>
                <a:spcPts val="850"/>
              </a:spcBef>
              <a:buClr>
                <a:srgbClr val="000000"/>
              </a:buClr>
              <a:buSzPct val="45000"/>
              <a:buFont typeface="Wingdings" charset="2"/>
              <a:buChar char=""/>
              <a:tabLst>
                <a:tab algn="l" pos="0"/>
              </a:tabLst>
            </a:pPr>
            <a:r>
              <a:rPr b="0" lang="en-US" sz="1400" spc="-1" strike="noStrike">
                <a:solidFill>
                  <a:srgbClr val="000000"/>
                </a:solidFill>
                <a:latin typeface="DejaVu Sans"/>
                <a:ea typeface="DejaVu Sans"/>
              </a:rPr>
              <a:t>Rularea modulului </a:t>
            </a:r>
            <a:r>
              <a:rPr b="1" lang="en-US" sz="1400" spc="-1" strike="noStrike">
                <a:solidFill>
                  <a:srgbClr val="000000"/>
                </a:solidFill>
                <a:latin typeface="DejaVu Sans"/>
                <a:ea typeface="DejaVu Sans"/>
              </a:rPr>
              <a:t>update_clasament </a:t>
            </a:r>
            <a:r>
              <a:rPr b="0" lang="en-US" sz="1400" spc="-1" strike="noStrike">
                <a:solidFill>
                  <a:srgbClr val="000000"/>
                </a:solidFill>
                <a:latin typeface="DejaVu Sans"/>
                <a:ea typeface="DejaVu Sans"/>
              </a:rPr>
              <a:t>si </a:t>
            </a:r>
            <a:r>
              <a:rPr b="1" lang="en-US" sz="1400" spc="-1" strike="noStrike">
                <a:solidFill>
                  <a:srgbClr val="000000"/>
                </a:solidFill>
                <a:latin typeface="DejaVu Sans"/>
                <a:ea typeface="DejaVu Sans"/>
              </a:rPr>
              <a:t>update_pi_rating </a:t>
            </a:r>
            <a:r>
              <a:rPr b="0" lang="en-US" sz="1400" spc="-1" strike="noStrike">
                <a:solidFill>
                  <a:srgbClr val="000000"/>
                </a:solidFill>
                <a:latin typeface="DejaVu Sans"/>
                <a:ea typeface="DejaVu Sans"/>
              </a:rPr>
              <a:t> trebuie efectuata de fiecare data dupa o actualizare a meciurilor care urmeaza sa se desfasoare</a:t>
            </a:r>
            <a:endParaRPr b="0" lang="en-US" sz="1400" spc="-1" strike="noStrike">
              <a:solidFill>
                <a:srgbClr val="000000"/>
              </a:solidFill>
              <a:latin typeface="Arial"/>
            </a:endParaRPr>
          </a:p>
          <a:p>
            <a:pPr marL="432000" indent="0" defTabSz="914400">
              <a:lnSpc>
                <a:spcPct val="100000"/>
              </a:lnSpc>
              <a:spcBef>
                <a:spcPts val="1417"/>
              </a:spcBef>
              <a:buNone/>
              <a:tabLst>
                <a:tab algn="l" pos="0"/>
              </a:tabLst>
            </a:pPr>
            <a:endParaRPr b="0" lang="en-US" sz="1200" spc="-1" strike="noStrike">
              <a:solidFill>
                <a:srgbClr val="000000"/>
              </a:solidFill>
              <a:latin typeface="Arial"/>
            </a:endParaRPr>
          </a:p>
          <a:p>
            <a:pPr marL="432000" indent="0" defTabSz="914400">
              <a:lnSpc>
                <a:spcPct val="100000"/>
              </a:lnSpc>
              <a:spcBef>
                <a:spcPts val="1417"/>
              </a:spcBef>
              <a:buNone/>
              <a:tabLst>
                <a:tab algn="l" pos="0"/>
              </a:tabLst>
            </a:pPr>
            <a:r>
              <a:rPr b="0" lang="en-US" sz="1200" spc="-1" strike="noStrike">
                <a:solidFill>
                  <a:srgbClr val="000000"/>
                </a:solidFill>
                <a:latin typeface="Arial"/>
                <a:ea typeface="DejaVu Sans"/>
              </a:rPr>
              <a:t> </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dee6ef"/>
            </a:gs>
            <a:gs pos="100000">
              <a:srgbClr val="729fcf"/>
            </a:gs>
          </a:gsLst>
          <a:lin ang="3600000"/>
        </a:gradFill>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504000" y="226080"/>
            <a:ext cx="9069480" cy="645480"/>
          </a:xfrm>
          <a:prstGeom prst="rect">
            <a:avLst/>
          </a:prstGeom>
          <a:noFill/>
          <a:ln w="0">
            <a:noFill/>
          </a:ln>
        </p:spPr>
        <p:txBody>
          <a:bodyPr lIns="0" rIns="0" tIns="0" bIns="0" anchor="ctr">
            <a:noAutofit/>
          </a:bodyPr>
          <a:p>
            <a:pPr indent="0" algn="ctr">
              <a:lnSpc>
                <a:spcPct val="100000"/>
              </a:lnSpc>
              <a:spcBef>
                <a:spcPts val="1191"/>
              </a:spcBef>
              <a:spcAft>
                <a:spcPts val="992"/>
              </a:spcAft>
              <a:buNone/>
              <a:tabLst>
                <a:tab algn="l" pos="0"/>
              </a:tabLst>
            </a:pPr>
            <a:r>
              <a:rPr b="1" lang="en-US" sz="2100" spc="-1" strike="noStrike">
                <a:solidFill>
                  <a:srgbClr val="000000"/>
                </a:solidFill>
                <a:latin typeface="Arial"/>
              </a:rPr>
              <a:t>Sistemul Pi RATING</a:t>
            </a:r>
            <a:br>
              <a:rPr sz="2100"/>
            </a:br>
            <a:r>
              <a:rPr b="1" lang="en-US" sz="1200" spc="-1" strike="noStrike">
                <a:solidFill>
                  <a:srgbClr val="000000"/>
                </a:solidFill>
                <a:latin typeface="Arial"/>
              </a:rPr>
              <a:t>(creat in anul 2012 de ANTHONY C. CONSTANTINOU , NORMAN E. FENTON)</a:t>
            </a:r>
            <a:endParaRPr b="0" lang="en-US" sz="1200" spc="-1" strike="noStrike">
              <a:solidFill>
                <a:srgbClr val="000000"/>
              </a:solidFill>
              <a:latin typeface="Arial"/>
            </a:endParaRPr>
          </a:p>
        </p:txBody>
      </p:sp>
      <p:sp>
        <p:nvSpPr>
          <p:cNvPr id="53" name="PlaceHolder 2"/>
          <p:cNvSpPr>
            <a:spLocks noGrp="1"/>
          </p:cNvSpPr>
          <p:nvPr>
            <p:ph/>
          </p:nvPr>
        </p:nvSpPr>
        <p:spPr>
          <a:xfrm>
            <a:off x="504000" y="917280"/>
            <a:ext cx="9070200" cy="4575600"/>
          </a:xfrm>
          <a:prstGeom prst="rect">
            <a:avLst/>
          </a:prstGeom>
          <a:noFill/>
          <a:ln w="0">
            <a:noFill/>
          </a:ln>
        </p:spPr>
        <p:txBody>
          <a:bodyPr lIns="0" rIns="0" tIns="0" bIns="0" anchor="t">
            <a:normAutofit fontScale="96666" lnSpcReduction="10000"/>
          </a:bodyPr>
          <a:p>
            <a:pPr marL="432000" indent="0" defTabSz="914400">
              <a:lnSpc>
                <a:spcPct val="100000"/>
              </a:lnSpc>
              <a:spcBef>
                <a:spcPts val="1191"/>
              </a:spcBef>
              <a:spcAft>
                <a:spcPts val="992"/>
              </a:spcAft>
              <a:buNone/>
              <a:tabLst>
                <a:tab algn="l" pos="0"/>
              </a:tabLst>
            </a:pPr>
            <a:r>
              <a:rPr b="0" lang="en-US" sz="1400" spc="-1" strike="noStrike">
                <a:solidFill>
                  <a:srgbClr val="000000"/>
                </a:solidFill>
                <a:latin typeface="Arial"/>
                <a:ea typeface="DejaVu Sans"/>
              </a:rPr>
              <a:t>Pi-Rating un sistem folosit în analiza sportivă pentru a estima forța reală și forma actuală a unei echipe, pe baza golurilor marcate și primite. Este un indicator folosit în modele statistice și în bettingul profesionist.</a:t>
            </a:r>
            <a:endParaRPr b="0" lang="en-US" sz="1400" spc="-1" strike="noStrike">
              <a:solidFill>
                <a:srgbClr val="000000"/>
              </a:solidFill>
              <a:latin typeface="Arial"/>
            </a:endParaRPr>
          </a:p>
          <a:p>
            <a:pPr marL="432000" indent="0" defTabSz="914400">
              <a:lnSpc>
                <a:spcPct val="100000"/>
              </a:lnSpc>
              <a:spcBef>
                <a:spcPts val="57"/>
              </a:spcBef>
              <a:buNone/>
              <a:tabLst>
                <a:tab algn="l" pos="0"/>
              </a:tabLst>
            </a:pPr>
            <a:r>
              <a:rPr b="0" lang="en-US" sz="1400" spc="-1" strike="noStrike">
                <a:solidFill>
                  <a:srgbClr val="000000"/>
                </a:solidFill>
                <a:latin typeface="Arial"/>
                <a:ea typeface="Noto Sans CJK SC"/>
              </a:rPr>
              <a:t>Este un rating dinamic, o metodă de a transforma golurile marcate/primite într-un rating numeric de formă si care:</a:t>
            </a:r>
            <a:endParaRPr b="0" lang="en-US" sz="1400" spc="-1" strike="noStrike">
              <a:solidFill>
                <a:srgbClr val="000000"/>
              </a:solidFill>
              <a:latin typeface="Arial"/>
            </a:endParaRPr>
          </a:p>
          <a:p>
            <a:pPr marL="432000" indent="-324000" defTabSz="914400">
              <a:lnSpc>
                <a:spcPct val="100000"/>
              </a:lnSpc>
              <a:spcBef>
                <a:spcPts val="57"/>
              </a:spcBef>
              <a:buClr>
                <a:srgbClr val="000000"/>
              </a:buClr>
              <a:buSzPct val="45000"/>
              <a:buFont typeface="Wingdings" charset="2"/>
              <a:buChar char=""/>
              <a:tabLst>
                <a:tab algn="l" pos="0"/>
              </a:tabLst>
            </a:pPr>
            <a:r>
              <a:rPr b="0" lang="en-US" sz="1400" spc="-1" strike="noStrike">
                <a:solidFill>
                  <a:srgbClr val="000000"/>
                </a:solidFill>
                <a:latin typeface="Arial"/>
                <a:ea typeface="Noto Sans CJK SC"/>
              </a:rPr>
              <a:t>se actualizează după fiecare meci</a:t>
            </a:r>
            <a:endParaRPr b="0" lang="en-US" sz="1400" spc="-1" strike="noStrike">
              <a:solidFill>
                <a:srgbClr val="000000"/>
              </a:solidFill>
              <a:latin typeface="Arial"/>
            </a:endParaRPr>
          </a:p>
          <a:p>
            <a:pPr marL="432000" indent="-324000" defTabSz="914400">
              <a:lnSpc>
                <a:spcPct val="100000"/>
              </a:lnSpc>
              <a:spcBef>
                <a:spcPts val="57"/>
              </a:spcBef>
              <a:buClr>
                <a:srgbClr val="000000"/>
              </a:buClr>
              <a:buSzPct val="45000"/>
              <a:buFont typeface="Wingdings" charset="2"/>
              <a:buChar char=""/>
              <a:tabLst>
                <a:tab algn="l" pos="0"/>
              </a:tabLst>
            </a:pPr>
            <a:r>
              <a:rPr b="0" lang="en-US" sz="1400" spc="-1" strike="noStrike">
                <a:solidFill>
                  <a:srgbClr val="000000"/>
                </a:solidFill>
                <a:latin typeface="Arial"/>
                <a:ea typeface="Noto Sans CJK SC"/>
              </a:rPr>
              <a:t>crește dacă echipa joacă mai bine decât se aștepta</a:t>
            </a:r>
            <a:endParaRPr b="0" lang="en-US" sz="1400" spc="-1" strike="noStrike">
              <a:solidFill>
                <a:srgbClr val="000000"/>
              </a:solidFill>
              <a:latin typeface="Arial"/>
            </a:endParaRPr>
          </a:p>
          <a:p>
            <a:pPr marL="432000" indent="-324000" defTabSz="914400">
              <a:lnSpc>
                <a:spcPct val="100000"/>
              </a:lnSpc>
              <a:spcBef>
                <a:spcPts val="57"/>
              </a:spcBef>
              <a:buClr>
                <a:srgbClr val="000000"/>
              </a:buClr>
              <a:buSzPct val="45000"/>
              <a:buFont typeface="Wingdings" charset="2"/>
              <a:buChar char=""/>
              <a:tabLst>
                <a:tab algn="l" pos="0"/>
              </a:tabLst>
            </a:pPr>
            <a:r>
              <a:rPr b="0" lang="en-US" sz="1400" spc="-1" strike="noStrike">
                <a:solidFill>
                  <a:srgbClr val="000000"/>
                </a:solidFill>
                <a:latin typeface="Arial"/>
                <a:ea typeface="Noto Sans CJK SC"/>
              </a:rPr>
              <a:t>scade dacă joacă mai slab decât se aștepta</a:t>
            </a:r>
            <a:endParaRPr b="0" lang="en-US" sz="1400" spc="-1" strike="noStrike">
              <a:solidFill>
                <a:srgbClr val="000000"/>
              </a:solidFill>
              <a:latin typeface="Arial"/>
            </a:endParaRPr>
          </a:p>
          <a:p>
            <a:pPr marL="432000" indent="-324000" defTabSz="914400">
              <a:lnSpc>
                <a:spcPct val="100000"/>
              </a:lnSpc>
              <a:spcBef>
                <a:spcPts val="57"/>
              </a:spcBef>
              <a:buClr>
                <a:srgbClr val="000000"/>
              </a:buClr>
              <a:buSzPct val="45000"/>
              <a:buFont typeface="Wingdings" charset="2"/>
              <a:buChar char=""/>
              <a:tabLst>
                <a:tab algn="l" pos="0"/>
              </a:tabLst>
            </a:pPr>
            <a:r>
              <a:rPr b="0" lang="en-US" sz="1400" spc="-1" strike="noStrike">
                <a:solidFill>
                  <a:srgbClr val="000000"/>
                </a:solidFill>
                <a:latin typeface="Arial"/>
                <a:ea typeface="Noto Sans CJK SC"/>
              </a:rPr>
              <a:t>ia în calcul forța adversarului</a:t>
            </a:r>
            <a:endParaRPr b="0" lang="en-US" sz="1400" spc="-1" strike="noStrike">
              <a:solidFill>
                <a:srgbClr val="000000"/>
              </a:solidFill>
              <a:latin typeface="Arial"/>
            </a:endParaRPr>
          </a:p>
          <a:p>
            <a:pPr marL="432000" indent="-324000" algn="just" defTabSz="914400">
              <a:lnSpc>
                <a:spcPct val="100000"/>
              </a:lnSpc>
              <a:buClr>
                <a:srgbClr val="000000"/>
              </a:buClr>
              <a:buSzPct val="45000"/>
              <a:buFont typeface="Wingdings" charset="2"/>
              <a:buChar char=""/>
              <a:tabLst>
                <a:tab algn="l" pos="0"/>
              </a:tabLst>
            </a:pPr>
            <a:r>
              <a:rPr b="0" lang="en-US" sz="1400" spc="-1" strike="noStrike">
                <a:solidFill>
                  <a:srgbClr val="000000"/>
                </a:solidFill>
                <a:latin typeface="Arial"/>
                <a:ea typeface="Noto Sans CJK SC"/>
              </a:rPr>
              <a:t>folosește scorul, nu doar rezultatul (1X2)</a:t>
            </a:r>
            <a:endParaRPr b="0" lang="en-US" sz="1400" spc="-1" strike="noStrike">
              <a:solidFill>
                <a:srgbClr val="000000"/>
              </a:solidFill>
              <a:latin typeface="Arial"/>
            </a:endParaRPr>
          </a:p>
          <a:p>
            <a:pPr marL="432000" indent="-324000" algn="just" defTabSz="914400">
              <a:lnSpc>
                <a:spcPct val="100000"/>
              </a:lnSpc>
              <a:spcBef>
                <a:spcPts val="57"/>
              </a:spcBef>
              <a:buClr>
                <a:srgbClr val="000000"/>
              </a:buClr>
              <a:buSzPct val="45000"/>
              <a:buFont typeface="Wingdings" charset="2"/>
              <a:buChar char=""/>
              <a:tabLst>
                <a:tab algn="l" pos="0"/>
              </a:tabLst>
            </a:pPr>
            <a:r>
              <a:rPr b="0" lang="en-US" sz="1400" spc="-1" strike="noStrike">
                <a:solidFill>
                  <a:srgbClr val="000000"/>
                </a:solidFill>
                <a:latin typeface="Arial"/>
                <a:ea typeface="Noto Sans CJK SC"/>
              </a:rPr>
              <a:t>ia în calcul cât de puternic a fost adversarul</a:t>
            </a:r>
            <a:endParaRPr b="0" lang="en-US" sz="1400" spc="-1" strike="noStrike">
              <a:solidFill>
                <a:srgbClr val="000000"/>
              </a:solidFill>
              <a:latin typeface="Arial"/>
            </a:endParaRPr>
          </a:p>
          <a:p>
            <a:pPr marL="432000" indent="-324000" algn="just" defTabSz="914400">
              <a:lnSpc>
                <a:spcPct val="100000"/>
              </a:lnSpc>
              <a:spcBef>
                <a:spcPts val="57"/>
              </a:spcBef>
              <a:buClr>
                <a:srgbClr val="000000"/>
              </a:buClr>
              <a:buSzPct val="45000"/>
              <a:buFont typeface="Wingdings" charset="2"/>
              <a:buChar char=""/>
              <a:tabLst>
                <a:tab algn="l" pos="0"/>
              </a:tabLst>
            </a:pPr>
            <a:r>
              <a:rPr b="0" lang="en-US" sz="1400" spc="-1" strike="noStrike">
                <a:solidFill>
                  <a:srgbClr val="000000"/>
                </a:solidFill>
                <a:latin typeface="Arial"/>
                <a:ea typeface="Noto Sans CJK SC"/>
              </a:rPr>
              <a:t>victoria 4–0 cu un adversar slab nu valorează cât o victorie 1–0 cu unul puternic</a:t>
            </a:r>
            <a:endParaRPr b="0" lang="en-US" sz="1400" spc="-1" strike="noStrike">
              <a:solidFill>
                <a:srgbClr val="000000"/>
              </a:solidFill>
              <a:latin typeface="Arial"/>
            </a:endParaRPr>
          </a:p>
          <a:p>
            <a:pPr marL="432000" indent="-324000" algn="just" defTabSz="914400">
              <a:lnSpc>
                <a:spcPct val="100000"/>
              </a:lnSpc>
              <a:spcBef>
                <a:spcPts val="57"/>
              </a:spcBef>
              <a:buClr>
                <a:srgbClr val="000000"/>
              </a:buClr>
              <a:buSzPct val="45000"/>
              <a:buFont typeface="Wingdings" charset="2"/>
              <a:buChar char=""/>
              <a:tabLst>
                <a:tab algn="l" pos="0"/>
              </a:tabLst>
            </a:pPr>
            <a:r>
              <a:rPr b="0" lang="en-US" sz="1400" spc="-1" strike="noStrike">
                <a:solidFill>
                  <a:srgbClr val="000000"/>
                </a:solidFill>
                <a:latin typeface="Arial"/>
                <a:ea typeface="Noto Sans CJK SC"/>
              </a:rPr>
              <a:t>poate prezice mai bine golurile așteptate pe termen scurt</a:t>
            </a:r>
            <a:endParaRPr b="0" lang="en-US" sz="1400" spc="-1" strike="noStrike">
              <a:solidFill>
                <a:srgbClr val="000000"/>
              </a:solidFill>
              <a:latin typeface="Arial"/>
            </a:endParaRPr>
          </a:p>
          <a:p>
            <a:pPr marL="432000" indent="-324000" algn="just" defTabSz="914400">
              <a:lnSpc>
                <a:spcPct val="100000"/>
              </a:lnSpc>
              <a:spcBef>
                <a:spcPts val="57"/>
              </a:spcBef>
              <a:buClr>
                <a:srgbClr val="000000"/>
              </a:buClr>
              <a:buSzPct val="45000"/>
              <a:buFont typeface="Wingdings" charset="2"/>
              <a:buChar char=""/>
              <a:tabLst>
                <a:tab algn="l" pos="0"/>
              </a:tabLst>
            </a:pPr>
            <a:r>
              <a:rPr b="0" lang="en-US" sz="1400" spc="-1" strike="noStrike">
                <a:solidFill>
                  <a:srgbClr val="000000"/>
                </a:solidFill>
                <a:latin typeface="Arial"/>
                <a:ea typeface="Noto Sans CJK SC"/>
              </a:rPr>
              <a:t>este stabil, dar sensibil la schimbări în formă</a:t>
            </a:r>
            <a:endParaRPr b="0" lang="en-US" sz="1400" spc="-1" strike="noStrike">
              <a:solidFill>
                <a:srgbClr val="000000"/>
              </a:solidFill>
              <a:latin typeface="Arial"/>
            </a:endParaRPr>
          </a:p>
          <a:p>
            <a:pPr marL="432000" indent="0" algn="just" defTabSz="914400">
              <a:lnSpc>
                <a:spcPct val="100000"/>
              </a:lnSpc>
              <a:spcBef>
                <a:spcPts val="57"/>
              </a:spcBef>
              <a:buNone/>
              <a:tabLst>
                <a:tab algn="l" pos="0"/>
              </a:tabLst>
            </a:pPr>
            <a:r>
              <a:rPr b="0" lang="en-US" sz="1400" spc="-1" strike="noStrike">
                <a:solidFill>
                  <a:srgbClr val="000000"/>
                </a:solidFill>
                <a:latin typeface="Arial"/>
                <a:ea typeface="Noto Sans CJK SC"/>
              </a:rPr>
              <a:t> </a:t>
            </a:r>
            <a:endParaRPr b="0" lang="en-US" sz="1400" spc="-1" strike="noStrike">
              <a:solidFill>
                <a:srgbClr val="000000"/>
              </a:solidFill>
              <a:latin typeface="Arial"/>
            </a:endParaRPr>
          </a:p>
          <a:p>
            <a:pPr marL="864000" indent="0" defTabSz="914400">
              <a:lnSpc>
                <a:spcPct val="100000"/>
              </a:lnSpc>
              <a:spcBef>
                <a:spcPts val="1134"/>
              </a:spcBef>
              <a:buNone/>
              <a:tabLst>
                <a:tab algn="l" pos="0"/>
              </a:tabLst>
            </a:pPr>
            <a:r>
              <a:rPr b="0" lang="en-US" sz="1400" spc="-1" strike="noStrike">
                <a:solidFill>
                  <a:srgbClr val="000000"/>
                </a:solidFill>
                <a:latin typeface="Arial"/>
                <a:ea typeface="Noto Sans CJK SC"/>
              </a:rPr>
              <a:t>Formula de baza :</a:t>
            </a:r>
            <a:endParaRPr b="0" lang="en-US" sz="1400" spc="-1" strike="noStrike">
              <a:solidFill>
                <a:srgbClr val="000000"/>
              </a:solidFill>
              <a:latin typeface="Arial"/>
            </a:endParaRPr>
          </a:p>
          <a:p>
            <a:pPr marL="432000" indent="0" defTabSz="914400">
              <a:lnSpc>
                <a:spcPct val="100000"/>
              </a:lnSpc>
              <a:buNone/>
              <a:tabLst>
                <a:tab algn="l" pos="0"/>
              </a:tabLst>
            </a:pPr>
            <a:r>
              <a:rPr b="1" lang="en-US" sz="1400" spc="-1" strike="noStrike">
                <a:solidFill>
                  <a:srgbClr val="000000"/>
                </a:solidFill>
                <a:latin typeface="Arial"/>
                <a:ea typeface="Noto Sans CJK SC"/>
              </a:rPr>
              <a:t>Pi_new = Pi_old + K * (GOALS_actual − GOALS_expected)</a:t>
            </a:r>
            <a:endParaRPr b="0" lang="en-US" sz="1400" spc="-1" strike="noStrike">
              <a:solidFill>
                <a:srgbClr val="000000"/>
              </a:solidFill>
              <a:latin typeface="Arial"/>
            </a:endParaRPr>
          </a:p>
          <a:p>
            <a:pPr marL="432000" indent="0" defTabSz="914400">
              <a:lnSpc>
                <a:spcPct val="100000"/>
              </a:lnSpc>
              <a:buNone/>
              <a:tabLst>
                <a:tab algn="l" pos="0"/>
              </a:tabLst>
            </a:pPr>
            <a:r>
              <a:rPr b="0" lang="en-US" sz="1400" spc="-1" strike="noStrike">
                <a:solidFill>
                  <a:srgbClr val="000000"/>
                </a:solidFill>
                <a:latin typeface="Arial"/>
                <a:ea typeface="Noto Sans CJK SC"/>
              </a:rPr>
              <a:t>*) GOALS_expected_teamA = avg_goals * 10^(ratingA − ratingB)</a:t>
            </a:r>
            <a:endParaRPr b="0" lang="en-US" sz="1400" spc="-1" strike="noStrike">
              <a:solidFill>
                <a:srgbClr val="000000"/>
              </a:solidFill>
              <a:latin typeface="Arial"/>
            </a:endParaRPr>
          </a:p>
          <a:p>
            <a:pPr marL="864000" indent="0" defTabSz="914400">
              <a:lnSpc>
                <a:spcPct val="100000"/>
              </a:lnSpc>
              <a:spcBef>
                <a:spcPts val="1134"/>
              </a:spcBef>
              <a:buNone/>
              <a:tabLst>
                <a:tab algn="l" pos="0"/>
              </a:tabLst>
            </a:pPr>
            <a:r>
              <a:rPr b="0" lang="en-US" sz="1400" spc="-1" strike="noStrike">
                <a:solidFill>
                  <a:srgbClr val="000000"/>
                </a:solidFill>
                <a:latin typeface="Arial"/>
                <a:ea typeface="Noto Sans CJK SC"/>
              </a:rPr>
              <a:t>Unde </a:t>
            </a:r>
            <a:endParaRPr b="0" lang="en-US" sz="1400" spc="-1" strike="noStrike">
              <a:solidFill>
                <a:srgbClr val="000000"/>
              </a:solidFill>
              <a:latin typeface="Arial"/>
            </a:endParaRPr>
          </a:p>
          <a:p>
            <a:pPr marL="432000" indent="0" defTabSz="914400">
              <a:lnSpc>
                <a:spcPct val="100000"/>
              </a:lnSpc>
              <a:buNone/>
              <a:tabLst>
                <a:tab algn="l" pos="0"/>
              </a:tabLst>
            </a:pPr>
            <a:r>
              <a:rPr b="0" lang="en-US" sz="1400" spc="-1" strike="noStrike">
                <a:solidFill>
                  <a:srgbClr val="000000"/>
                </a:solidFill>
                <a:latin typeface="Arial"/>
                <a:ea typeface="Noto Sans CJK SC"/>
              </a:rPr>
              <a:t>K = coeficient de sensibilitate (0.1–0.3 de obicei)</a:t>
            </a:r>
            <a:endParaRPr b="0" lang="en-US" sz="1400" spc="-1" strike="noStrike">
              <a:solidFill>
                <a:srgbClr val="000000"/>
              </a:solidFill>
              <a:latin typeface="Arial"/>
            </a:endParaRPr>
          </a:p>
          <a:p>
            <a:pPr marL="432000" indent="0" defTabSz="914400">
              <a:lnSpc>
                <a:spcPct val="100000"/>
              </a:lnSpc>
              <a:buNone/>
              <a:tabLst>
                <a:tab algn="l" pos="0"/>
              </a:tabLst>
            </a:pPr>
            <a:r>
              <a:rPr b="0" lang="en-US" sz="1400" spc="-1" strike="noStrike">
                <a:solidFill>
                  <a:srgbClr val="000000"/>
                </a:solidFill>
                <a:latin typeface="Arial"/>
                <a:ea typeface="Noto Sans CJK SC"/>
              </a:rPr>
              <a:t>GOALS_expected = câte goluri ar fi trebuit să marcheze echipa conform ratingului</a:t>
            </a:r>
            <a:endParaRPr b="0" lang="en-US" sz="1400" spc="-1" strike="noStrike">
              <a:solidFill>
                <a:srgbClr val="000000"/>
              </a:solidFill>
              <a:latin typeface="Arial"/>
            </a:endParaRPr>
          </a:p>
          <a:p>
            <a:pPr marL="432000" indent="0" defTabSz="914400">
              <a:lnSpc>
                <a:spcPct val="100000"/>
              </a:lnSpc>
              <a:buNone/>
              <a:tabLst>
                <a:tab algn="l" pos="0"/>
              </a:tabLst>
            </a:pPr>
            <a:r>
              <a:rPr b="0" lang="en-US" sz="1400" spc="-1" strike="noStrike">
                <a:solidFill>
                  <a:srgbClr val="000000"/>
                </a:solidFill>
                <a:latin typeface="Arial"/>
                <a:ea typeface="Noto Sans CJK SC"/>
              </a:rPr>
              <a:t>GOALS_actual = golurile reale din meci </a:t>
            </a:r>
            <a:endParaRPr b="0" lang="en-US" sz="1400" spc="-1" strike="noStrike">
              <a:solidFill>
                <a:srgbClr val="000000"/>
              </a:solidFill>
              <a:latin typeface="Arial"/>
            </a:endParaRPr>
          </a:p>
          <a:p>
            <a:pPr marL="432000" indent="0" defTabSz="914400">
              <a:lnSpc>
                <a:spcPct val="100000"/>
              </a:lnSpc>
              <a:buNone/>
              <a:tabLst>
                <a:tab algn="l" pos="0"/>
              </a:tabLst>
            </a:pP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dee6ef"/>
            </a:gs>
            <a:gs pos="100000">
              <a:srgbClr val="729fcf"/>
            </a:gs>
          </a:gsLst>
          <a:lin ang="3600000"/>
        </a:gra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549360" y="264600"/>
            <a:ext cx="9069480" cy="626040"/>
          </a:xfrm>
          <a:prstGeom prst="rect">
            <a:avLst/>
          </a:prstGeom>
          <a:noFill/>
          <a:ln w="0">
            <a:noFill/>
          </a:ln>
        </p:spPr>
        <p:txBody>
          <a:bodyPr lIns="0" rIns="0" tIns="0" bIns="0" anchor="ctr">
            <a:noAutofit/>
          </a:bodyPr>
          <a:p>
            <a:pPr indent="0" algn="ctr">
              <a:lnSpc>
                <a:spcPct val="100000"/>
              </a:lnSpc>
              <a:buNone/>
              <a:tabLst>
                <a:tab algn="l" pos="0"/>
              </a:tabLst>
            </a:pPr>
            <a:r>
              <a:rPr b="1" lang="en-US" sz="2100" spc="-1" strike="noStrike">
                <a:solidFill>
                  <a:srgbClr val="000000"/>
                </a:solidFill>
                <a:latin typeface="Arial"/>
              </a:rPr>
              <a:t>Stabilirea coloanelor feature</a:t>
            </a:r>
            <a:endParaRPr b="0" lang="en-US" sz="2100" spc="-1" strike="noStrike">
              <a:solidFill>
                <a:srgbClr val="000000"/>
              </a:solidFill>
              <a:latin typeface="Arial"/>
            </a:endParaRPr>
          </a:p>
        </p:txBody>
      </p:sp>
      <p:sp>
        <p:nvSpPr>
          <p:cNvPr id="55" name="PlaceHolder 2"/>
          <p:cNvSpPr>
            <a:spLocks noGrp="1"/>
          </p:cNvSpPr>
          <p:nvPr>
            <p:ph/>
          </p:nvPr>
        </p:nvSpPr>
        <p:spPr>
          <a:xfrm>
            <a:off x="504000" y="891720"/>
            <a:ext cx="8921520" cy="331560"/>
          </a:xfrm>
          <a:prstGeom prst="rect">
            <a:avLst/>
          </a:prstGeom>
          <a:noFill/>
          <a:ln w="0">
            <a:noFill/>
          </a:ln>
        </p:spPr>
        <p:txBody>
          <a:bodyPr lIns="0" rIns="0" tIns="0" bIns="0" anchor="t">
            <a:normAutofit fontScale="87222"/>
          </a:bodyPr>
          <a:p>
            <a:pPr marL="432000" indent="0" defTabSz="914400">
              <a:lnSpc>
                <a:spcPct val="100000"/>
              </a:lnSpc>
              <a:spcBef>
                <a:spcPts val="1417"/>
              </a:spcBef>
              <a:buNone/>
              <a:tabLst>
                <a:tab algn="l" pos="0"/>
              </a:tabLst>
            </a:pPr>
            <a:r>
              <a:rPr b="0" lang="en-US" sz="1200" spc="-1" strike="noStrike">
                <a:solidFill>
                  <a:srgbClr val="000000"/>
                </a:solidFill>
                <a:latin typeface="Arial"/>
                <a:ea typeface="DejaVu Sans"/>
              </a:rPr>
              <a:t>Coloanele feature dupa care se vor calcula predictiile sunt cele in legatura cu performanta echipelor, dar si unele care pot da un anumit grad de omogenitate rezultateor (un anume campionat). </a:t>
            </a:r>
            <a:r>
              <a:rPr b="0" lang="en-US" sz="1200" spc="-1" strike="noStrike">
                <a:solidFill>
                  <a:srgbClr val="000000"/>
                </a:solidFill>
                <a:highlight>
                  <a:srgbClr val="ff3838"/>
                </a:highlight>
                <a:latin typeface="Arial"/>
                <a:ea typeface="DejaVu Sans"/>
              </a:rPr>
              <a:t>Comparatie pentru esantionul X_TEST cu meciurile din dataset din toti anii sau din ultimii X</a:t>
            </a:r>
            <a:endParaRPr b="0" lang="en-US" sz="1200" spc="-1" strike="noStrike">
              <a:solidFill>
                <a:srgbClr val="000000"/>
              </a:solidFill>
              <a:latin typeface="Arial"/>
            </a:endParaRPr>
          </a:p>
        </p:txBody>
      </p:sp>
      <p:sp>
        <p:nvSpPr>
          <p:cNvPr id="56" name="PlaceHolder 3"/>
          <p:cNvSpPr/>
          <p:nvPr/>
        </p:nvSpPr>
        <p:spPr>
          <a:xfrm>
            <a:off x="196560" y="1406520"/>
            <a:ext cx="9584280" cy="3974760"/>
          </a:xfrm>
          <a:prstGeom prst="rect">
            <a:avLst/>
          </a:prstGeom>
          <a:noFill/>
          <a:ln w="0">
            <a:noFill/>
          </a:ln>
        </p:spPr>
        <p:style>
          <a:lnRef idx="0"/>
          <a:fillRef idx="0"/>
          <a:effectRef idx="0"/>
          <a:fontRef idx="minor"/>
        </p:style>
        <p:txBody>
          <a:bodyPr lIns="0" rIns="0" tIns="0" bIns="0" anchor="t">
            <a:normAutofit/>
          </a:bodyPr>
          <a:p>
            <a:pPr marL="432000" indent="-216000" defTabSz="914400">
              <a:lnSpc>
                <a:spcPct val="100000"/>
              </a:lnSpc>
              <a:buClr>
                <a:srgbClr val="000000"/>
              </a:buClr>
              <a:buFont typeface="Symbol" charset="2"/>
              <a:buChar char=""/>
              <a:tabLst>
                <a:tab algn="l" pos="0"/>
              </a:tabLst>
            </a:pPr>
            <a:r>
              <a:rPr b="1" lang="en-US" sz="1200" spc="-1" strike="noStrike">
                <a:solidFill>
                  <a:srgbClr val="000000"/>
                </a:solidFill>
                <a:latin typeface="Arial"/>
                <a:ea typeface="DejaVu Sans"/>
              </a:rPr>
              <a:t>country_cat</a:t>
            </a:r>
            <a:r>
              <a:rPr b="0" lang="en-US" sz="1200" spc="-1" strike="noStrike">
                <a:solidFill>
                  <a:srgbClr val="000000"/>
                </a:solidFill>
                <a:latin typeface="Arial"/>
                <a:ea typeface="DejaVu Sans"/>
              </a:rPr>
              <a:t> – tara de unde apartine divizia</a:t>
            </a:r>
            <a:endParaRPr b="0" lang="en-US" sz="1200" spc="-1" strike="noStrike">
              <a:solidFill>
                <a:srgbClr val="000000"/>
              </a:solidFill>
              <a:latin typeface="Arial"/>
            </a:endParaRPr>
          </a:p>
          <a:p>
            <a:pPr marL="432000" indent="-216000" defTabSz="914400">
              <a:lnSpc>
                <a:spcPct val="100000"/>
              </a:lnSpc>
              <a:buClr>
                <a:srgbClr val="000000"/>
              </a:buClr>
              <a:buFont typeface="Symbol" charset="2"/>
              <a:buChar char=""/>
              <a:tabLst>
                <a:tab algn="l" pos="0"/>
              </a:tabLst>
            </a:pPr>
            <a:r>
              <a:rPr b="1" lang="en-US" sz="1200" spc="-1" strike="noStrike">
                <a:solidFill>
                  <a:srgbClr val="000000"/>
                </a:solidFill>
                <a:latin typeface="Arial"/>
                <a:ea typeface="DejaVu Sans"/>
              </a:rPr>
              <a:t>divizia_cat </a:t>
            </a:r>
            <a:r>
              <a:rPr b="0" lang="en-US" sz="1200" spc="-1" strike="noStrike">
                <a:solidFill>
                  <a:srgbClr val="000000"/>
                </a:solidFill>
                <a:latin typeface="Arial"/>
                <a:ea typeface="DejaVu Sans"/>
              </a:rPr>
              <a:t>– divizia in care se joaca meciul (utila! Aduce un plus de precizie NN 0.4907 → 04943)</a:t>
            </a:r>
            <a:endParaRPr b="0" lang="en-US" sz="1200" spc="-1" strike="noStrike">
              <a:solidFill>
                <a:srgbClr val="000000"/>
              </a:solidFill>
              <a:latin typeface="Arial"/>
            </a:endParaRPr>
          </a:p>
          <a:p>
            <a:pPr marL="432000" indent="-216000" defTabSz="914400">
              <a:lnSpc>
                <a:spcPct val="100000"/>
              </a:lnSpc>
              <a:buClr>
                <a:srgbClr val="000000"/>
              </a:buClr>
              <a:buFont typeface="Symbol" charset="2"/>
              <a:buChar char=""/>
              <a:tabLst>
                <a:tab algn="l" pos="0"/>
              </a:tabLst>
            </a:pPr>
            <a:r>
              <a:rPr b="1" lang="en-US" sz="1100" spc="-1" strike="noStrike">
                <a:solidFill>
                  <a:srgbClr val="000000"/>
                </a:solidFill>
                <a:latin typeface="Arial"/>
                <a:ea typeface="DejaVu Sans"/>
              </a:rPr>
              <a:t>B365H,B365D,B365A</a:t>
            </a:r>
            <a:r>
              <a:rPr b="0" lang="en-US" sz="1100" spc="-1" strike="noStrike">
                <a:solidFill>
                  <a:srgbClr val="000000"/>
                </a:solidFill>
                <a:latin typeface="Arial"/>
                <a:ea typeface="DejaVu Sans"/>
              </a:rPr>
              <a:t> cotele pentru gazde, egalitate si oapseti inainte de meci utile pe precizia pe gazde si oaspeti (NN </a:t>
            </a:r>
            <a:r>
              <a:rPr b="0" lang="en-US" sz="1100" spc="-1" strike="noStrike">
                <a:solidFill>
                  <a:srgbClr val="000000"/>
                </a:solidFill>
                <a:highlight>
                  <a:srgbClr val="00a933"/>
                </a:highlight>
                <a:latin typeface="Arial"/>
                <a:ea typeface="DejaVu Sans"/>
              </a:rPr>
              <a:t>H </a:t>
            </a:r>
            <a:r>
              <a:rPr b="0" lang="en-US" sz="1100" spc="-1" strike="noStrike">
                <a:solidFill>
                  <a:srgbClr val="000000"/>
                </a:solidFill>
                <a:latin typeface="Arial"/>
                <a:ea typeface="DejaVu Sans"/>
              </a:rPr>
              <a:t>0.49→0.52 </a:t>
            </a:r>
            <a:r>
              <a:rPr b="1" lang="en-US" sz="1100" spc="-1" strike="noStrike">
                <a:solidFill>
                  <a:srgbClr val="000000"/>
                </a:solidFill>
                <a:highlight>
                  <a:srgbClr val="00a933"/>
                </a:highlight>
                <a:latin typeface="Arial"/>
                <a:ea typeface="DejaVu Sans"/>
              </a:rPr>
              <a:t>A</a:t>
            </a:r>
            <a:r>
              <a:rPr b="0" lang="en-US" sz="1100" spc="-1" strike="noStrike">
                <a:solidFill>
                  <a:srgbClr val="000000"/>
                </a:solidFill>
                <a:latin typeface="Arial"/>
                <a:ea typeface="DejaVu Sans"/>
              </a:rPr>
              <a:t> 0.60→0.61) (CB </a:t>
            </a:r>
            <a:r>
              <a:rPr b="0" lang="en-US" sz="1100" spc="-1" strike="noStrike">
                <a:solidFill>
                  <a:srgbClr val="000000"/>
                </a:solidFill>
                <a:highlight>
                  <a:srgbClr val="00a933"/>
                </a:highlight>
                <a:latin typeface="Arial"/>
                <a:ea typeface="DejaVu Sans"/>
              </a:rPr>
              <a:t>H </a:t>
            </a:r>
            <a:r>
              <a:rPr b="0" lang="en-US" sz="1100" spc="-1" strike="noStrike">
                <a:solidFill>
                  <a:srgbClr val="000000"/>
                </a:solidFill>
                <a:latin typeface="Arial"/>
                <a:ea typeface="DejaVu Sans"/>
              </a:rPr>
              <a:t>0.607→ 0.642 </a:t>
            </a:r>
            <a:r>
              <a:rPr b="0" lang="en-US" sz="1100" spc="-1" strike="noStrike">
                <a:solidFill>
                  <a:srgbClr val="000000"/>
                </a:solidFill>
                <a:highlight>
                  <a:srgbClr val="00a933"/>
                </a:highlight>
                <a:latin typeface="Arial"/>
                <a:ea typeface="DejaVu Sans"/>
              </a:rPr>
              <a:t>A</a:t>
            </a:r>
            <a:r>
              <a:rPr b="0" lang="en-US" sz="1100" spc="-1" strike="noStrike">
                <a:solidFill>
                  <a:srgbClr val="000000"/>
                </a:solidFill>
                <a:latin typeface="Arial"/>
                <a:ea typeface="DejaVu Sans"/>
              </a:rPr>
              <a:t> 0.469 →0.504) desi cotele sunt parerea bookmakerilor si pot influenta si negativ in unele cazuri, dar overall aduc un plus de preciie)</a:t>
            </a:r>
            <a:endParaRPr b="0" lang="en-US" sz="1100" spc="-1" strike="noStrike">
              <a:solidFill>
                <a:srgbClr val="000000"/>
              </a:solidFill>
              <a:latin typeface="Arial"/>
            </a:endParaRPr>
          </a:p>
          <a:p>
            <a:pPr marL="432000" indent="-216000" defTabSz="914400">
              <a:lnSpc>
                <a:spcPct val="100000"/>
              </a:lnSpc>
              <a:buClr>
                <a:srgbClr val="000000"/>
              </a:buClr>
              <a:buFont typeface="Symbol" charset="2"/>
              <a:buChar char=""/>
              <a:tabLst>
                <a:tab algn="l" pos="0"/>
              </a:tabLst>
            </a:pPr>
            <a:r>
              <a:rPr b="1" lang="en-US" sz="1200" spc="-1" strike="noStrike">
                <a:solidFill>
                  <a:srgbClr val="000000"/>
                </a:solidFill>
                <a:latin typeface="Arial"/>
                <a:ea typeface="Noto Sans CJK SC"/>
              </a:rPr>
              <a:t>HomeTeamCat, AwayTeamCat </a:t>
            </a:r>
            <a:r>
              <a:rPr b="0" lang="en-US" sz="1200" spc="-1" strike="noStrike">
                <a:solidFill>
                  <a:srgbClr val="000000"/>
                </a:solidFill>
                <a:latin typeface="Arial"/>
                <a:ea typeface="Noto Sans CJK SC"/>
              </a:rPr>
              <a:t>transformarea numelui echipei in categorie (CB </a:t>
            </a:r>
            <a:r>
              <a:rPr b="0" lang="en-US" sz="1200" spc="-1" strike="noStrike">
                <a:solidFill>
                  <a:srgbClr val="000000"/>
                </a:solidFill>
                <a:highlight>
                  <a:srgbClr val="00a933"/>
                </a:highlight>
                <a:latin typeface="Arial"/>
                <a:ea typeface="Noto Sans CJK SC"/>
              </a:rPr>
              <a:t>H D A</a:t>
            </a:r>
            <a:r>
              <a:rPr b="0" lang="en-US" sz="1200" spc="-1" strike="noStrike">
                <a:solidFill>
                  <a:srgbClr val="000000"/>
                </a:solidFill>
                <a:latin typeface="Arial"/>
                <a:ea typeface="Noto Sans CJK SC"/>
              </a:rPr>
              <a:t> cu valori in plus  de aprox 0.0066; </a:t>
            </a:r>
            <a:r>
              <a:rPr b="0" lang="en-US" sz="1100" spc="-1" strike="noStrike">
                <a:solidFill>
                  <a:srgbClr val="000000"/>
                </a:solidFill>
                <a:latin typeface="Arial"/>
                <a:ea typeface="Noto Sans CJK SC"/>
              </a:rPr>
              <a:t>NN </a:t>
            </a:r>
            <a:r>
              <a:rPr b="0" lang="en-US" sz="1100" spc="-1" strike="noStrike">
                <a:solidFill>
                  <a:srgbClr val="000000"/>
                </a:solidFill>
                <a:highlight>
                  <a:srgbClr val="ff0000"/>
                </a:highlight>
                <a:latin typeface="Arial"/>
                <a:ea typeface="Noto Sans CJK SC"/>
              </a:rPr>
              <a:t>H </a:t>
            </a:r>
            <a:r>
              <a:rPr b="0" lang="en-US" sz="1100" spc="-1" strike="noStrike">
                <a:solidFill>
                  <a:srgbClr val="000000"/>
                </a:solidFill>
                <a:highlight>
                  <a:srgbClr val="069a2e"/>
                </a:highlight>
                <a:latin typeface="Arial"/>
                <a:ea typeface="Noto Sans CJK SC"/>
              </a:rPr>
              <a:t>D</a:t>
            </a:r>
            <a:r>
              <a:rPr b="0" lang="en-US" sz="1100" spc="-1" strike="noStrike">
                <a:solidFill>
                  <a:srgbClr val="000000"/>
                </a:solidFill>
                <a:highlight>
                  <a:srgbClr val="ff0000"/>
                </a:highlight>
                <a:latin typeface="Arial"/>
                <a:ea typeface="Noto Sans CJK SC"/>
              </a:rPr>
              <a:t> A </a:t>
            </a:r>
            <a:r>
              <a:rPr b="0" lang="en-US" sz="1100" spc="-1" strike="noStrike">
                <a:solidFill>
                  <a:srgbClr val="000000"/>
                </a:solidFill>
                <a:latin typeface="Arial"/>
                <a:ea typeface="Noto Sans CJK SC"/>
              </a:rPr>
              <a:t>cu valori foarte mici in plus sau in minus ;</a:t>
            </a:r>
            <a:r>
              <a:rPr b="0" lang="en-US" sz="1200" spc="-1" strike="noStrike">
                <a:solidFill>
                  <a:srgbClr val="000000"/>
                </a:solidFill>
                <a:latin typeface="Arial"/>
                <a:ea typeface="Noto Sans CJK SC"/>
              </a:rPr>
              <a:t>)</a:t>
            </a:r>
            <a:endParaRPr b="0" lang="en-US" sz="1200" spc="-1" strike="noStrike">
              <a:solidFill>
                <a:srgbClr val="000000"/>
              </a:solidFill>
              <a:latin typeface="Arial"/>
            </a:endParaRPr>
          </a:p>
          <a:p>
            <a:pPr marL="432000" indent="-216000" defTabSz="914400">
              <a:lnSpc>
                <a:spcPct val="100000"/>
              </a:lnSpc>
              <a:buClr>
                <a:srgbClr val="000000"/>
              </a:buClr>
              <a:buFont typeface="Symbol" charset="2"/>
              <a:buChar char=""/>
              <a:tabLst>
                <a:tab algn="l" pos="0"/>
              </a:tabLst>
            </a:pPr>
            <a:r>
              <a:rPr b="1" lang="en-US" sz="1100" spc="-1" strike="noStrike">
                <a:solidFill>
                  <a:srgbClr val="000000"/>
                </a:solidFill>
                <a:latin typeface="Arial"/>
                <a:ea typeface="Noto Sans CJK SC"/>
              </a:rPr>
              <a:t>HTGML3, HTGPL3, ATGML3, ATGPL3</a:t>
            </a:r>
            <a:r>
              <a:rPr b="0" lang="en-US" sz="1100" spc="-1" strike="noStrike">
                <a:solidFill>
                  <a:srgbClr val="000000"/>
                </a:solidFill>
                <a:latin typeface="Arial"/>
                <a:ea typeface="Noto Sans CJK SC"/>
              </a:rPr>
              <a:t> (Goluri marcate in ultimele 3 meciuri HT si AT) (preciziile nesemnificativ schimbate)</a:t>
            </a:r>
            <a:endParaRPr b="0" lang="en-US" sz="1100" spc="-1" strike="noStrike">
              <a:solidFill>
                <a:srgbClr val="000000"/>
              </a:solidFill>
              <a:latin typeface="Arial"/>
            </a:endParaRPr>
          </a:p>
          <a:p>
            <a:pPr marL="432000" indent="-216000" defTabSz="914400">
              <a:lnSpc>
                <a:spcPct val="100000"/>
              </a:lnSpc>
              <a:buClr>
                <a:srgbClr val="000000"/>
              </a:buClr>
              <a:buFont typeface="Symbol" charset="2"/>
              <a:buChar char=""/>
              <a:tabLst>
                <a:tab algn="l" pos="0"/>
              </a:tabLst>
            </a:pPr>
            <a:r>
              <a:rPr b="1" lang="en-US" sz="1100" spc="-1" strike="noStrike">
                <a:solidFill>
                  <a:srgbClr val="000000"/>
                </a:solidFill>
                <a:latin typeface="Arial"/>
                <a:ea typeface="Noto Sans CJK SC"/>
              </a:rPr>
              <a:t>HTPOINTS, ATPOINTS </a:t>
            </a:r>
            <a:r>
              <a:rPr b="0" lang="en-US" sz="1100" spc="-1" strike="noStrike">
                <a:solidFill>
                  <a:srgbClr val="000000"/>
                </a:solidFill>
                <a:latin typeface="Arial"/>
                <a:ea typeface="Noto Sans CJK SC"/>
              </a:rPr>
              <a:t>daca nu sunt tratate ca time series atunci intervin negativ in precizie</a:t>
            </a:r>
            <a:endParaRPr b="0" lang="en-US" sz="1100" spc="-1" strike="noStrike">
              <a:solidFill>
                <a:srgbClr val="000000"/>
              </a:solidFill>
              <a:latin typeface="Arial"/>
            </a:endParaRPr>
          </a:p>
          <a:p>
            <a:pPr marL="432000" indent="-216000" defTabSz="914400">
              <a:lnSpc>
                <a:spcPct val="100000"/>
              </a:lnSpc>
              <a:buClr>
                <a:srgbClr val="000000"/>
              </a:buClr>
              <a:buFont typeface="Symbol" charset="2"/>
              <a:buChar char=""/>
              <a:tabLst>
                <a:tab algn="l" pos="0"/>
              </a:tabLst>
            </a:pPr>
            <a:r>
              <a:rPr b="1" lang="en-US" sz="1100" spc="-1" strike="noStrike">
                <a:solidFill>
                  <a:srgbClr val="000000"/>
                </a:solidFill>
                <a:latin typeface="Arial"/>
                <a:ea typeface="Noto Sans CJK SC"/>
              </a:rPr>
              <a:t>HTRANKING, ATRANKING</a:t>
            </a:r>
            <a:r>
              <a:rPr b="0" lang="en-US" sz="1100" spc="-1" strike="noStrike">
                <a:solidFill>
                  <a:srgbClr val="000000"/>
                </a:solidFill>
                <a:latin typeface="Arial"/>
                <a:ea typeface="Noto Sans CJK SC"/>
              </a:rPr>
              <a:t> intervin nesemnificativ in predictie</a:t>
            </a:r>
            <a:endParaRPr b="0" lang="en-US" sz="1100" spc="-1" strike="noStrike">
              <a:solidFill>
                <a:srgbClr val="000000"/>
              </a:solidFill>
              <a:latin typeface="Arial"/>
            </a:endParaRPr>
          </a:p>
          <a:p>
            <a:pPr marL="432000" indent="-216000" defTabSz="914400">
              <a:lnSpc>
                <a:spcPct val="100000"/>
              </a:lnSpc>
              <a:buClr>
                <a:srgbClr val="000000"/>
              </a:buClr>
              <a:buFont typeface="Symbol" charset="2"/>
              <a:buChar char=""/>
              <a:tabLst>
                <a:tab algn="l" pos="0"/>
              </a:tabLst>
            </a:pPr>
            <a:r>
              <a:rPr b="1" lang="en-US" sz="1100" spc="-1" strike="noStrike">
                <a:solidFill>
                  <a:srgbClr val="000000"/>
                </a:solidFill>
                <a:latin typeface="Arial"/>
                <a:ea typeface="Noto Sans CJK SC"/>
              </a:rPr>
              <a:t>HPIRATING1, HPIRATING2, APIRATING1, APIRATING2</a:t>
            </a:r>
            <a:r>
              <a:rPr b="0" lang="en-US" sz="1100" spc="-1" strike="noStrike">
                <a:solidFill>
                  <a:srgbClr val="000000"/>
                </a:solidFill>
                <a:latin typeface="Arial"/>
                <a:ea typeface="Noto Sans CJK SC"/>
              </a:rPr>
              <a:t> ratingurile echipelor gazda si oaspete acas si in deplasare</a:t>
            </a:r>
            <a:endParaRPr b="0" lang="en-US" sz="1100" spc="-1" strike="noStrike">
              <a:solidFill>
                <a:srgbClr val="000000"/>
              </a:solidFill>
              <a:latin typeface="Arial"/>
            </a:endParaRPr>
          </a:p>
          <a:p>
            <a:pPr marL="432000" indent="-216000" defTabSz="914400">
              <a:lnSpc>
                <a:spcPct val="100000"/>
              </a:lnSpc>
              <a:buClr>
                <a:srgbClr val="000000"/>
              </a:buClr>
              <a:buFont typeface="Symbol" charset="2"/>
              <a:buChar char=""/>
              <a:tabLst>
                <a:tab algn="l" pos="0"/>
              </a:tabLst>
            </a:pPr>
            <a:r>
              <a:rPr b="1" lang="en-US" sz="1100" spc="-1" strike="noStrike">
                <a:solidFill>
                  <a:srgbClr val="000000"/>
                </a:solidFill>
                <a:latin typeface="Arial"/>
                <a:ea typeface="Noto Sans CJK SC"/>
              </a:rPr>
              <a:t>HTCOEF1, ATCOEF1 </a:t>
            </a:r>
            <a:r>
              <a:rPr b="0" lang="en-US" sz="1100" spc="-1" strike="noStrike">
                <a:solidFill>
                  <a:srgbClr val="000000"/>
                </a:solidFill>
                <a:latin typeface="Arial"/>
                <a:ea typeface="Noto Sans CJK SC"/>
              </a:rPr>
              <a:t>reprezinta numarul de puncte ale echipelor gazda si oaspete in ultimele 5 meciuri disputate (include acasa si deplasare)</a:t>
            </a:r>
            <a:endParaRPr b="0" lang="en-US" sz="1100" spc="-1" strike="noStrike">
              <a:solidFill>
                <a:srgbClr val="000000"/>
              </a:solidFill>
              <a:latin typeface="Arial"/>
            </a:endParaRPr>
          </a:p>
          <a:p>
            <a:pPr marL="432000" indent="-216000" defTabSz="914400">
              <a:lnSpc>
                <a:spcPct val="100000"/>
              </a:lnSpc>
              <a:spcBef>
                <a:spcPts val="57"/>
              </a:spcBef>
              <a:buClr>
                <a:srgbClr val="000000"/>
              </a:buClr>
              <a:buFont typeface="Symbol" charset="2"/>
              <a:buChar char=""/>
              <a:tabLst>
                <a:tab algn="l" pos="0"/>
              </a:tabLst>
            </a:pPr>
            <a:r>
              <a:rPr b="1" lang="en-US" sz="1000" spc="-1" strike="noStrike">
                <a:solidFill>
                  <a:srgbClr val="000000"/>
                </a:solidFill>
                <a:latin typeface="Arial"/>
                <a:ea typeface="Noto Sans CJK SC"/>
              </a:rPr>
              <a:t>HT_DANGEROUSATTACKS, AT_DANGEROUSATTACKS, HT_ATTACKS, AT_ATTACKS, HT_SHOTSONTARGET, AT_SHOTSONTARGET, HT_SHOTSOFFTARGET, AT_SHOTSOFFTARGET </a:t>
            </a:r>
            <a:r>
              <a:rPr b="0" lang="en-US" sz="1000" spc="-1" strike="noStrike">
                <a:solidFill>
                  <a:srgbClr val="000000"/>
                </a:solidFill>
                <a:latin typeface="Arial"/>
                <a:ea typeface="Noto Sans CJK SC"/>
              </a:rPr>
              <a:t>nu vor fi disponibile pentru jocurile nedisputate astfel incat trebuie sa folosim mediile pe meci (oricum media este un indicator mai bun fata de valoarea discreta)</a:t>
            </a:r>
            <a:endParaRPr b="0" lang="en-US" sz="1000" spc="-1" strike="noStrike">
              <a:solidFill>
                <a:srgbClr val="000000"/>
              </a:solidFill>
              <a:latin typeface="Arial"/>
            </a:endParaRPr>
          </a:p>
          <a:p>
            <a:pPr marL="432000" indent="-216000" defTabSz="914400">
              <a:lnSpc>
                <a:spcPct val="100000"/>
              </a:lnSpc>
              <a:buClr>
                <a:srgbClr val="000000"/>
              </a:buClr>
              <a:buFont typeface="Symbol" charset="2"/>
              <a:buChar char=""/>
              <a:tabLst>
                <a:tab algn="l" pos="0"/>
              </a:tabLst>
            </a:pPr>
            <a:r>
              <a:rPr b="1" lang="en-US" sz="1100" spc="-1" strike="noStrike">
                <a:solidFill>
                  <a:srgbClr val="000000"/>
                </a:solidFill>
                <a:latin typeface="Arial"/>
                <a:ea typeface="Noto Sans CJK SC"/>
              </a:rPr>
              <a:t>HT_DANGEROUSATTACKS_A, AT_DANGEROUSATTACKS_A, HT_ATTACKS_A, AT_ATTACKS_A </a:t>
            </a:r>
            <a:r>
              <a:rPr b="0" lang="en-US" sz="1100" spc="-1" strike="noStrike">
                <a:solidFill>
                  <a:srgbClr val="000000"/>
                </a:solidFill>
                <a:latin typeface="Arial"/>
                <a:ea typeface="Noto Sans CJK SC"/>
              </a:rPr>
              <a:t>sunt mediile atacurilor si atacurilor periciloase ale echipelor gazda si oaspete din sezonul curent</a:t>
            </a:r>
            <a:endParaRPr b="0" lang="en-US" sz="1100" spc="-1" strike="noStrike">
              <a:solidFill>
                <a:srgbClr val="000000"/>
              </a:solidFill>
              <a:latin typeface="Arial"/>
            </a:endParaRPr>
          </a:p>
          <a:p>
            <a:pPr marL="432000" indent="-216000" defTabSz="914400">
              <a:lnSpc>
                <a:spcPct val="100000"/>
              </a:lnSpc>
              <a:buClr>
                <a:srgbClr val="000000"/>
              </a:buClr>
              <a:buFont typeface="Symbol" charset="2"/>
              <a:buChar char=""/>
              <a:tabLst>
                <a:tab algn="l" pos="0"/>
              </a:tabLst>
            </a:pPr>
            <a:r>
              <a:rPr b="1" lang="en-US" sz="1000" spc="-1" strike="noStrike">
                <a:solidFill>
                  <a:srgbClr val="000000"/>
                </a:solidFill>
                <a:latin typeface="Arial"/>
                <a:ea typeface="Noto Sans CJK SC"/>
              </a:rPr>
              <a:t>HT_SHOTSONTARGET_A, AT_SHOTSONTARGET_A, HT_SHOTSOFFTARGET_A, AT_SHOTSOFFTARGET_A </a:t>
            </a:r>
            <a:r>
              <a:rPr b="0" lang="en-US" sz="1000" spc="-1" strike="noStrike">
                <a:solidFill>
                  <a:srgbClr val="000000"/>
                </a:solidFill>
                <a:latin typeface="Arial"/>
                <a:ea typeface="Noto Sans CJK SC"/>
              </a:rPr>
              <a:t>sunt mediile suturilor spre poarta si pe poarta ale echipelor gazda si opaspete in sezonul curent</a:t>
            </a:r>
            <a:endParaRPr b="0" lang="en-US" sz="1000" spc="-1" strike="noStrike">
              <a:solidFill>
                <a:srgbClr val="000000"/>
              </a:solidFill>
              <a:latin typeface="Arial"/>
            </a:endParaRPr>
          </a:p>
          <a:p>
            <a:pPr marL="432000" indent="-216000" defTabSz="914400">
              <a:lnSpc>
                <a:spcPct val="100000"/>
              </a:lnSpc>
              <a:spcBef>
                <a:spcPts val="340"/>
              </a:spcBef>
              <a:spcAft>
                <a:spcPts val="142"/>
              </a:spcAft>
              <a:buClr>
                <a:srgbClr val="000000"/>
              </a:buClr>
              <a:buFont typeface="Symbol" charset="2"/>
              <a:buChar char=""/>
              <a:tabLst>
                <a:tab algn="l" pos="0"/>
              </a:tabLst>
            </a:pPr>
            <a:r>
              <a:rPr b="1" lang="en-US" sz="1000" spc="-1" strike="noStrike">
                <a:solidFill>
                  <a:srgbClr val="000000"/>
                </a:solidFill>
                <a:latin typeface="Arial"/>
                <a:ea typeface="Noto Sans CJK SC"/>
              </a:rPr>
              <a:t>HTRANKING, ATRANKING </a:t>
            </a:r>
            <a:r>
              <a:rPr b="0" lang="en-US" sz="1000" spc="-1" strike="noStrike">
                <a:solidFill>
                  <a:srgbClr val="000000"/>
                </a:solidFill>
                <a:latin typeface="Arial"/>
                <a:ea typeface="Noto Sans CJK SC"/>
              </a:rPr>
              <a:t>locul in clasament al ecipei gazda si respectiv oaspete in sezonul respectiv</a:t>
            </a:r>
            <a:endParaRPr b="0" lang="en-US" sz="1000" spc="-1" strike="noStrike">
              <a:solidFill>
                <a:srgbClr val="000000"/>
              </a:solidFill>
              <a:latin typeface="Arial"/>
            </a:endParaRPr>
          </a:p>
          <a:p>
            <a:pPr defTabSz="914400">
              <a:lnSpc>
                <a:spcPct val="100000"/>
              </a:lnSpc>
              <a:tabLst>
                <a:tab algn="l" pos="0"/>
              </a:tabLst>
            </a:pP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dee6ef"/>
            </a:gs>
            <a:gs pos="100000">
              <a:srgbClr val="729fcf"/>
            </a:gs>
          </a:gsLst>
          <a:lin ang="3600000"/>
        </a:gradFill>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549360" y="264600"/>
            <a:ext cx="9069480" cy="626040"/>
          </a:xfrm>
          <a:prstGeom prst="rect">
            <a:avLst/>
          </a:prstGeom>
          <a:noFill/>
          <a:ln w="0">
            <a:noFill/>
          </a:ln>
        </p:spPr>
        <p:txBody>
          <a:bodyPr lIns="0" rIns="0" tIns="0" bIns="0" anchor="ctr">
            <a:noAutofit/>
          </a:bodyPr>
          <a:p>
            <a:pPr indent="0" algn="ctr">
              <a:lnSpc>
                <a:spcPct val="100000"/>
              </a:lnSpc>
              <a:buNone/>
              <a:tabLst>
                <a:tab algn="l" pos="0"/>
              </a:tabLst>
            </a:pPr>
            <a:r>
              <a:rPr b="1" lang="en-US" sz="2100" spc="-1" strike="noStrike">
                <a:solidFill>
                  <a:srgbClr val="000000"/>
                </a:solidFill>
                <a:latin typeface="Arial"/>
              </a:rPr>
              <a:t>Matricea de corelatii</a:t>
            </a:r>
            <a:endParaRPr b="0" lang="en-US" sz="2100" spc="-1" strike="noStrike">
              <a:solidFill>
                <a:srgbClr val="000000"/>
              </a:solidFill>
              <a:latin typeface="Arial"/>
            </a:endParaRPr>
          </a:p>
        </p:txBody>
      </p:sp>
      <p:sp>
        <p:nvSpPr>
          <p:cNvPr id="58" name="PlaceHolder 2"/>
          <p:cNvSpPr>
            <a:spLocks noGrp="1"/>
          </p:cNvSpPr>
          <p:nvPr>
            <p:ph/>
          </p:nvPr>
        </p:nvSpPr>
        <p:spPr>
          <a:xfrm>
            <a:off x="504000" y="891720"/>
            <a:ext cx="9156240" cy="475920"/>
          </a:xfrm>
          <a:prstGeom prst="rect">
            <a:avLst/>
          </a:prstGeom>
          <a:noFill/>
          <a:ln w="0">
            <a:noFill/>
          </a:ln>
        </p:spPr>
        <p:txBody>
          <a:bodyPr lIns="0" rIns="0" tIns="0" bIns="0" anchor="t">
            <a:normAutofit fontScale="87222"/>
          </a:bodyPr>
          <a:p>
            <a:pPr marL="432000" indent="0" defTabSz="914400">
              <a:lnSpc>
                <a:spcPct val="100000"/>
              </a:lnSpc>
              <a:spcBef>
                <a:spcPts val="1191"/>
              </a:spcBef>
              <a:spcAft>
                <a:spcPts val="992"/>
              </a:spcAft>
              <a:buNone/>
              <a:tabLst>
                <a:tab algn="l" pos="0"/>
              </a:tabLst>
            </a:pPr>
            <a:r>
              <a:rPr b="0" lang="en-US" sz="1200" spc="-1" strike="noStrike">
                <a:solidFill>
                  <a:srgbClr val="000000"/>
                </a:solidFill>
                <a:latin typeface="Arial"/>
                <a:ea typeface="DejaVu Sans"/>
              </a:rPr>
              <a:t>Matricea de corelații este un tabel care arată cât de puternic și în ce direcție se leagă fiecare feature (coloană) de celelalte feature-uri dintr-un DataFrame (+1 → corelație pozitivă perfectă (când una crește, cealaltă crește exact proporționa ; –1→ corelație negativă perfectă (când una crește, cealaltă scade proporțional)l) </a:t>
            </a:r>
            <a:endParaRPr b="0" lang="en-US" sz="1200" spc="-1" strike="noStrike">
              <a:solidFill>
                <a:srgbClr val="000000"/>
              </a:solidFill>
              <a:latin typeface="Arial"/>
            </a:endParaRPr>
          </a:p>
        </p:txBody>
      </p:sp>
      <p:sp>
        <p:nvSpPr>
          <p:cNvPr id="59" name="PlaceHolder 6"/>
          <p:cNvSpPr/>
          <p:nvPr/>
        </p:nvSpPr>
        <p:spPr>
          <a:xfrm>
            <a:off x="196560" y="1406520"/>
            <a:ext cx="9584280" cy="3974760"/>
          </a:xfrm>
          <a:prstGeom prst="rect">
            <a:avLst/>
          </a:prstGeom>
          <a:noFill/>
          <a:ln w="0">
            <a:noFill/>
          </a:ln>
        </p:spPr>
        <p:style>
          <a:lnRef idx="0"/>
          <a:fillRef idx="0"/>
          <a:effectRef idx="0"/>
          <a:fontRef idx="minor"/>
        </p:style>
        <p:txBody>
          <a:bodyPr lIns="0" rIns="0" tIns="0" bIns="0" anchor="t">
            <a:normAutofit/>
          </a:bodyPr>
          <a:p>
            <a:pPr defTabSz="914400">
              <a:lnSpc>
                <a:spcPct val="100000"/>
              </a:lnSpc>
            </a:pPr>
            <a:endParaRPr b="0" lang="en-US" sz="1800" spc="-1" strike="noStrike">
              <a:solidFill>
                <a:srgbClr val="000000"/>
              </a:solidFill>
              <a:latin typeface="Arial"/>
              <a:ea typeface="DejaVu Sans"/>
            </a:endParaRPr>
          </a:p>
        </p:txBody>
      </p:sp>
      <p:pic>
        <p:nvPicPr>
          <p:cNvPr id="60" name="Picture 53" descr=""/>
          <p:cNvPicPr/>
          <p:nvPr/>
        </p:nvPicPr>
        <p:blipFill>
          <a:blip r:embed="rId1"/>
          <a:stretch/>
        </p:blipFill>
        <p:spPr>
          <a:xfrm>
            <a:off x="1294560" y="1512000"/>
            <a:ext cx="7216560" cy="405684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dee6ef"/>
            </a:gs>
            <a:gs pos="100000">
              <a:srgbClr val="729fcf"/>
            </a:gs>
          </a:gsLst>
          <a:lin ang="3600000"/>
        </a:gra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549360" y="264600"/>
            <a:ext cx="9069480" cy="626040"/>
          </a:xfrm>
          <a:prstGeom prst="rect">
            <a:avLst/>
          </a:prstGeom>
          <a:noFill/>
          <a:ln w="0">
            <a:noFill/>
          </a:ln>
        </p:spPr>
        <p:txBody>
          <a:bodyPr lIns="0" rIns="0" tIns="0" bIns="0" anchor="ctr">
            <a:noAutofit/>
          </a:bodyPr>
          <a:p>
            <a:pPr indent="0" algn="ctr">
              <a:lnSpc>
                <a:spcPct val="100000"/>
              </a:lnSpc>
              <a:buNone/>
              <a:tabLst>
                <a:tab algn="l" pos="0"/>
              </a:tabLst>
            </a:pPr>
            <a:r>
              <a:rPr b="1" lang="en-US" sz="2100" spc="-1" strike="noStrike">
                <a:solidFill>
                  <a:srgbClr val="000000"/>
                </a:solidFill>
                <a:latin typeface="Arial"/>
              </a:rPr>
              <a:t>Importanta coloanelor features</a:t>
            </a:r>
            <a:endParaRPr b="0" lang="en-US" sz="2100" spc="-1" strike="noStrike">
              <a:solidFill>
                <a:srgbClr val="000000"/>
              </a:solidFill>
              <a:latin typeface="Arial"/>
            </a:endParaRPr>
          </a:p>
        </p:txBody>
      </p:sp>
      <p:sp>
        <p:nvSpPr>
          <p:cNvPr id="62" name="PlaceHolder 2"/>
          <p:cNvSpPr>
            <a:spLocks noGrp="1"/>
          </p:cNvSpPr>
          <p:nvPr>
            <p:ph/>
          </p:nvPr>
        </p:nvSpPr>
        <p:spPr>
          <a:xfrm>
            <a:off x="504000" y="891720"/>
            <a:ext cx="9156240" cy="475920"/>
          </a:xfrm>
          <a:prstGeom prst="rect">
            <a:avLst/>
          </a:prstGeom>
          <a:noFill/>
          <a:ln w="0">
            <a:noFill/>
          </a:ln>
        </p:spPr>
        <p:txBody>
          <a:bodyPr lIns="0" rIns="0" tIns="0" bIns="0" anchor="t">
            <a:normAutofit fontScale="96666" lnSpcReduction="10000"/>
          </a:bodyPr>
          <a:p>
            <a:pPr marL="432000" indent="0" defTabSz="914400">
              <a:lnSpc>
                <a:spcPct val="100000"/>
              </a:lnSpc>
              <a:spcBef>
                <a:spcPts val="1191"/>
              </a:spcBef>
              <a:spcAft>
                <a:spcPts val="992"/>
              </a:spcAft>
              <a:buNone/>
              <a:tabLst>
                <a:tab algn="l" pos="0"/>
              </a:tabLst>
            </a:pPr>
            <a:r>
              <a:rPr b="0" lang="en-US" sz="1200" spc="-1" strike="noStrike">
                <a:solidFill>
                  <a:srgbClr val="000000"/>
                </a:solidFill>
                <a:latin typeface="Arial"/>
                <a:ea typeface="DejaVu Sans"/>
              </a:rPr>
              <a:t>Graficul de mai jos indica proportia in care fiecare coloana feature intevine in calculul predictiei. Se observa ca intr-adevar cotele sunt cele care indica in mare parte castigatoarea unui meci, ele fiind deja calculate de bookmakeri si pe baza celorlalte coloane (pe langa alti factori)</a:t>
            </a:r>
            <a:endParaRPr b="0" lang="en-US" sz="1200" spc="-1" strike="noStrike">
              <a:solidFill>
                <a:srgbClr val="000000"/>
              </a:solidFill>
              <a:latin typeface="Arial"/>
            </a:endParaRPr>
          </a:p>
        </p:txBody>
      </p:sp>
      <p:sp>
        <p:nvSpPr>
          <p:cNvPr id="63" name="PlaceHolder 9"/>
          <p:cNvSpPr/>
          <p:nvPr/>
        </p:nvSpPr>
        <p:spPr>
          <a:xfrm>
            <a:off x="196560" y="1406520"/>
            <a:ext cx="9584280" cy="3974760"/>
          </a:xfrm>
          <a:prstGeom prst="rect">
            <a:avLst/>
          </a:prstGeom>
          <a:noFill/>
          <a:ln w="0">
            <a:noFill/>
          </a:ln>
        </p:spPr>
        <p:style>
          <a:lnRef idx="0"/>
          <a:fillRef idx="0"/>
          <a:effectRef idx="0"/>
          <a:fontRef idx="minor"/>
        </p:style>
        <p:txBody>
          <a:bodyPr lIns="0" rIns="0" tIns="0" bIns="0" anchor="t">
            <a:normAutofit/>
          </a:bodyPr>
          <a:p>
            <a:pPr defTabSz="914400">
              <a:lnSpc>
                <a:spcPct val="100000"/>
              </a:lnSpc>
            </a:pPr>
            <a:endParaRPr b="0" lang="en-US" sz="1800" spc="-1" strike="noStrike">
              <a:solidFill>
                <a:srgbClr val="000000"/>
              </a:solidFill>
              <a:latin typeface="Arial"/>
              <a:ea typeface="DejaVu Sans"/>
            </a:endParaRPr>
          </a:p>
        </p:txBody>
      </p:sp>
      <p:pic>
        <p:nvPicPr>
          <p:cNvPr id="64" name="Picture 57" descr=""/>
          <p:cNvPicPr/>
          <p:nvPr/>
        </p:nvPicPr>
        <p:blipFill>
          <a:blip r:embed="rId1"/>
          <a:stretch/>
        </p:blipFill>
        <p:spPr>
          <a:xfrm>
            <a:off x="432720" y="1765440"/>
            <a:ext cx="9295920" cy="361584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dee6ef"/>
            </a:gs>
            <a:gs pos="100000">
              <a:srgbClr val="729fcf"/>
            </a:gs>
          </a:gsLst>
          <a:lin ang="3600000"/>
        </a:gradFill>
      </p:bgPr>
    </p:bg>
    <p:spTree>
      <p:nvGrpSpPr>
        <p:cNvPr id="1" name=""/>
        <p:cNvGrpSpPr/>
        <p:nvPr/>
      </p:nvGrpSpPr>
      <p:grpSpPr>
        <a:xfrm>
          <a:off x="0" y="0"/>
          <a:ext cx="0" cy="0"/>
          <a:chOff x="0" y="0"/>
          <a:chExt cx="0" cy="0"/>
        </a:xfrm>
      </p:grpSpPr>
      <p:sp>
        <p:nvSpPr>
          <p:cNvPr id="65" name="PlaceHolder 1"/>
          <p:cNvSpPr>
            <a:spLocks noGrp="1"/>
          </p:cNvSpPr>
          <p:nvPr>
            <p:ph type="title"/>
          </p:nvPr>
        </p:nvSpPr>
        <p:spPr>
          <a:xfrm>
            <a:off x="504000" y="226080"/>
            <a:ext cx="9069480" cy="944280"/>
          </a:xfrm>
          <a:prstGeom prst="rect">
            <a:avLst/>
          </a:prstGeom>
          <a:noFill/>
          <a:ln w="0">
            <a:noFill/>
          </a:ln>
        </p:spPr>
        <p:txBody>
          <a:bodyPr lIns="0" rIns="0" tIns="0" bIns="0" anchor="ctr">
            <a:noAutofit/>
          </a:bodyPr>
          <a:p>
            <a:pPr indent="0" algn="ctr">
              <a:lnSpc>
                <a:spcPct val="100000"/>
              </a:lnSpc>
              <a:spcBef>
                <a:spcPts val="1417"/>
              </a:spcBef>
              <a:buNone/>
              <a:tabLst>
                <a:tab algn="l" pos="0"/>
              </a:tabLst>
            </a:pPr>
            <a:r>
              <a:rPr b="1" lang="en-US" sz="2100" spc="-1" strike="noStrike">
                <a:solidFill>
                  <a:srgbClr val="f10d0c"/>
                </a:solidFill>
                <a:latin typeface="Arial"/>
              </a:rPr>
              <a:t>ML DL Neuronal Network</a:t>
            </a:r>
            <a:endParaRPr b="0" lang="en-US" sz="2100" spc="-1" strike="noStrike">
              <a:solidFill>
                <a:srgbClr val="000000"/>
              </a:solidFill>
              <a:latin typeface="Arial"/>
            </a:endParaRPr>
          </a:p>
        </p:txBody>
      </p:sp>
      <p:sp>
        <p:nvSpPr>
          <p:cNvPr id="66" name="PlaceHolder 2"/>
          <p:cNvSpPr>
            <a:spLocks noGrp="1"/>
          </p:cNvSpPr>
          <p:nvPr>
            <p:ph/>
          </p:nvPr>
        </p:nvSpPr>
        <p:spPr>
          <a:xfrm>
            <a:off x="707040" y="1076760"/>
            <a:ext cx="5435640" cy="1185840"/>
          </a:xfrm>
          <a:prstGeom prst="rect">
            <a:avLst/>
          </a:prstGeom>
          <a:noFill/>
          <a:ln w="0">
            <a:noFill/>
          </a:ln>
        </p:spPr>
        <p:txBody>
          <a:bodyPr lIns="0" rIns="0" tIns="0" bIns="0" anchor="t">
            <a:normAutofit/>
          </a:bodyPr>
          <a:p>
            <a:pPr marL="432000" indent="0" defTabSz="914400">
              <a:lnSpc>
                <a:spcPct val="100000"/>
              </a:lnSpc>
              <a:spcBef>
                <a:spcPts val="57"/>
              </a:spcBef>
              <a:buNone/>
              <a:tabLst>
                <a:tab algn="l" pos="0"/>
              </a:tabLst>
            </a:pPr>
            <a:r>
              <a:rPr b="0" lang="en-US" sz="1000" spc="-1" strike="noStrike">
                <a:solidFill>
                  <a:srgbClr val="000000"/>
                </a:solidFill>
                <a:latin typeface="Arial"/>
                <a:ea typeface="DejaVu Sans"/>
              </a:rPr>
              <a:t>Reteaua Neuronala este definita de 3 hidden layere si un output layer cu activare softmax (folosita la clasificarea multiclasa) [x,y,z] (x+y+z=1, x,y,z&lt;1) </a:t>
            </a:r>
            <a:endParaRPr b="0" lang="en-US" sz="1000" spc="-1" strike="noStrike">
              <a:solidFill>
                <a:srgbClr val="000000"/>
              </a:solidFill>
              <a:latin typeface="Arial"/>
            </a:endParaRPr>
          </a:p>
          <a:p>
            <a:pPr marL="432000" indent="0" defTabSz="914400">
              <a:lnSpc>
                <a:spcPct val="100000"/>
              </a:lnSpc>
              <a:spcBef>
                <a:spcPts val="57"/>
              </a:spcBef>
              <a:buNone/>
              <a:tabLst>
                <a:tab algn="l" pos="0"/>
              </a:tabLst>
            </a:pPr>
            <a:endParaRPr b="0" lang="en-US" sz="1000" spc="-1" strike="noStrike">
              <a:solidFill>
                <a:srgbClr val="000000"/>
              </a:solidFill>
              <a:latin typeface="Arial"/>
            </a:endParaRPr>
          </a:p>
          <a:p>
            <a:pPr marL="432000" indent="0" defTabSz="914400">
              <a:lnSpc>
                <a:spcPct val="100000"/>
              </a:lnSpc>
              <a:spcBef>
                <a:spcPts val="57"/>
              </a:spcBef>
              <a:buNone/>
              <a:tabLst>
                <a:tab algn="l" pos="0"/>
              </a:tabLst>
            </a:pPr>
            <a:r>
              <a:rPr b="0" lang="en-US" sz="1000" spc="-1" strike="noStrike">
                <a:solidFill>
                  <a:srgbClr val="000000"/>
                </a:solidFill>
                <a:latin typeface="Arial"/>
                <a:ea typeface="Noto Sans CJK SC"/>
              </a:rPr>
              <a:t>model = Sequential([ Dense(units=64, activation='relu', input_shape=(X_train.shape[1],)), </a:t>
            </a:r>
            <a:endParaRPr b="0" lang="en-US" sz="1000" spc="-1" strike="noStrike">
              <a:solidFill>
                <a:srgbClr val="000000"/>
              </a:solidFill>
              <a:latin typeface="Arial"/>
            </a:endParaRPr>
          </a:p>
          <a:p>
            <a:pPr marL="432000" indent="0" defTabSz="914400">
              <a:lnSpc>
                <a:spcPct val="100000"/>
              </a:lnSpc>
              <a:spcBef>
                <a:spcPts val="57"/>
              </a:spcBef>
              <a:buNone/>
              <a:tabLst>
                <a:tab algn="l" pos="0"/>
              </a:tabLst>
            </a:pPr>
            <a:r>
              <a:rPr b="0" lang="en-US" sz="1000" spc="-1" strike="noStrike">
                <a:solidFill>
                  <a:srgbClr val="000000"/>
                </a:solidFill>
                <a:latin typeface="Arial"/>
                <a:ea typeface="Noto Sans CJK SC"/>
              </a:rPr>
              <a:t>         </a:t>
            </a:r>
            <a:r>
              <a:rPr b="0" lang="en-US" sz="1000" spc="-1" strike="noStrike">
                <a:solidFill>
                  <a:srgbClr val="000000"/>
                </a:solidFill>
                <a:latin typeface="Arial"/>
                <a:ea typeface="Noto Sans CJK SC"/>
              </a:rPr>
              <a:t>Dense(units=32,activation='relu'), </a:t>
            </a:r>
            <a:endParaRPr b="0" lang="en-US" sz="1000" spc="-1" strike="noStrike">
              <a:solidFill>
                <a:srgbClr val="000000"/>
              </a:solidFill>
              <a:latin typeface="Arial"/>
            </a:endParaRPr>
          </a:p>
          <a:p>
            <a:pPr marL="432000" indent="0" defTabSz="914400">
              <a:lnSpc>
                <a:spcPct val="100000"/>
              </a:lnSpc>
              <a:spcBef>
                <a:spcPts val="57"/>
              </a:spcBef>
              <a:buNone/>
              <a:tabLst>
                <a:tab algn="l" pos="0"/>
              </a:tabLst>
            </a:pPr>
            <a:r>
              <a:rPr b="0" lang="en-US" sz="1000" spc="-1" strike="noStrike">
                <a:solidFill>
                  <a:srgbClr val="000000"/>
                </a:solidFill>
                <a:latin typeface="Arial"/>
                <a:ea typeface="Noto Sans CJK SC"/>
              </a:rPr>
              <a:t>         </a:t>
            </a:r>
            <a:r>
              <a:rPr b="0" lang="en-US" sz="1000" spc="-1" strike="noStrike">
                <a:solidFill>
                  <a:srgbClr val="000000"/>
                </a:solidFill>
                <a:latin typeface="Arial"/>
                <a:ea typeface="Noto Sans CJK SC"/>
              </a:rPr>
              <a:t>Dense(units=16,activation='relu'), </a:t>
            </a:r>
            <a:endParaRPr b="0" lang="en-US" sz="1000" spc="-1" strike="noStrike">
              <a:solidFill>
                <a:srgbClr val="000000"/>
              </a:solidFill>
              <a:latin typeface="Arial"/>
            </a:endParaRPr>
          </a:p>
          <a:p>
            <a:pPr marL="432000" indent="0" defTabSz="914400">
              <a:lnSpc>
                <a:spcPct val="100000"/>
              </a:lnSpc>
              <a:spcBef>
                <a:spcPts val="57"/>
              </a:spcBef>
              <a:buNone/>
              <a:tabLst>
                <a:tab algn="l" pos="0"/>
              </a:tabLst>
            </a:pPr>
            <a:r>
              <a:rPr b="0" lang="en-US" sz="1000" spc="-1" strike="noStrike">
                <a:solidFill>
                  <a:srgbClr val="000000"/>
                </a:solidFill>
                <a:latin typeface="Arial"/>
                <a:ea typeface="Noto Sans CJK SC"/>
              </a:rPr>
              <a:t>         </a:t>
            </a:r>
            <a:r>
              <a:rPr b="0" lang="en-US" sz="1000" spc="-1" strike="noStrike">
                <a:solidFill>
                  <a:srgbClr val="000000"/>
                </a:solidFill>
                <a:latin typeface="Arial"/>
                <a:ea typeface="Noto Sans CJK SC"/>
              </a:rPr>
              <a:t>Dense(units=3, activation='softmax') ])</a:t>
            </a:r>
            <a:endParaRPr b="0" lang="en-US" sz="1000" spc="-1" strike="noStrike">
              <a:solidFill>
                <a:srgbClr val="000000"/>
              </a:solidFill>
              <a:latin typeface="Arial"/>
            </a:endParaRPr>
          </a:p>
        </p:txBody>
      </p:sp>
      <p:sp>
        <p:nvSpPr>
          <p:cNvPr id="67" name="Rectangle 60"/>
          <p:cNvSpPr/>
          <p:nvPr/>
        </p:nvSpPr>
        <p:spPr>
          <a:xfrm>
            <a:off x="843480" y="2287440"/>
            <a:ext cx="4986720" cy="771480"/>
          </a:xfrm>
          <a:prstGeom prst="rect">
            <a:avLst/>
          </a:prstGeom>
          <a:noFill/>
          <a:ln w="0">
            <a:noFill/>
          </a:ln>
        </p:spPr>
        <p:style>
          <a:lnRef idx="0"/>
          <a:fillRef idx="0"/>
          <a:effectRef idx="0"/>
          <a:fontRef idx="minor"/>
        </p:style>
        <p:txBody>
          <a:bodyPr lIns="0" rIns="0" tIns="0" bIns="0" anchor="t">
            <a:normAutofit fontScale="96666" lnSpcReduction="20000"/>
          </a:bodyPr>
          <a:p>
            <a:pPr marL="432000" indent="-324000" defTabSz="914400">
              <a:lnSpc>
                <a:spcPct val="100000"/>
              </a:lnSpc>
              <a:spcBef>
                <a:spcPts val="57"/>
              </a:spcBef>
              <a:buClr>
                <a:srgbClr val="000000"/>
              </a:buClr>
              <a:buSzPct val="45000"/>
              <a:buFont typeface="Wingdings" charset="2"/>
              <a:buChar char=""/>
            </a:pPr>
            <a:r>
              <a:rPr b="1" lang="en-US" sz="1000" spc="-1" strike="noStrike">
                <a:solidFill>
                  <a:srgbClr val="000000"/>
                </a:solidFill>
                <a:latin typeface="Arial"/>
                <a:ea typeface="Noto Sans CJK SC"/>
              </a:rPr>
              <a:t>Hyperparametri</a:t>
            </a:r>
            <a:endParaRPr b="0" lang="en-US" sz="1000" spc="-1" strike="noStrike">
              <a:solidFill>
                <a:srgbClr val="000000"/>
              </a:solidFill>
              <a:latin typeface="Arial"/>
            </a:endParaRPr>
          </a:p>
          <a:p>
            <a:pPr marL="432000" indent="-324000" defTabSz="914400">
              <a:lnSpc>
                <a:spcPct val="100000"/>
              </a:lnSpc>
              <a:spcBef>
                <a:spcPts val="57"/>
              </a:spcBef>
              <a:buClr>
                <a:srgbClr val="000000"/>
              </a:buClr>
              <a:buSzPct val="45000"/>
              <a:buFont typeface="Wingdings" charset="2"/>
              <a:buChar char=""/>
            </a:pPr>
            <a:r>
              <a:rPr b="1" lang="en-US" sz="1000" spc="-1" strike="noStrike">
                <a:solidFill>
                  <a:srgbClr val="000000"/>
                </a:solidFill>
                <a:latin typeface="Arial"/>
                <a:ea typeface="Noto Sans CJK SC"/>
              </a:rPr>
              <a:t>batch_size= 16 (cu 32 e mai bine)</a:t>
            </a:r>
            <a:r>
              <a:rPr b="0" lang="en-US" sz="1000" spc="-1" strike="noStrike">
                <a:solidFill>
                  <a:srgbClr val="000000"/>
                </a:solidFill>
                <a:latin typeface="Arial"/>
                <a:ea typeface="Noto Sans CJK SC"/>
              </a:rPr>
              <a:t> (</a:t>
            </a:r>
            <a:r>
              <a:rPr b="0" i="1" lang="en-US" sz="1000" spc="-1" strike="noStrike">
                <a:solidFill>
                  <a:srgbClr val="000000"/>
                </a:solidFill>
                <a:latin typeface="Arial"/>
                <a:ea typeface="Noto Sans CJK SC"/>
              </a:rPr>
              <a:t>cate exemple din setul de antrenare sunt procesate inainte ca reteaua sa-si actualizeze weights-urile)</a:t>
            </a:r>
            <a:endParaRPr b="0" lang="en-US" sz="1000" spc="-1" strike="noStrike">
              <a:solidFill>
                <a:srgbClr val="000000"/>
              </a:solidFill>
              <a:latin typeface="Arial"/>
            </a:endParaRPr>
          </a:p>
          <a:p>
            <a:pPr marL="432000" indent="-324000" defTabSz="914400">
              <a:lnSpc>
                <a:spcPct val="100000"/>
              </a:lnSpc>
              <a:spcBef>
                <a:spcPts val="57"/>
              </a:spcBef>
              <a:buClr>
                <a:srgbClr val="000000"/>
              </a:buClr>
              <a:buSzPct val="45000"/>
              <a:buFont typeface="Wingdings" charset="2"/>
              <a:buChar char=""/>
            </a:pPr>
            <a:r>
              <a:rPr b="1" lang="en-US" sz="1000" spc="-1" strike="noStrike">
                <a:solidFill>
                  <a:srgbClr val="000000"/>
                </a:solidFill>
                <a:latin typeface="Arial"/>
                <a:ea typeface="Noto Sans CJK SC"/>
              </a:rPr>
              <a:t>Epochs = 5</a:t>
            </a:r>
            <a:r>
              <a:rPr b="0" lang="en-US" sz="1000" spc="-1" strike="noStrike">
                <a:solidFill>
                  <a:srgbClr val="000000"/>
                </a:solidFill>
                <a:latin typeface="Arial"/>
                <a:ea typeface="Noto Sans CJK SC"/>
              </a:rPr>
              <a:t> (</a:t>
            </a:r>
            <a:r>
              <a:rPr b="0" i="1" lang="en-US" sz="1000" spc="-1" strike="noStrike">
                <a:solidFill>
                  <a:srgbClr val="000000"/>
                </a:solidFill>
                <a:latin typeface="Arial"/>
                <a:ea typeface="Noto Sans CJK SC"/>
              </a:rPr>
              <a:t>treceri complete prin setul de antrenare)</a:t>
            </a:r>
            <a:endParaRPr b="0" lang="en-US" sz="1000" spc="-1" strike="noStrike">
              <a:solidFill>
                <a:srgbClr val="000000"/>
              </a:solidFill>
              <a:latin typeface="Arial"/>
            </a:endParaRPr>
          </a:p>
          <a:p>
            <a:pPr marL="432000" indent="-324000" defTabSz="914400">
              <a:lnSpc>
                <a:spcPct val="100000"/>
              </a:lnSpc>
              <a:spcBef>
                <a:spcPts val="57"/>
              </a:spcBef>
              <a:buClr>
                <a:srgbClr val="000000"/>
              </a:buClr>
              <a:buSzPct val="45000"/>
              <a:buFont typeface="Wingdings" charset="2"/>
              <a:buChar char=""/>
            </a:pPr>
            <a:r>
              <a:rPr b="1" lang="en-US" sz="1000" spc="-1" strike="noStrike">
                <a:solidFill>
                  <a:srgbClr val="000000"/>
                </a:solidFill>
                <a:latin typeface="Arial"/>
                <a:ea typeface="Noto Sans CJK SC"/>
              </a:rPr>
              <a:t>learning_rate=0.001 </a:t>
            </a:r>
            <a:r>
              <a:rPr b="0" i="1" lang="en-US" sz="1000" spc="-1" strike="noStrike">
                <a:solidFill>
                  <a:srgbClr val="000000"/>
                </a:solidFill>
                <a:latin typeface="Arial"/>
                <a:ea typeface="Noto Sans CJK SC"/>
              </a:rPr>
              <a:t>(rata de invatare weights = weights – learning_rate * gradient)</a:t>
            </a:r>
            <a:endParaRPr b="0" lang="en-US" sz="1000" spc="-1" strike="noStrike">
              <a:solidFill>
                <a:srgbClr val="000000"/>
              </a:solidFill>
              <a:latin typeface="Arial"/>
            </a:endParaRPr>
          </a:p>
        </p:txBody>
      </p:sp>
      <p:sp>
        <p:nvSpPr>
          <p:cNvPr id="68" name="Rectangle 61"/>
          <p:cNvSpPr/>
          <p:nvPr/>
        </p:nvSpPr>
        <p:spPr>
          <a:xfrm>
            <a:off x="820080" y="3270960"/>
            <a:ext cx="4174920" cy="669960"/>
          </a:xfrm>
          <a:prstGeom prst="rect">
            <a:avLst/>
          </a:prstGeom>
          <a:noFill/>
          <a:ln w="0">
            <a:noFill/>
          </a:ln>
        </p:spPr>
        <p:style>
          <a:lnRef idx="0"/>
          <a:fillRef idx="0"/>
          <a:effectRef idx="0"/>
          <a:fontRef idx="minor"/>
        </p:style>
        <p:txBody>
          <a:bodyPr lIns="0" rIns="0" tIns="0" bIns="0" anchor="t">
            <a:normAutofit/>
          </a:bodyPr>
          <a:p>
            <a:pPr marL="432000" indent="-324000" defTabSz="914400">
              <a:lnSpc>
                <a:spcPct val="100000"/>
              </a:lnSpc>
              <a:spcBef>
                <a:spcPts val="57"/>
              </a:spcBef>
              <a:buClr>
                <a:srgbClr val="000000"/>
              </a:buClr>
              <a:buSzPct val="45000"/>
              <a:buFont typeface="Wingdings" charset="2"/>
              <a:buChar char=""/>
            </a:pPr>
            <a:r>
              <a:rPr b="1" lang="en-US" sz="1000" spc="-1" strike="noStrike">
                <a:solidFill>
                  <a:srgbClr val="000000"/>
                </a:solidFill>
                <a:latin typeface="Arial"/>
                <a:ea typeface="Noto Sans CJK SC"/>
              </a:rPr>
              <a:t>early_stopping</a:t>
            </a:r>
            <a:r>
              <a:rPr b="0" lang="en-US" sz="1000" spc="-1" strike="noStrike">
                <a:solidFill>
                  <a:srgbClr val="000000"/>
                </a:solidFill>
                <a:latin typeface="Arial"/>
                <a:ea typeface="Noto Sans CJK SC"/>
              </a:rPr>
              <a:t> = EarlyStopping( monitor='val_loss', patience=5, restore_best_weights=True )</a:t>
            </a:r>
            <a:endParaRPr b="0" lang="en-US" sz="1000" spc="-1" strike="noStrike">
              <a:solidFill>
                <a:srgbClr val="000000"/>
              </a:solidFill>
              <a:latin typeface="Arial"/>
            </a:endParaRPr>
          </a:p>
          <a:p>
            <a:pPr marL="432000" indent="-324000" defTabSz="914400">
              <a:lnSpc>
                <a:spcPct val="100000"/>
              </a:lnSpc>
              <a:spcBef>
                <a:spcPts val="57"/>
              </a:spcBef>
              <a:buClr>
                <a:srgbClr val="000000"/>
              </a:buClr>
              <a:buSzPct val="45000"/>
              <a:buFont typeface="Wingdings" charset="2"/>
              <a:buChar char=""/>
            </a:pPr>
            <a:r>
              <a:rPr b="0" i="1" lang="en-US" sz="1000" spc="-1" strike="noStrike">
                <a:solidFill>
                  <a:srgbClr val="000000"/>
                </a:solidFill>
                <a:latin typeface="Arial"/>
                <a:ea typeface="Noto Sans CJK SC"/>
              </a:rPr>
              <a:t>Procesul de invatare se opreste daca timp de 5 epochs nu se imbunatateste valoare dorita (loss)</a:t>
            </a:r>
            <a:endParaRPr b="0" lang="en-US" sz="1000" spc="-1" strike="noStrike">
              <a:solidFill>
                <a:srgbClr val="000000"/>
              </a:solidFill>
              <a:latin typeface="Arial"/>
            </a:endParaRPr>
          </a:p>
        </p:txBody>
      </p:sp>
      <p:sp>
        <p:nvSpPr>
          <p:cNvPr id="69" name="Rectangle 62"/>
          <p:cNvSpPr/>
          <p:nvPr/>
        </p:nvSpPr>
        <p:spPr>
          <a:xfrm>
            <a:off x="5715360" y="2388960"/>
            <a:ext cx="3698640" cy="669960"/>
          </a:xfrm>
          <a:prstGeom prst="rect">
            <a:avLst/>
          </a:prstGeom>
          <a:noFill/>
          <a:ln w="0">
            <a:noFill/>
          </a:ln>
        </p:spPr>
        <p:style>
          <a:lnRef idx="0"/>
          <a:fillRef idx="0"/>
          <a:effectRef idx="0"/>
          <a:fontRef idx="minor"/>
        </p:style>
        <p:txBody>
          <a:bodyPr lIns="0" rIns="0" tIns="0" bIns="0" anchor="t">
            <a:normAutofit fontScale="87222" lnSpcReduction="10000"/>
          </a:bodyPr>
          <a:p>
            <a:pPr marL="432000" indent="-324000" defTabSz="914400">
              <a:lnSpc>
                <a:spcPct val="100000"/>
              </a:lnSpc>
              <a:spcBef>
                <a:spcPts val="340"/>
              </a:spcBef>
              <a:spcAft>
                <a:spcPts val="142"/>
              </a:spcAft>
              <a:buClr>
                <a:srgbClr val="000000"/>
              </a:buClr>
              <a:buSzPct val="45000"/>
              <a:buFont typeface="Wingdings" charset="2"/>
              <a:buChar char=""/>
            </a:pPr>
            <a:r>
              <a:rPr b="1" lang="en-US" sz="1000" spc="-1" strike="noStrike">
                <a:solidFill>
                  <a:srgbClr val="000000"/>
                </a:solidFill>
                <a:latin typeface="Arial"/>
                <a:ea typeface="Noto Sans CJK SC"/>
              </a:rPr>
              <a:t>class_weights =</a:t>
            </a:r>
            <a:r>
              <a:rPr b="0" lang="en-US" sz="1000" spc="-1" strike="noStrike">
                <a:solidFill>
                  <a:srgbClr val="000000"/>
                </a:solidFill>
                <a:latin typeface="Arial"/>
                <a:ea typeface="Noto Sans CJK SC"/>
              </a:rPr>
              <a:t> compute_class_weight( class_weight='balanced', classes=np.array([0,1,2]), y=y_train)</a:t>
            </a:r>
            <a:endParaRPr b="0" lang="en-US" sz="1000" spc="-1" strike="noStrike">
              <a:solidFill>
                <a:srgbClr val="000000"/>
              </a:solidFill>
              <a:latin typeface="Arial"/>
            </a:endParaRPr>
          </a:p>
          <a:p>
            <a:pPr marL="432000" indent="-324000" defTabSz="914400">
              <a:lnSpc>
                <a:spcPct val="100000"/>
              </a:lnSpc>
              <a:spcBef>
                <a:spcPts val="340"/>
              </a:spcBef>
              <a:spcAft>
                <a:spcPts val="142"/>
              </a:spcAft>
              <a:buClr>
                <a:srgbClr val="000000"/>
              </a:buClr>
              <a:buSzPct val="45000"/>
              <a:buFont typeface="Wingdings" charset="2"/>
              <a:buChar char=""/>
            </a:pPr>
            <a:r>
              <a:rPr b="0" i="1" lang="en-US" sz="1000" spc="-1" strike="noStrike">
                <a:solidFill>
                  <a:srgbClr val="000000"/>
                </a:solidFill>
                <a:latin typeface="Arial"/>
                <a:ea typeface="Noto Sans CJK SC"/>
              </a:rPr>
              <a:t>Se calculeaza weigths-urile pentru fiecare clasa in parte (care e rata de aparitie a fiecarui tip de rezultat)</a:t>
            </a:r>
            <a:endParaRPr b="0" lang="en-US" sz="1000" spc="-1" strike="noStrike">
              <a:solidFill>
                <a:srgbClr val="000000"/>
              </a:solidFill>
              <a:latin typeface="Arial"/>
            </a:endParaRPr>
          </a:p>
        </p:txBody>
      </p:sp>
      <p:sp>
        <p:nvSpPr>
          <p:cNvPr id="70" name="Rectangle 63"/>
          <p:cNvSpPr/>
          <p:nvPr/>
        </p:nvSpPr>
        <p:spPr>
          <a:xfrm>
            <a:off x="650160" y="4246920"/>
            <a:ext cx="8942040" cy="1122480"/>
          </a:xfrm>
          <a:prstGeom prst="rect">
            <a:avLst/>
          </a:prstGeom>
          <a:noFill/>
          <a:ln w="0">
            <a:noFill/>
          </a:ln>
        </p:spPr>
        <p:style>
          <a:lnRef idx="0"/>
          <a:fillRef idx="0"/>
          <a:effectRef idx="0"/>
          <a:fontRef idx="minor"/>
        </p:style>
        <p:txBody>
          <a:bodyPr lIns="0" rIns="0" tIns="0" bIns="0" anchor="t">
            <a:normAutofit/>
          </a:bodyPr>
          <a:p>
            <a:pPr marL="432000" indent="-324000" defTabSz="914400">
              <a:lnSpc>
                <a:spcPct val="100000"/>
              </a:lnSpc>
              <a:spcBef>
                <a:spcPts val="1191"/>
              </a:spcBef>
              <a:spcAft>
                <a:spcPts val="992"/>
              </a:spcAft>
              <a:buClr>
                <a:srgbClr val="000000"/>
              </a:buClr>
              <a:buSzPct val="45000"/>
              <a:buFont typeface="Wingdings" charset="2"/>
              <a:buChar char=""/>
            </a:pPr>
            <a:r>
              <a:rPr b="0" lang="en-US" sz="1200" spc="-1" strike="noStrike">
                <a:solidFill>
                  <a:srgbClr val="000000"/>
                </a:solidFill>
                <a:highlight>
                  <a:srgbClr val="ffff00"/>
                </a:highlight>
                <a:latin typeface="Arial"/>
                <a:ea typeface="Noto Sans CJK SC"/>
              </a:rPr>
              <a:t>{'gazde': {'precision': 0.582089552238806</a:t>
            </a:r>
            <a:r>
              <a:rPr b="0" lang="en-US" sz="1200" spc="-1" strike="noStrike">
                <a:solidFill>
                  <a:srgbClr val="000000"/>
                </a:solidFill>
                <a:latin typeface="Arial"/>
                <a:ea typeface="Noto Sans CJK SC"/>
              </a:rPr>
              <a:t>, 'recall': 0.5643564356435643, 'f1-score': 0.5730858468677494, 'support': 1313.0}, </a:t>
            </a:r>
            <a:r>
              <a:rPr b="0" lang="en-US" sz="1200" spc="-1" strike="noStrike">
                <a:solidFill>
                  <a:srgbClr val="000000"/>
                </a:solidFill>
                <a:highlight>
                  <a:srgbClr val="ffff00"/>
                </a:highlight>
                <a:latin typeface="Arial"/>
                <a:ea typeface="Noto Sans CJK SC"/>
              </a:rPr>
              <a:t>'egalitate': {'precision': 0.29634831460674155,</a:t>
            </a:r>
            <a:r>
              <a:rPr b="0" lang="en-US" sz="1200" spc="-1" strike="noStrike">
                <a:solidFill>
                  <a:srgbClr val="000000"/>
                </a:solidFill>
                <a:latin typeface="Arial"/>
                <a:ea typeface="Noto Sans CJK SC"/>
              </a:rPr>
              <a:t> 'recall': 0.2743823146944083, 'f1-score': 0.2849426063470628, 'support': 769.0}, </a:t>
            </a:r>
            <a:r>
              <a:rPr b="0" lang="en-US" sz="1200" spc="-1" strike="noStrike">
                <a:solidFill>
                  <a:srgbClr val="000000"/>
                </a:solidFill>
                <a:highlight>
                  <a:srgbClr val="ffff00"/>
                </a:highlight>
                <a:latin typeface="Arial"/>
                <a:ea typeface="Noto Sans CJK SC"/>
              </a:rPr>
              <a:t>'oaspeti': {'precision': 0.46100691016781836</a:t>
            </a:r>
            <a:r>
              <a:rPr b="0" lang="en-US" sz="1200" spc="-1" strike="noStrike">
                <a:solidFill>
                  <a:srgbClr val="000000"/>
                </a:solidFill>
                <a:latin typeface="Arial"/>
                <a:ea typeface="Noto Sans CJK SC"/>
              </a:rPr>
              <a:t>, 'recall': 0.509825327510917, 'f1-score': 0.48418869880767235, 'support': 916.0}, 'accuracy': 0.4733155436957972, 'macro avg': {'precision': 0.44648159233778867, 'recall': 0.4495213592829632, 'f1-score': 0.4474057173408282, 'support': 2998.0}, 'weighted avg': {'precision': 0.47180045554898536, 'recall': 0.4733155436957972, 'f1-score': 0.47201448609942437, 'support': 2998.0}}</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dee6ef"/>
            </a:gs>
            <a:gs pos="100000">
              <a:srgbClr val="729fcf"/>
            </a:gs>
          </a:gsLst>
          <a:lin ang="3600000"/>
        </a:gradFill>
      </p:bgPr>
    </p:bg>
    <p:spTree>
      <p:nvGrpSpPr>
        <p:cNvPr id="1" name=""/>
        <p:cNvGrpSpPr/>
        <p:nvPr/>
      </p:nvGrpSpPr>
      <p:grpSpPr>
        <a:xfrm>
          <a:off x="0" y="0"/>
          <a:ext cx="0" cy="0"/>
          <a:chOff x="0" y="0"/>
          <a:chExt cx="0" cy="0"/>
        </a:xfrm>
      </p:grpSpPr>
      <p:sp>
        <p:nvSpPr>
          <p:cNvPr id="71" name="PlaceHolder 1"/>
          <p:cNvSpPr>
            <a:spLocks noGrp="1"/>
          </p:cNvSpPr>
          <p:nvPr>
            <p:ph type="title"/>
          </p:nvPr>
        </p:nvSpPr>
        <p:spPr>
          <a:xfrm>
            <a:off x="504000" y="226080"/>
            <a:ext cx="9069480" cy="944280"/>
          </a:xfrm>
          <a:prstGeom prst="rect">
            <a:avLst/>
          </a:prstGeom>
          <a:noFill/>
          <a:ln w="0">
            <a:noFill/>
          </a:ln>
        </p:spPr>
        <p:txBody>
          <a:bodyPr lIns="0" rIns="0" tIns="0" bIns="0" anchor="ctr">
            <a:noAutofit/>
          </a:bodyPr>
          <a:p>
            <a:pPr indent="0" algn="ctr">
              <a:lnSpc>
                <a:spcPct val="100000"/>
              </a:lnSpc>
              <a:spcBef>
                <a:spcPts val="1417"/>
              </a:spcBef>
              <a:buNone/>
              <a:tabLst>
                <a:tab algn="l" pos="0"/>
              </a:tabLst>
            </a:pPr>
            <a:r>
              <a:rPr b="1" lang="en-US" sz="2100" spc="-1" strike="noStrike">
                <a:solidFill>
                  <a:srgbClr val="f10d0c"/>
                </a:solidFill>
                <a:latin typeface="Arial"/>
              </a:rPr>
              <a:t>ML DecisionTree</a:t>
            </a:r>
            <a:endParaRPr b="0" lang="en-US" sz="2100" spc="-1" strike="noStrike">
              <a:solidFill>
                <a:srgbClr val="000000"/>
              </a:solidFill>
              <a:latin typeface="Arial"/>
            </a:endParaRPr>
          </a:p>
        </p:txBody>
      </p:sp>
      <p:sp>
        <p:nvSpPr>
          <p:cNvPr id="72" name="PlaceHolder 2"/>
          <p:cNvSpPr>
            <a:spLocks noGrp="1"/>
          </p:cNvSpPr>
          <p:nvPr>
            <p:ph/>
          </p:nvPr>
        </p:nvSpPr>
        <p:spPr>
          <a:xfrm>
            <a:off x="504000" y="1326600"/>
            <a:ext cx="4389480" cy="943560"/>
          </a:xfrm>
          <a:prstGeom prst="rect">
            <a:avLst/>
          </a:prstGeom>
          <a:noFill/>
          <a:ln w="0">
            <a:noFill/>
          </a:ln>
        </p:spPr>
        <p:txBody>
          <a:bodyPr lIns="0" rIns="0" tIns="0" bIns="0" anchor="t">
            <a:normAutofit/>
          </a:bodyPr>
          <a:p>
            <a:pPr marL="432000" indent="0" defTabSz="914400">
              <a:lnSpc>
                <a:spcPct val="100000"/>
              </a:lnSpc>
              <a:spcBef>
                <a:spcPts val="1191"/>
              </a:spcBef>
              <a:spcAft>
                <a:spcPts val="992"/>
              </a:spcAft>
              <a:buNone/>
              <a:tabLst>
                <a:tab algn="l" pos="0"/>
              </a:tabLst>
            </a:pPr>
            <a:r>
              <a:rPr b="1" lang="en-US" sz="1200" spc="-1" strike="noStrike">
                <a:solidFill>
                  <a:srgbClr val="000000"/>
                </a:solidFill>
                <a:latin typeface="Arial"/>
                <a:ea typeface="DejaVu Sans"/>
              </a:rPr>
              <a:t>Un Decision Tree (Arbore de decizie) este unul dintre cele mai simple și intuitive modele de Machine Learning.Este un proces de punere de întrebări succesive ca să ajungă la o clasificare.</a:t>
            </a:r>
            <a:endParaRPr b="0" lang="en-US" sz="1200" spc="-1" strike="noStrike">
              <a:solidFill>
                <a:srgbClr val="000000"/>
              </a:solidFill>
              <a:latin typeface="Arial"/>
            </a:endParaRPr>
          </a:p>
          <a:p>
            <a:pPr marL="432000" indent="0" defTabSz="914400">
              <a:lnSpc>
                <a:spcPct val="100000"/>
              </a:lnSpc>
              <a:spcBef>
                <a:spcPts val="1191"/>
              </a:spcBef>
              <a:spcAft>
                <a:spcPts val="992"/>
              </a:spcAft>
              <a:buNone/>
              <a:tabLst>
                <a:tab algn="l" pos="0"/>
              </a:tabLst>
            </a:pPr>
            <a:endParaRPr b="0" lang="en-US" sz="2200" spc="-1" strike="noStrike">
              <a:solidFill>
                <a:srgbClr val="000000"/>
              </a:solidFill>
              <a:latin typeface="Arial"/>
            </a:endParaRPr>
          </a:p>
        </p:txBody>
      </p:sp>
      <p:sp>
        <p:nvSpPr>
          <p:cNvPr id="73" name="Rectangle 66"/>
          <p:cNvSpPr/>
          <p:nvPr/>
        </p:nvSpPr>
        <p:spPr>
          <a:xfrm>
            <a:off x="5485680" y="1172160"/>
            <a:ext cx="3741120" cy="1614240"/>
          </a:xfrm>
          <a:prstGeom prst="rect">
            <a:avLst/>
          </a:prstGeom>
          <a:noFill/>
          <a:ln w="0">
            <a:noFill/>
          </a:ln>
        </p:spPr>
        <p:style>
          <a:lnRef idx="0"/>
          <a:fillRef idx="0"/>
          <a:effectRef idx="0"/>
          <a:fontRef idx="minor"/>
        </p:style>
        <p:txBody>
          <a:bodyPr lIns="0" rIns="0" tIns="0" bIns="0" anchor="t">
            <a:normAutofit/>
          </a:bodyPr>
          <a:p>
            <a:pPr marL="432000" indent="-324000" defTabSz="914400">
              <a:lnSpc>
                <a:spcPct val="100000"/>
              </a:lnSpc>
              <a:spcBef>
                <a:spcPts val="340"/>
              </a:spcBef>
              <a:spcAft>
                <a:spcPts val="142"/>
              </a:spcAft>
              <a:buClr>
                <a:srgbClr val="000000"/>
              </a:buClr>
              <a:buSzPct val="45000"/>
              <a:buFont typeface="Wingdings" charset="2"/>
              <a:buChar char=""/>
            </a:pPr>
            <a:r>
              <a:rPr b="1" lang="en-US" sz="2200" spc="-1" strike="noStrike">
                <a:solidFill>
                  <a:srgbClr val="000000"/>
                </a:solidFill>
                <a:latin typeface="Arial"/>
                <a:ea typeface="Noto Sans CJK SC"/>
              </a:rPr>
              <a:t>Ce face arborele?</a:t>
            </a:r>
            <a:endParaRPr b="0" lang="en-US" sz="2200" spc="-1" strike="noStrike">
              <a:solidFill>
                <a:srgbClr val="000000"/>
              </a:solidFill>
              <a:latin typeface="Arial"/>
            </a:endParaRPr>
          </a:p>
          <a:p>
            <a:pPr marL="432000" indent="-324000" defTabSz="914400">
              <a:lnSpc>
                <a:spcPct val="100000"/>
              </a:lnSpc>
              <a:spcBef>
                <a:spcPts val="57"/>
              </a:spcBef>
              <a:buClr>
                <a:srgbClr val="000000"/>
              </a:buClr>
              <a:buSzPct val="45000"/>
              <a:buFont typeface="Wingdings" charset="2"/>
              <a:buChar char=""/>
            </a:pPr>
            <a:r>
              <a:rPr b="0" lang="en-US" sz="1000" spc="-1" strike="noStrike">
                <a:solidFill>
                  <a:srgbClr val="000000"/>
                </a:solidFill>
                <a:latin typeface="Arial"/>
                <a:ea typeface="Noto Sans CJK SC"/>
              </a:rPr>
              <a:t>Pentru un meci nou:</a:t>
            </a:r>
            <a:endParaRPr b="0" lang="en-US" sz="1000" spc="-1" strike="noStrike">
              <a:solidFill>
                <a:srgbClr val="000000"/>
              </a:solidFill>
              <a:latin typeface="Arial"/>
            </a:endParaRPr>
          </a:p>
          <a:p>
            <a:pPr marL="432000" indent="-324000" defTabSz="914400">
              <a:lnSpc>
                <a:spcPct val="100000"/>
              </a:lnSpc>
              <a:spcBef>
                <a:spcPts val="57"/>
              </a:spcBef>
              <a:buClr>
                <a:srgbClr val="000000"/>
              </a:buClr>
              <a:buSzPct val="45000"/>
              <a:buFont typeface="Wingdings" charset="2"/>
              <a:buChar char=""/>
            </a:pPr>
            <a:r>
              <a:rPr b="0" lang="en-US" sz="1000" spc="-1" strike="noStrike">
                <a:solidFill>
                  <a:srgbClr val="000000"/>
                </a:solidFill>
                <a:latin typeface="Arial"/>
                <a:ea typeface="Noto Sans CJK SC"/>
              </a:rPr>
              <a:t>Ia valoarea B365H</a:t>
            </a:r>
            <a:endParaRPr b="0" lang="en-US" sz="1000" spc="-1" strike="noStrike">
              <a:solidFill>
                <a:srgbClr val="000000"/>
              </a:solidFill>
              <a:latin typeface="Arial"/>
            </a:endParaRPr>
          </a:p>
          <a:p>
            <a:pPr marL="432000" indent="-324000" defTabSz="914400">
              <a:lnSpc>
                <a:spcPct val="100000"/>
              </a:lnSpc>
              <a:spcBef>
                <a:spcPts val="57"/>
              </a:spcBef>
              <a:buClr>
                <a:srgbClr val="000000"/>
              </a:buClr>
              <a:buSzPct val="45000"/>
              <a:buFont typeface="Wingdings" charset="2"/>
              <a:buChar char=""/>
            </a:pPr>
            <a:r>
              <a:rPr b="0" lang="en-US" sz="1000" spc="-1" strike="noStrike">
                <a:solidFill>
                  <a:srgbClr val="000000"/>
                </a:solidFill>
                <a:latin typeface="Arial"/>
                <a:ea typeface="Noto Sans CJK SC"/>
              </a:rPr>
              <a:t>Verifică fiecare întrebare din arbore</a:t>
            </a:r>
            <a:endParaRPr b="0" lang="en-US" sz="1000" spc="-1" strike="noStrike">
              <a:solidFill>
                <a:srgbClr val="000000"/>
              </a:solidFill>
              <a:latin typeface="Arial"/>
            </a:endParaRPr>
          </a:p>
          <a:p>
            <a:pPr marL="432000" indent="-324000" defTabSz="914400">
              <a:lnSpc>
                <a:spcPct val="100000"/>
              </a:lnSpc>
              <a:spcBef>
                <a:spcPts val="57"/>
              </a:spcBef>
              <a:buClr>
                <a:srgbClr val="000000"/>
              </a:buClr>
              <a:buSzPct val="45000"/>
              <a:buFont typeface="Wingdings" charset="2"/>
              <a:buChar char=""/>
            </a:pPr>
            <a:r>
              <a:rPr b="0" lang="en-US" sz="1000" spc="-1" strike="noStrike">
                <a:solidFill>
                  <a:srgbClr val="000000"/>
                </a:solidFill>
                <a:latin typeface="Arial"/>
                <a:ea typeface="Noto Sans CJK SC"/>
              </a:rPr>
              <a:t>Merge pe ramura corespunzătoare</a:t>
            </a:r>
            <a:endParaRPr b="0" lang="en-US" sz="1000" spc="-1" strike="noStrike">
              <a:solidFill>
                <a:srgbClr val="000000"/>
              </a:solidFill>
              <a:latin typeface="Arial"/>
            </a:endParaRPr>
          </a:p>
          <a:p>
            <a:pPr marL="432000" indent="-324000" defTabSz="914400">
              <a:lnSpc>
                <a:spcPct val="100000"/>
              </a:lnSpc>
              <a:spcBef>
                <a:spcPts val="57"/>
              </a:spcBef>
              <a:buClr>
                <a:srgbClr val="000000"/>
              </a:buClr>
              <a:buSzPct val="45000"/>
              <a:buFont typeface="Wingdings" charset="2"/>
              <a:buChar char=""/>
            </a:pPr>
            <a:r>
              <a:rPr b="0" lang="en-US" sz="1000" spc="-1" strike="noStrike">
                <a:solidFill>
                  <a:srgbClr val="000000"/>
                </a:solidFill>
                <a:latin typeface="Arial"/>
                <a:ea typeface="Noto Sans CJK SC"/>
              </a:rPr>
              <a:t>Ajunge la o frunză</a:t>
            </a:r>
            <a:endParaRPr b="0" lang="en-US" sz="1000" spc="-1" strike="noStrike">
              <a:solidFill>
                <a:srgbClr val="000000"/>
              </a:solidFill>
              <a:latin typeface="Arial"/>
            </a:endParaRPr>
          </a:p>
          <a:p>
            <a:pPr marL="432000" indent="-324000" defTabSz="914400">
              <a:lnSpc>
                <a:spcPct val="100000"/>
              </a:lnSpc>
              <a:spcBef>
                <a:spcPts val="57"/>
              </a:spcBef>
              <a:buClr>
                <a:srgbClr val="000000"/>
              </a:buClr>
              <a:buSzPct val="45000"/>
              <a:buFont typeface="Wingdings" charset="2"/>
              <a:buChar char=""/>
            </a:pPr>
            <a:r>
              <a:rPr b="0" lang="en-US" sz="1000" spc="-1" strike="noStrike">
                <a:solidFill>
                  <a:srgbClr val="000000"/>
                </a:solidFill>
                <a:latin typeface="Arial"/>
                <a:ea typeface="Noto Sans CJK SC"/>
              </a:rPr>
              <a:t>Returnează clasa dominantă din acea frunză</a:t>
            </a:r>
            <a:endParaRPr b="0" lang="en-US" sz="1000" spc="-1" strike="noStrike">
              <a:solidFill>
                <a:srgbClr val="000000"/>
              </a:solidFill>
              <a:latin typeface="Arial"/>
            </a:endParaRPr>
          </a:p>
          <a:p>
            <a:pPr defTabSz="914400">
              <a:lnSpc>
                <a:spcPct val="100000"/>
              </a:lnSpc>
              <a:spcBef>
                <a:spcPts val="57"/>
              </a:spcBef>
            </a:pPr>
            <a:endParaRPr b="0" lang="en-US" sz="1000" spc="-1" strike="noStrike">
              <a:solidFill>
                <a:srgbClr val="000000"/>
              </a:solidFill>
              <a:latin typeface="Arial"/>
            </a:endParaRPr>
          </a:p>
          <a:p>
            <a:pPr defTabSz="914400">
              <a:lnSpc>
                <a:spcPct val="100000"/>
              </a:lnSpc>
            </a:pPr>
            <a:endParaRPr b="0" lang="en-US" sz="1200" spc="-1" strike="noStrike">
              <a:solidFill>
                <a:srgbClr val="000000"/>
              </a:solidFill>
              <a:latin typeface="Arial"/>
            </a:endParaRPr>
          </a:p>
        </p:txBody>
      </p:sp>
      <p:sp>
        <p:nvSpPr>
          <p:cNvPr id="74" name="Rectangle 67"/>
          <p:cNvSpPr/>
          <p:nvPr/>
        </p:nvSpPr>
        <p:spPr>
          <a:xfrm>
            <a:off x="1488600" y="2499840"/>
            <a:ext cx="7932960" cy="1027080"/>
          </a:xfrm>
          <a:prstGeom prst="rect">
            <a:avLst/>
          </a:prstGeom>
          <a:noFill/>
          <a:ln w="0">
            <a:noFill/>
          </a:ln>
        </p:spPr>
        <p:style>
          <a:lnRef idx="0"/>
          <a:fillRef idx="0"/>
          <a:effectRef idx="0"/>
          <a:fontRef idx="minor"/>
        </p:style>
        <p:txBody>
          <a:bodyPr lIns="0" rIns="0" tIns="0" bIns="0" anchor="t">
            <a:normAutofit/>
          </a:bodyPr>
          <a:p>
            <a:pPr marL="432000" indent="-324000" defTabSz="914400">
              <a:lnSpc>
                <a:spcPct val="100000"/>
              </a:lnSpc>
              <a:spcBef>
                <a:spcPts val="57"/>
              </a:spcBef>
              <a:buClr>
                <a:srgbClr val="000000"/>
              </a:buClr>
              <a:buSzPct val="45000"/>
              <a:buFont typeface="Wingdings" charset="2"/>
              <a:buChar char=""/>
            </a:pPr>
            <a:r>
              <a:rPr b="0" lang="en-US" sz="1000" spc="-1" strike="noStrike">
                <a:solidFill>
                  <a:srgbClr val="000000"/>
                </a:solidFill>
                <a:latin typeface="Arial"/>
                <a:ea typeface="Noto Sans CJK SC"/>
              </a:rPr>
              <a:t>clf = DecisionTreeClassifier( </a:t>
            </a:r>
            <a:endParaRPr b="0" lang="en-US" sz="1000" spc="-1" strike="noStrike">
              <a:solidFill>
                <a:srgbClr val="000000"/>
              </a:solidFill>
              <a:latin typeface="Arial"/>
            </a:endParaRPr>
          </a:p>
          <a:p>
            <a:pPr marL="432000" indent="-324000" algn="just" defTabSz="914400">
              <a:lnSpc>
                <a:spcPct val="100000"/>
              </a:lnSpc>
              <a:buClr>
                <a:srgbClr val="000000"/>
              </a:buClr>
              <a:buSzPct val="45000"/>
              <a:buFont typeface="Wingdings" charset="2"/>
              <a:buChar char=""/>
            </a:pPr>
            <a:r>
              <a:rPr b="0" lang="en-US" sz="1000" spc="-1" strike="noStrike">
                <a:solidFill>
                  <a:srgbClr val="000000"/>
                </a:solidFill>
                <a:latin typeface="Arial"/>
                <a:ea typeface="Noto Sans CJK SC"/>
              </a:rPr>
              <a:t>criterion="gini", </a:t>
            </a:r>
            <a:r>
              <a:rPr b="0" lang="en-US" sz="1000" spc="-1" strike="noStrike">
                <a:solidFill>
                  <a:srgbClr val="000000"/>
                </a:solidFill>
                <a:latin typeface="Arial"/>
                <a:ea typeface="Noto Sans CJK SC"/>
              </a:rPr>
              <a:t>	</a:t>
            </a:r>
            <a:r>
              <a:rPr b="0" i="1" lang="en-US" sz="1000" spc="-1" strike="noStrike">
                <a:solidFill>
                  <a:srgbClr val="3465a4"/>
                </a:solidFill>
                <a:latin typeface="Arial"/>
                <a:ea typeface="Noto Sans CJK SC"/>
              </a:rPr>
              <a:t># Specifica arborelui cum să măsoare calitatea unui split (împărțire a datelor într-un nod).</a:t>
            </a:r>
            <a:endParaRPr b="0" lang="en-US" sz="1000" spc="-1" strike="noStrike">
              <a:solidFill>
                <a:srgbClr val="000000"/>
              </a:solidFill>
              <a:latin typeface="Arial"/>
            </a:endParaRPr>
          </a:p>
          <a:p>
            <a:pPr marL="432000" indent="-324000" algn="just" defTabSz="914400">
              <a:lnSpc>
                <a:spcPct val="100000"/>
              </a:lnSpc>
              <a:spcBef>
                <a:spcPts val="340"/>
              </a:spcBef>
              <a:spcAft>
                <a:spcPts val="142"/>
              </a:spcAft>
              <a:buClr>
                <a:srgbClr val="000000"/>
              </a:buClr>
              <a:buSzPct val="45000"/>
              <a:buFont typeface="Wingdings" charset="2"/>
              <a:buChar char=""/>
            </a:pPr>
            <a:r>
              <a:rPr b="0" lang="en-US" sz="1000" spc="-1" strike="noStrike">
                <a:solidFill>
                  <a:srgbClr val="000000"/>
                </a:solidFill>
                <a:latin typeface="Arial"/>
                <a:ea typeface="Noto Sans CJK SC"/>
              </a:rPr>
              <a:t>max_depth=12, </a:t>
            </a:r>
            <a:r>
              <a:rPr b="0" i="1" lang="en-US" sz="1000" spc="-1" strike="noStrike">
                <a:solidFill>
                  <a:srgbClr val="3465a4"/>
                </a:solidFill>
                <a:latin typeface="Arial"/>
                <a:ea typeface="Noto Sans CJK SC"/>
              </a:rPr>
              <a:t># Specifica arborelui cât de adânc poate să crească</a:t>
            </a:r>
            <a:endParaRPr b="0" lang="en-US" sz="1000" spc="-1" strike="noStrike">
              <a:solidFill>
                <a:srgbClr val="000000"/>
              </a:solidFill>
              <a:latin typeface="Arial"/>
            </a:endParaRPr>
          </a:p>
          <a:p>
            <a:pPr marL="432000" indent="-324000" algn="just" defTabSz="914400">
              <a:lnSpc>
                <a:spcPct val="100000"/>
              </a:lnSpc>
              <a:spcBef>
                <a:spcPts val="340"/>
              </a:spcBef>
              <a:spcAft>
                <a:spcPts val="142"/>
              </a:spcAft>
              <a:buClr>
                <a:srgbClr val="000000"/>
              </a:buClr>
              <a:buSzPct val="45000"/>
              <a:buFont typeface="Wingdings" charset="2"/>
              <a:buChar char=""/>
            </a:pPr>
            <a:r>
              <a:rPr b="0" lang="en-US" sz="1000" spc="-1" strike="noStrike">
                <a:solidFill>
                  <a:srgbClr val="000000"/>
                </a:solidFill>
                <a:latin typeface="Arial"/>
                <a:ea typeface="Noto Sans CJK SC"/>
              </a:rPr>
              <a:t>random_state=42 ) </a:t>
            </a:r>
            <a:r>
              <a:rPr b="0" i="1" lang="en-US" sz="1000" spc="-1" strike="noStrike">
                <a:solidFill>
                  <a:srgbClr val="3465a4"/>
                </a:solidFill>
                <a:latin typeface="Arial"/>
                <a:ea typeface="Noto Sans CJK SC"/>
              </a:rPr>
              <a:t>#random_state fixează o “sămânță” (seed) pentru generația aleatoare, astfel încât modelul devine 100% </a:t>
            </a:r>
            <a:r>
              <a:rPr b="0" i="1" lang="en-US" sz="1000" spc="-1" strike="noStrike">
                <a:solidFill>
                  <a:srgbClr val="3465a4"/>
                </a:solidFill>
                <a:latin typeface="Arial"/>
                <a:ea typeface="Noto Sans CJK SC"/>
              </a:rPr>
              <a:t>	</a:t>
            </a:r>
            <a:r>
              <a:rPr b="0" i="1" lang="en-US" sz="1000" spc="-1" strike="noStrike">
                <a:solidFill>
                  <a:srgbClr val="3465a4"/>
                </a:solidFill>
                <a:latin typeface="Arial"/>
                <a:ea typeface="Noto Sans CJK SC"/>
              </a:rPr>
              <a:t>	</a:t>
            </a:r>
            <a:r>
              <a:rPr b="0" i="1" lang="en-US" sz="1000" spc="-1" strike="noStrike">
                <a:solidFill>
                  <a:srgbClr val="3465a4"/>
                </a:solidFill>
                <a:latin typeface="Arial"/>
                <a:ea typeface="Noto Sans CJK SC"/>
              </a:rPr>
              <a:t>reproductibil ; Numărul “42” este doar o tradiție în ML, nu are o semnificație specială </a:t>
            </a:r>
            <a:endParaRPr b="0" lang="en-US" sz="1000" spc="-1" strike="noStrike">
              <a:solidFill>
                <a:srgbClr val="000000"/>
              </a:solidFill>
              <a:latin typeface="Arial"/>
            </a:endParaRPr>
          </a:p>
          <a:p>
            <a:pPr defTabSz="914400">
              <a:lnSpc>
                <a:spcPct val="100000"/>
              </a:lnSpc>
              <a:spcBef>
                <a:spcPts val="57"/>
              </a:spcBef>
            </a:pPr>
            <a:endParaRPr b="0" lang="en-US" sz="1000" spc="-1" strike="noStrike">
              <a:solidFill>
                <a:srgbClr val="000000"/>
              </a:solidFill>
              <a:latin typeface="Arial"/>
            </a:endParaRPr>
          </a:p>
          <a:p>
            <a:pPr defTabSz="914400">
              <a:lnSpc>
                <a:spcPct val="100000"/>
              </a:lnSpc>
            </a:pPr>
            <a:endParaRPr b="0" lang="en-US" sz="1200" spc="-1" strike="noStrike">
              <a:solidFill>
                <a:srgbClr val="000000"/>
              </a:solidFill>
              <a:latin typeface="Arial"/>
            </a:endParaRPr>
          </a:p>
        </p:txBody>
      </p:sp>
      <p:sp>
        <p:nvSpPr>
          <p:cNvPr id="75" name="Rectangle 68"/>
          <p:cNvSpPr/>
          <p:nvPr/>
        </p:nvSpPr>
        <p:spPr>
          <a:xfrm>
            <a:off x="627480" y="3732480"/>
            <a:ext cx="9199080" cy="151236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spcBef>
                <a:spcPts val="1191"/>
              </a:spcBef>
              <a:spcAft>
                <a:spcPts val="992"/>
              </a:spcAft>
            </a:pPr>
            <a:r>
              <a:rPr b="0" lang="en-US" sz="1200" spc="-1" strike="noStrike">
                <a:solidFill>
                  <a:srgbClr val="000000"/>
                </a:solidFill>
                <a:highlight>
                  <a:srgbClr val="ffff00"/>
                </a:highlight>
                <a:latin typeface="Arial"/>
                <a:ea typeface="DejaVu Sans"/>
              </a:rPr>
              <a:t>'gazde': {'precision': 0.5275310834813499,</a:t>
            </a:r>
            <a:r>
              <a:rPr b="0" lang="en-US" sz="1200" spc="-1" strike="noStrike">
                <a:solidFill>
                  <a:srgbClr val="000000"/>
                </a:solidFill>
                <a:latin typeface="Arial"/>
                <a:ea typeface="DejaVu Sans"/>
              </a:rPr>
              <a:t> 'recall': 0.6785986290936786, 'f1-score': 0.5936042638241172, 'support': 1313.0}, </a:t>
            </a:r>
            <a:r>
              <a:rPr b="0" lang="en-US" sz="1200" spc="-1" strike="noStrike">
                <a:solidFill>
                  <a:srgbClr val="000000"/>
                </a:solidFill>
                <a:highlight>
                  <a:srgbClr val="ffff00"/>
                </a:highlight>
                <a:latin typeface="Arial"/>
                <a:ea typeface="DejaVu Sans"/>
              </a:rPr>
              <a:t>'egalitate': {'precision': 0.2807486631016043</a:t>
            </a:r>
            <a:r>
              <a:rPr b="0" lang="en-US" sz="1200" spc="-1" strike="noStrike">
                <a:solidFill>
                  <a:srgbClr val="000000"/>
                </a:solidFill>
                <a:latin typeface="Arial"/>
                <a:ea typeface="DejaVu Sans"/>
              </a:rPr>
              <a:t>, 'recall': 0.13654096228868662, 'f1-score': 0.1837270341207349, 'support': 769.0}, </a:t>
            </a:r>
            <a:r>
              <a:rPr b="0" lang="en-US" sz="1200" spc="-1" strike="noStrike">
                <a:solidFill>
                  <a:srgbClr val="000000"/>
                </a:solidFill>
                <a:highlight>
                  <a:srgbClr val="ffff00"/>
                </a:highlight>
                <a:latin typeface="Arial"/>
                <a:ea typeface="DejaVu Sans"/>
              </a:rPr>
              <a:t>'oaspeti': {'precision': 0.4406417112299465</a:t>
            </a:r>
            <a:r>
              <a:rPr b="0" lang="en-US" sz="1200" spc="-1" strike="noStrike">
                <a:solidFill>
                  <a:srgbClr val="000000"/>
                </a:solidFill>
                <a:latin typeface="Arial"/>
                <a:ea typeface="DejaVu Sans"/>
              </a:rPr>
              <a:t>, 'recall': 0.4497816593886463, 'f1-score': 0.4451647757968666, 'support': 916.0}, 'accuracy': 0.4696464309539693, 'macro avg': {'precision': 0.41630715260430023, 'recall': 0.4216404169236705, 'f1-score': 0.4074986912472396, 'support': 2998.0}, 'weighted avg': {'precision': 0.4376824022757762, 'recall': 0.4696464309539693, 'f1-score': 0.44311521756832584, 'support': 2998.0}}</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dee6ef"/>
            </a:gs>
            <a:gs pos="100000">
              <a:srgbClr val="729fcf"/>
            </a:gs>
          </a:gsLst>
          <a:lin ang="3600000"/>
        </a:gradFill>
      </p:bgPr>
    </p:bg>
    <p:spTree>
      <p:nvGrpSpPr>
        <p:cNvPr id="1" name=""/>
        <p:cNvGrpSpPr/>
        <p:nvPr/>
      </p:nvGrpSpPr>
      <p:grpSpPr>
        <a:xfrm>
          <a:off x="0" y="0"/>
          <a:ext cx="0" cy="0"/>
          <a:chOff x="0" y="0"/>
          <a:chExt cx="0" cy="0"/>
        </a:xfrm>
      </p:grpSpPr>
      <p:sp>
        <p:nvSpPr>
          <p:cNvPr id="76" name="PlaceHolder 1"/>
          <p:cNvSpPr>
            <a:spLocks noGrp="1"/>
          </p:cNvSpPr>
          <p:nvPr>
            <p:ph type="title"/>
          </p:nvPr>
        </p:nvSpPr>
        <p:spPr>
          <a:xfrm>
            <a:off x="504000" y="210240"/>
            <a:ext cx="9069480" cy="623520"/>
          </a:xfrm>
          <a:prstGeom prst="rect">
            <a:avLst/>
          </a:prstGeom>
          <a:noFill/>
          <a:ln w="0">
            <a:noFill/>
          </a:ln>
        </p:spPr>
        <p:txBody>
          <a:bodyPr lIns="0" rIns="0" tIns="0" bIns="0" anchor="ctr">
            <a:noAutofit/>
          </a:bodyPr>
          <a:p>
            <a:pPr indent="0" algn="ctr">
              <a:lnSpc>
                <a:spcPct val="100000"/>
              </a:lnSpc>
              <a:spcBef>
                <a:spcPts val="1417"/>
              </a:spcBef>
              <a:buNone/>
              <a:tabLst>
                <a:tab algn="l" pos="0"/>
              </a:tabLst>
            </a:pPr>
            <a:r>
              <a:rPr b="1" lang="en-US" sz="2100" spc="-1" strike="noStrike">
                <a:solidFill>
                  <a:srgbClr val="f10d0c"/>
                </a:solidFill>
                <a:latin typeface="Arial"/>
              </a:rPr>
              <a:t>ML CatBoosts</a:t>
            </a:r>
            <a:endParaRPr b="0" lang="en-US" sz="2100" spc="-1" strike="noStrike">
              <a:solidFill>
                <a:srgbClr val="000000"/>
              </a:solidFill>
              <a:latin typeface="Arial"/>
            </a:endParaRPr>
          </a:p>
        </p:txBody>
      </p:sp>
      <p:sp>
        <p:nvSpPr>
          <p:cNvPr id="77" name="PlaceHolder 2"/>
          <p:cNvSpPr>
            <a:spLocks noGrp="1"/>
          </p:cNvSpPr>
          <p:nvPr>
            <p:ph/>
          </p:nvPr>
        </p:nvSpPr>
        <p:spPr>
          <a:xfrm>
            <a:off x="426240" y="835560"/>
            <a:ext cx="3741120" cy="1614240"/>
          </a:xfrm>
          <a:prstGeom prst="rect">
            <a:avLst/>
          </a:prstGeom>
          <a:noFill/>
          <a:ln w="0">
            <a:noFill/>
          </a:ln>
        </p:spPr>
        <p:txBody>
          <a:bodyPr lIns="0" rIns="0" tIns="0" bIns="0" anchor="t">
            <a:normAutofit/>
          </a:bodyPr>
          <a:p>
            <a:pPr marL="432000" indent="0" defTabSz="914400">
              <a:lnSpc>
                <a:spcPct val="100000"/>
              </a:lnSpc>
              <a:spcBef>
                <a:spcPts val="340"/>
              </a:spcBef>
              <a:spcAft>
                <a:spcPts val="142"/>
              </a:spcAft>
              <a:buNone/>
              <a:tabLst>
                <a:tab algn="l" pos="0"/>
              </a:tabLst>
            </a:pPr>
            <a:r>
              <a:rPr b="0" lang="en-US" sz="1200" spc="-1" strike="noStrike">
                <a:solidFill>
                  <a:srgbClr val="000000"/>
                </a:solidFill>
                <a:latin typeface="Arial"/>
                <a:ea typeface="Noto Sans CJK SC"/>
              </a:rPr>
              <a:t>CatBoosts Este considerat unul dintre cele mai </a:t>
            </a:r>
            <a:endParaRPr b="0" lang="en-US" sz="1200" spc="-1" strike="noStrike">
              <a:solidFill>
                <a:srgbClr val="000000"/>
              </a:solidFill>
              <a:latin typeface="Arial"/>
            </a:endParaRPr>
          </a:p>
          <a:p>
            <a:pPr marL="432000" indent="0" defTabSz="914400">
              <a:lnSpc>
                <a:spcPct val="100000"/>
              </a:lnSpc>
              <a:spcBef>
                <a:spcPts val="340"/>
              </a:spcBef>
              <a:spcAft>
                <a:spcPts val="142"/>
              </a:spcAft>
              <a:buNone/>
              <a:tabLst>
                <a:tab algn="l" pos="0"/>
              </a:tabLst>
            </a:pPr>
            <a:r>
              <a:rPr b="0" lang="en-US" sz="1200" spc="-1" strike="noStrike">
                <a:solidFill>
                  <a:srgbClr val="000000"/>
                </a:solidFill>
                <a:latin typeface="Arial"/>
                <a:ea typeface="Noto Sans CJK SC"/>
              </a:rPr>
              <a:t>bune modele pentru:</a:t>
            </a:r>
            <a:endParaRPr b="0" lang="en-US" sz="1200" spc="-1" strike="noStrike">
              <a:solidFill>
                <a:srgbClr val="000000"/>
              </a:solidFill>
              <a:latin typeface="Arial"/>
            </a:endParaRPr>
          </a:p>
          <a:p>
            <a:pPr marL="432000" indent="-324000" defTabSz="914400">
              <a:lnSpc>
                <a:spcPct val="100000"/>
              </a:lnSpc>
              <a:spcBef>
                <a:spcPts val="57"/>
              </a:spcBef>
              <a:buClr>
                <a:srgbClr val="000000"/>
              </a:buClr>
              <a:buSzPct val="45000"/>
              <a:buFont typeface="Wingdings" charset="2"/>
              <a:buChar char=""/>
              <a:tabLst>
                <a:tab algn="l" pos="0"/>
              </a:tabLst>
            </a:pPr>
            <a:r>
              <a:rPr b="0" lang="en-US" sz="1200" spc="-1" strike="noStrike">
                <a:solidFill>
                  <a:srgbClr val="000000"/>
                </a:solidFill>
                <a:latin typeface="Arial"/>
                <a:ea typeface="Noto Sans CJK SC"/>
              </a:rPr>
              <a:t>date tabulare</a:t>
            </a:r>
            <a:endParaRPr b="0" lang="en-US" sz="1200" spc="-1" strike="noStrike">
              <a:solidFill>
                <a:srgbClr val="000000"/>
              </a:solidFill>
              <a:latin typeface="Arial"/>
            </a:endParaRPr>
          </a:p>
          <a:p>
            <a:pPr marL="432000" indent="-324000" defTabSz="914400">
              <a:lnSpc>
                <a:spcPct val="100000"/>
              </a:lnSpc>
              <a:spcBef>
                <a:spcPts val="57"/>
              </a:spcBef>
              <a:buClr>
                <a:srgbClr val="000000"/>
              </a:buClr>
              <a:buSzPct val="45000"/>
              <a:buFont typeface="Wingdings" charset="2"/>
              <a:buChar char=""/>
              <a:tabLst>
                <a:tab algn="l" pos="0"/>
              </a:tabLst>
            </a:pPr>
            <a:r>
              <a:rPr b="0" lang="en-US" sz="1200" spc="-1" strike="noStrike">
                <a:solidFill>
                  <a:srgbClr val="000000"/>
                </a:solidFill>
                <a:latin typeface="Arial"/>
                <a:ea typeface="Noto Sans CJK SC"/>
              </a:rPr>
              <a:t>date cu multe categorii</a:t>
            </a:r>
            <a:endParaRPr b="0" lang="en-US" sz="1200" spc="-1" strike="noStrike">
              <a:solidFill>
                <a:srgbClr val="000000"/>
              </a:solidFill>
              <a:latin typeface="Arial"/>
            </a:endParaRPr>
          </a:p>
          <a:p>
            <a:pPr marL="432000" indent="-324000" defTabSz="914400">
              <a:lnSpc>
                <a:spcPct val="100000"/>
              </a:lnSpc>
              <a:spcBef>
                <a:spcPts val="57"/>
              </a:spcBef>
              <a:buClr>
                <a:srgbClr val="000000"/>
              </a:buClr>
              <a:buSzPct val="45000"/>
              <a:buFont typeface="Wingdings" charset="2"/>
              <a:buChar char=""/>
              <a:tabLst>
                <a:tab algn="l" pos="0"/>
              </a:tabLst>
            </a:pPr>
            <a:r>
              <a:rPr b="0" lang="en-US" sz="1200" spc="-1" strike="noStrike">
                <a:solidFill>
                  <a:srgbClr val="000000"/>
                </a:solidFill>
                <a:latin typeface="Arial"/>
                <a:ea typeface="Noto Sans CJK SC"/>
              </a:rPr>
              <a:t>clasificare multiclasa (1X2 în fotbal)</a:t>
            </a:r>
            <a:endParaRPr b="0" lang="en-US" sz="1200" spc="-1" strike="noStrike">
              <a:solidFill>
                <a:srgbClr val="000000"/>
              </a:solidFill>
              <a:latin typeface="Arial"/>
            </a:endParaRPr>
          </a:p>
          <a:p>
            <a:pPr marL="432000" indent="-324000" defTabSz="914400">
              <a:lnSpc>
                <a:spcPct val="100000"/>
              </a:lnSpc>
              <a:spcBef>
                <a:spcPts val="57"/>
              </a:spcBef>
              <a:buClr>
                <a:srgbClr val="000000"/>
              </a:buClr>
              <a:buSzPct val="45000"/>
              <a:buFont typeface="Wingdings" charset="2"/>
              <a:buChar char=""/>
              <a:tabLst>
                <a:tab algn="l" pos="0"/>
              </a:tabLst>
            </a:pPr>
            <a:r>
              <a:rPr b="0" lang="en-US" sz="1200" spc="-1" strike="noStrike">
                <a:solidFill>
                  <a:srgbClr val="000000"/>
                </a:solidFill>
                <a:latin typeface="Arial"/>
                <a:ea typeface="Noto Sans CJK SC"/>
              </a:rPr>
              <a:t>predicție din date ne-structurate numeric</a:t>
            </a:r>
            <a:endParaRPr b="0" lang="en-US" sz="1200" spc="-1" strike="noStrike">
              <a:solidFill>
                <a:srgbClr val="000000"/>
              </a:solidFill>
              <a:latin typeface="Arial"/>
            </a:endParaRPr>
          </a:p>
          <a:p>
            <a:pPr marL="432000" indent="0" defTabSz="914400">
              <a:lnSpc>
                <a:spcPct val="100000"/>
              </a:lnSpc>
              <a:spcBef>
                <a:spcPts val="57"/>
              </a:spcBef>
              <a:buNone/>
              <a:tabLst>
                <a:tab algn="l" pos="0"/>
              </a:tabLst>
            </a:pPr>
            <a:endParaRPr b="0" lang="en-US" sz="1200" spc="-1" strike="noStrike">
              <a:solidFill>
                <a:srgbClr val="000000"/>
              </a:solidFill>
              <a:latin typeface="Arial"/>
            </a:endParaRPr>
          </a:p>
          <a:p>
            <a:pPr marL="432000" indent="0" defTabSz="914400">
              <a:lnSpc>
                <a:spcPct val="100000"/>
              </a:lnSpc>
              <a:spcBef>
                <a:spcPts val="57"/>
              </a:spcBef>
              <a:buNone/>
              <a:tabLst>
                <a:tab algn="l" pos="0"/>
              </a:tabLst>
            </a:pPr>
            <a:endParaRPr b="0" lang="en-US" sz="1000" spc="-1" strike="noStrike">
              <a:solidFill>
                <a:srgbClr val="000000"/>
              </a:solidFill>
              <a:latin typeface="Arial"/>
            </a:endParaRPr>
          </a:p>
          <a:p>
            <a:pPr marL="432000" indent="0" defTabSz="914400">
              <a:lnSpc>
                <a:spcPct val="100000"/>
              </a:lnSpc>
              <a:buNone/>
              <a:tabLst>
                <a:tab algn="l" pos="0"/>
              </a:tabLst>
            </a:pPr>
            <a:endParaRPr b="0" lang="en-US" sz="1200" spc="-1" strike="noStrike">
              <a:solidFill>
                <a:srgbClr val="000000"/>
              </a:solidFill>
              <a:latin typeface="Arial"/>
            </a:endParaRPr>
          </a:p>
        </p:txBody>
      </p:sp>
      <p:sp>
        <p:nvSpPr>
          <p:cNvPr id="78" name="Rectangle 71"/>
          <p:cNvSpPr/>
          <p:nvPr/>
        </p:nvSpPr>
        <p:spPr>
          <a:xfrm>
            <a:off x="4247280" y="835560"/>
            <a:ext cx="5502240" cy="1419840"/>
          </a:xfrm>
          <a:prstGeom prst="rect">
            <a:avLst/>
          </a:prstGeom>
          <a:noFill/>
          <a:ln w="0">
            <a:noFill/>
          </a:ln>
        </p:spPr>
        <p:style>
          <a:lnRef idx="0"/>
          <a:fillRef idx="0"/>
          <a:effectRef idx="0"/>
          <a:fontRef idx="minor"/>
        </p:style>
        <p:txBody>
          <a:bodyPr lIns="0" rIns="0" tIns="0" bIns="0" anchor="t">
            <a:normAutofit/>
          </a:bodyPr>
          <a:p>
            <a:pPr marL="432000" indent="-324000" defTabSz="914400">
              <a:lnSpc>
                <a:spcPct val="100000"/>
              </a:lnSpc>
              <a:spcBef>
                <a:spcPts val="1191"/>
              </a:spcBef>
              <a:spcAft>
                <a:spcPts val="992"/>
              </a:spcAft>
              <a:buClr>
                <a:srgbClr val="000000"/>
              </a:buClr>
              <a:buSzPct val="45000"/>
              <a:buFont typeface="Wingdings" charset="2"/>
              <a:buChar char=""/>
            </a:pPr>
            <a:r>
              <a:rPr b="0" lang="en-US" sz="1200" spc="-1" strike="noStrike">
                <a:solidFill>
                  <a:srgbClr val="000000"/>
                </a:solidFill>
                <a:latin typeface="Arial"/>
                <a:ea typeface="Noto Sans CJK SC"/>
              </a:rPr>
              <a:t>CatBoost “învață” prin a construi mulți arbori de decizie mici, unul după altul, unde fiecare arbore:</a:t>
            </a:r>
            <a:endParaRPr b="0" lang="en-US" sz="1200" spc="-1" strike="noStrike">
              <a:solidFill>
                <a:srgbClr val="000000"/>
              </a:solidFill>
              <a:latin typeface="Arial"/>
            </a:endParaRPr>
          </a:p>
          <a:p>
            <a:pPr marL="432000" indent="-324000" defTabSz="914400">
              <a:lnSpc>
                <a:spcPct val="100000"/>
              </a:lnSpc>
              <a:spcBef>
                <a:spcPts val="57"/>
              </a:spcBef>
              <a:buClr>
                <a:srgbClr val="000000"/>
              </a:buClr>
              <a:buSzPct val="45000"/>
              <a:buFont typeface="Wingdings" charset="2"/>
              <a:buChar char=""/>
            </a:pPr>
            <a:r>
              <a:rPr b="0" lang="en-US" sz="1200" spc="-1" strike="noStrike">
                <a:solidFill>
                  <a:srgbClr val="000000"/>
                </a:solidFill>
                <a:latin typeface="Arial"/>
                <a:ea typeface="Noto Sans CJK SC"/>
              </a:rPr>
              <a:t>corectează greșelile arborilor anteriori </a:t>
            </a:r>
            <a:endParaRPr b="0" lang="en-US" sz="1200" spc="-1" strike="noStrike">
              <a:solidFill>
                <a:srgbClr val="000000"/>
              </a:solidFill>
              <a:latin typeface="Arial"/>
            </a:endParaRPr>
          </a:p>
          <a:p>
            <a:pPr marL="432000" indent="-324000" defTabSz="914400">
              <a:lnSpc>
                <a:spcPct val="100000"/>
              </a:lnSpc>
              <a:spcBef>
                <a:spcPts val="57"/>
              </a:spcBef>
              <a:buClr>
                <a:srgbClr val="000000"/>
              </a:buClr>
              <a:buSzPct val="45000"/>
              <a:buFont typeface="Wingdings" charset="2"/>
              <a:buChar char=""/>
            </a:pPr>
            <a:r>
              <a:rPr b="0" lang="en-US" sz="1200" spc="-1" strike="noStrike">
                <a:solidFill>
                  <a:srgbClr val="000000"/>
                </a:solidFill>
                <a:latin typeface="Arial"/>
                <a:ea typeface="Noto Sans CJK SC"/>
              </a:rPr>
              <a:t>este influențat de gradientul erorii </a:t>
            </a:r>
            <a:endParaRPr b="0" lang="en-US" sz="1200" spc="-1" strike="noStrike">
              <a:solidFill>
                <a:srgbClr val="000000"/>
              </a:solidFill>
              <a:latin typeface="Arial"/>
            </a:endParaRPr>
          </a:p>
          <a:p>
            <a:pPr marL="432000" indent="-324000" defTabSz="914400">
              <a:lnSpc>
                <a:spcPct val="100000"/>
              </a:lnSpc>
              <a:spcBef>
                <a:spcPts val="57"/>
              </a:spcBef>
              <a:buClr>
                <a:srgbClr val="000000"/>
              </a:buClr>
              <a:buSzPct val="45000"/>
              <a:buFont typeface="Wingdings" charset="2"/>
              <a:buChar char=""/>
            </a:pPr>
            <a:r>
              <a:rPr b="0" lang="en-US" sz="1200" spc="-1" strike="noStrike">
                <a:solidFill>
                  <a:srgbClr val="000000"/>
                </a:solidFill>
                <a:latin typeface="Arial"/>
                <a:ea typeface="Noto Sans CJK SC"/>
              </a:rPr>
              <a:t>adaugă un mic pas către predicția finală</a:t>
            </a:r>
            <a:endParaRPr b="0" lang="en-US" sz="1200" spc="-1" strike="noStrike">
              <a:solidFill>
                <a:srgbClr val="000000"/>
              </a:solidFill>
              <a:latin typeface="Arial"/>
            </a:endParaRPr>
          </a:p>
          <a:p>
            <a:pPr marL="432000" indent="-324000" defTabSz="914400">
              <a:lnSpc>
                <a:spcPct val="100000"/>
              </a:lnSpc>
              <a:spcBef>
                <a:spcPts val="57"/>
              </a:spcBef>
              <a:buClr>
                <a:srgbClr val="000000"/>
              </a:buClr>
              <a:buSzPct val="45000"/>
              <a:buFont typeface="Wingdings" charset="2"/>
              <a:buChar char=""/>
            </a:pPr>
            <a:r>
              <a:rPr b="0" lang="en-US" sz="1200" spc="-1" strike="noStrike">
                <a:solidFill>
                  <a:srgbClr val="000000"/>
                </a:solidFill>
                <a:latin typeface="Arial"/>
                <a:ea typeface="Noto Sans CJK SC"/>
              </a:rPr>
              <a:t>La final, combinația tuturor arborilor formează un model foarte puternic</a:t>
            </a:r>
            <a:endParaRPr b="0" lang="en-US" sz="1200" spc="-1" strike="noStrike">
              <a:solidFill>
                <a:srgbClr val="000000"/>
              </a:solidFill>
              <a:latin typeface="Arial"/>
            </a:endParaRPr>
          </a:p>
          <a:p>
            <a:pPr defTabSz="914400">
              <a:lnSpc>
                <a:spcPct val="100000"/>
              </a:lnSpc>
              <a:spcBef>
                <a:spcPts val="57"/>
              </a:spcBef>
            </a:pPr>
            <a:endParaRPr b="0" lang="en-US" sz="1000" spc="-1" strike="noStrike">
              <a:solidFill>
                <a:srgbClr val="000000"/>
              </a:solidFill>
              <a:latin typeface="Arial"/>
            </a:endParaRPr>
          </a:p>
          <a:p>
            <a:pPr defTabSz="914400">
              <a:lnSpc>
                <a:spcPct val="100000"/>
              </a:lnSpc>
              <a:spcBef>
                <a:spcPts val="57"/>
              </a:spcBef>
            </a:pPr>
            <a:endParaRPr b="0" lang="en-US" sz="1000" spc="-1" strike="noStrike">
              <a:solidFill>
                <a:srgbClr val="000000"/>
              </a:solidFill>
              <a:latin typeface="Arial"/>
            </a:endParaRPr>
          </a:p>
        </p:txBody>
      </p:sp>
      <p:sp>
        <p:nvSpPr>
          <p:cNvPr id="79" name="Rectangle 72"/>
          <p:cNvSpPr/>
          <p:nvPr/>
        </p:nvSpPr>
        <p:spPr>
          <a:xfrm>
            <a:off x="624600" y="2116080"/>
            <a:ext cx="8937720" cy="1582920"/>
          </a:xfrm>
          <a:prstGeom prst="rect">
            <a:avLst/>
          </a:prstGeom>
          <a:noFill/>
          <a:ln w="0">
            <a:noFill/>
          </a:ln>
        </p:spPr>
        <p:style>
          <a:lnRef idx="0"/>
          <a:fillRef idx="0"/>
          <a:effectRef idx="0"/>
          <a:fontRef idx="minor"/>
        </p:style>
        <p:txBody>
          <a:bodyPr lIns="0" rIns="0" tIns="0" bIns="0" anchor="t">
            <a:normAutofit/>
          </a:bodyPr>
          <a:p>
            <a:pPr marL="432000" indent="-324000" defTabSz="914400">
              <a:lnSpc>
                <a:spcPct val="100000"/>
              </a:lnSpc>
              <a:spcBef>
                <a:spcPts val="1191"/>
              </a:spcBef>
              <a:spcAft>
                <a:spcPts val="992"/>
              </a:spcAft>
              <a:buClr>
                <a:srgbClr val="000000"/>
              </a:buClr>
              <a:buSzPct val="45000"/>
              <a:buFont typeface="Wingdings" charset="2"/>
              <a:buChar char=""/>
            </a:pPr>
            <a:r>
              <a:rPr b="0" lang="en-US" sz="1200" spc="-1" strike="noStrike">
                <a:solidFill>
                  <a:srgbClr val="000000"/>
                </a:solidFill>
                <a:latin typeface="Arial"/>
                <a:ea typeface="DejaVu Sans"/>
              </a:rPr>
              <a:t>model = CatBoostClassifier( </a:t>
            </a:r>
            <a:endParaRPr b="0" lang="en-US" sz="1200" spc="-1" strike="noStrike">
              <a:solidFill>
                <a:srgbClr val="000000"/>
              </a:solidFill>
              <a:latin typeface="Arial"/>
            </a:endParaRPr>
          </a:p>
          <a:p>
            <a:pPr marL="432000" indent="-324000" defTabSz="914400">
              <a:lnSpc>
                <a:spcPct val="100000"/>
              </a:lnSpc>
              <a:buClr>
                <a:srgbClr val="000000"/>
              </a:buClr>
              <a:buSzPct val="45000"/>
              <a:buFont typeface="Wingdings" charset="2"/>
              <a:buChar char=""/>
            </a:pPr>
            <a:r>
              <a:rPr b="0" lang="en-US" sz="1200" spc="-1" strike="noStrike">
                <a:solidFill>
                  <a:srgbClr val="000000"/>
                </a:solidFill>
                <a:latin typeface="Arial"/>
                <a:ea typeface="DejaVu Sans"/>
              </a:rPr>
              <a:t>  </a:t>
            </a:r>
            <a:r>
              <a:rPr b="0" lang="en-US" sz="1200" spc="-1" strike="noStrike">
                <a:solidFill>
                  <a:srgbClr val="000000"/>
                </a:solidFill>
                <a:latin typeface="Arial"/>
                <a:ea typeface="DejaVu Sans"/>
              </a:rPr>
              <a:t>iterations=300,  </a:t>
            </a:r>
            <a:r>
              <a:rPr b="0" lang="en-US" sz="1200" spc="-1" strike="noStrike">
                <a:solidFill>
                  <a:srgbClr val="000000"/>
                </a:solidFill>
                <a:latin typeface="Arial"/>
                <a:ea typeface="DejaVu Sans"/>
              </a:rPr>
              <a:t>	</a:t>
            </a:r>
            <a:r>
              <a:rPr b="0" lang="en-US" sz="1200" spc="-1" strike="noStrike">
                <a:solidFill>
                  <a:srgbClr val="000000"/>
                </a:solidFill>
                <a:latin typeface="Arial"/>
                <a:ea typeface="DejaVu Sans"/>
              </a:rPr>
              <a:t>	</a:t>
            </a:r>
            <a:r>
              <a:rPr b="0" i="1" lang="en-US" sz="1200" spc="-1" strike="noStrike">
                <a:solidFill>
                  <a:srgbClr val="3465a4"/>
                </a:solidFill>
                <a:latin typeface="Arial"/>
                <a:ea typeface="DejaVu Sans"/>
              </a:rPr>
              <a:t>#numar maxim de arbori pe care ii construieste algoritmul  </a:t>
            </a:r>
            <a:endParaRPr b="0" lang="en-US" sz="1200" spc="-1" strike="noStrike">
              <a:solidFill>
                <a:srgbClr val="000000"/>
              </a:solidFill>
              <a:latin typeface="Arial"/>
            </a:endParaRPr>
          </a:p>
          <a:p>
            <a:pPr marL="432000" indent="-324000" defTabSz="914400">
              <a:lnSpc>
                <a:spcPct val="100000"/>
              </a:lnSpc>
              <a:buClr>
                <a:srgbClr val="000000"/>
              </a:buClr>
              <a:buSzPct val="45000"/>
              <a:buFont typeface="Wingdings" charset="2"/>
              <a:buChar char=""/>
            </a:pPr>
            <a:r>
              <a:rPr b="0" lang="en-US" sz="1200" spc="-1" strike="noStrike">
                <a:solidFill>
                  <a:srgbClr val="000000"/>
                </a:solidFill>
                <a:latin typeface="Arial"/>
                <a:ea typeface="DejaVu Sans"/>
              </a:rPr>
              <a:t>  </a:t>
            </a:r>
            <a:r>
              <a:rPr b="0" lang="en-US" sz="1200" spc="-1" strike="noStrike">
                <a:solidFill>
                  <a:srgbClr val="000000"/>
                </a:solidFill>
                <a:latin typeface="Arial"/>
                <a:ea typeface="DejaVu Sans"/>
              </a:rPr>
              <a:t>depth=11,   </a:t>
            </a:r>
            <a:r>
              <a:rPr b="0" lang="en-US" sz="1200" spc="-1" strike="noStrike">
                <a:solidFill>
                  <a:srgbClr val="000000"/>
                </a:solidFill>
                <a:latin typeface="Arial"/>
                <a:ea typeface="DejaVu Sans"/>
              </a:rPr>
              <a:t>	</a:t>
            </a:r>
            <a:r>
              <a:rPr b="0" lang="en-US" sz="1200" spc="-1" strike="noStrike">
                <a:solidFill>
                  <a:srgbClr val="000000"/>
                </a:solidFill>
                <a:latin typeface="Arial"/>
                <a:ea typeface="DejaVu Sans"/>
              </a:rPr>
              <a:t>	</a:t>
            </a:r>
            <a:r>
              <a:rPr b="0" lang="en-US" sz="1200" spc="-1" strike="noStrike">
                <a:solidFill>
                  <a:srgbClr val="000000"/>
                </a:solidFill>
                <a:latin typeface="Arial"/>
                <a:ea typeface="DejaVu Sans"/>
              </a:rPr>
              <a:t>	</a:t>
            </a:r>
            <a:r>
              <a:rPr b="0" lang="en-US" sz="1200" spc="-1" strike="noStrike">
                <a:solidFill>
                  <a:srgbClr val="3465a4"/>
                </a:solidFill>
                <a:latin typeface="Arial"/>
                <a:ea typeface="DejaVu Sans"/>
              </a:rPr>
              <a:t>#</a:t>
            </a:r>
            <a:r>
              <a:rPr b="0" i="1" lang="en-US" sz="1200" spc="-1" strike="noStrike">
                <a:solidFill>
                  <a:srgbClr val="3465a4"/>
                </a:solidFill>
                <a:latin typeface="Arial"/>
                <a:ea typeface="DejaVu Sans"/>
              </a:rPr>
              <a:t> adancimea fiecarui arbore</a:t>
            </a:r>
            <a:endParaRPr b="0" lang="en-US" sz="1200" spc="-1" strike="noStrike">
              <a:solidFill>
                <a:srgbClr val="000000"/>
              </a:solidFill>
              <a:latin typeface="Arial"/>
            </a:endParaRPr>
          </a:p>
          <a:p>
            <a:pPr marL="432000" indent="-324000" defTabSz="914400">
              <a:lnSpc>
                <a:spcPct val="100000"/>
              </a:lnSpc>
              <a:buClr>
                <a:srgbClr val="000000"/>
              </a:buClr>
              <a:buSzPct val="45000"/>
              <a:buFont typeface="Wingdings" charset="2"/>
              <a:buChar char=""/>
            </a:pPr>
            <a:r>
              <a:rPr b="0" lang="en-US" sz="1200" spc="-1" strike="noStrike">
                <a:solidFill>
                  <a:srgbClr val="000000"/>
                </a:solidFill>
                <a:latin typeface="Arial"/>
                <a:ea typeface="Noto Sans CJK SC"/>
              </a:rPr>
              <a:t>  </a:t>
            </a:r>
            <a:r>
              <a:rPr b="0" lang="en-US" sz="1200" spc="-1" strike="noStrike">
                <a:solidFill>
                  <a:srgbClr val="000000"/>
                </a:solidFill>
                <a:latin typeface="Arial"/>
                <a:ea typeface="Noto Sans CJK SC"/>
              </a:rPr>
              <a:t>learning_rate=0.1, </a:t>
            </a:r>
            <a:r>
              <a:rPr b="0" lang="en-US" sz="1200" spc="-1" strike="noStrike">
                <a:solidFill>
                  <a:srgbClr val="000000"/>
                </a:solidFill>
                <a:latin typeface="Arial"/>
                <a:ea typeface="Noto Sans CJK SC"/>
              </a:rPr>
              <a:t>	</a:t>
            </a:r>
            <a:r>
              <a:rPr b="0" lang="en-US" sz="1200" spc="-1" strike="noStrike">
                <a:solidFill>
                  <a:srgbClr val="000000"/>
                </a:solidFill>
                <a:latin typeface="Arial"/>
                <a:ea typeface="Noto Sans CJK SC"/>
              </a:rPr>
              <a:t>	</a:t>
            </a:r>
            <a:r>
              <a:rPr b="0" i="1" lang="en-US" sz="1200" spc="-1" strike="noStrike">
                <a:solidFill>
                  <a:srgbClr val="3465a4"/>
                </a:solidFill>
                <a:latin typeface="Arial"/>
                <a:ea typeface="Noto Sans CJK SC"/>
              </a:rPr>
              <a:t># Cât de repede învață modelul la fiecare iterație</a:t>
            </a:r>
            <a:endParaRPr b="0" lang="en-US" sz="1200" spc="-1" strike="noStrike">
              <a:solidFill>
                <a:srgbClr val="000000"/>
              </a:solidFill>
              <a:latin typeface="Arial"/>
            </a:endParaRPr>
          </a:p>
          <a:p>
            <a:pPr marL="432000" indent="-324000" defTabSz="914400">
              <a:lnSpc>
                <a:spcPct val="100000"/>
              </a:lnSpc>
              <a:buClr>
                <a:srgbClr val="000000"/>
              </a:buClr>
              <a:buSzPct val="45000"/>
              <a:buFont typeface="Wingdings" charset="2"/>
              <a:buChar char=""/>
            </a:pPr>
            <a:r>
              <a:rPr b="0" lang="en-US" sz="1200" spc="-1" strike="noStrike">
                <a:solidFill>
                  <a:srgbClr val="000000"/>
                </a:solidFill>
                <a:latin typeface="Arial"/>
                <a:ea typeface="Noto Sans CJK SC"/>
              </a:rPr>
              <a:t>  </a:t>
            </a:r>
            <a:r>
              <a:rPr b="0" lang="en-US" sz="1200" spc="-1" strike="noStrike">
                <a:solidFill>
                  <a:srgbClr val="000000"/>
                </a:solidFill>
                <a:latin typeface="Arial"/>
                <a:ea typeface="Noto Sans CJK SC"/>
              </a:rPr>
              <a:t>loss_function='MultiClass', </a:t>
            </a:r>
            <a:r>
              <a:rPr b="0" lang="en-US" sz="1200" spc="-1" strike="noStrike">
                <a:solidFill>
                  <a:srgbClr val="000000"/>
                </a:solidFill>
                <a:latin typeface="Arial"/>
                <a:ea typeface="Noto Sans CJK SC"/>
              </a:rPr>
              <a:t>	</a:t>
            </a:r>
            <a:r>
              <a:rPr b="0" i="1" lang="en-US" sz="1200" spc="-1" strike="noStrike">
                <a:solidFill>
                  <a:srgbClr val="3465a4"/>
                </a:solidFill>
                <a:latin typeface="Arial"/>
                <a:ea typeface="Noto Sans CJK SC"/>
              </a:rPr>
              <a:t># specifica modelululca sa se foloseasca clasificare multiclasa</a:t>
            </a:r>
            <a:endParaRPr b="0" lang="en-US" sz="1200" spc="-1" strike="noStrike">
              <a:solidFill>
                <a:srgbClr val="000000"/>
              </a:solidFill>
              <a:latin typeface="Arial"/>
            </a:endParaRPr>
          </a:p>
          <a:p>
            <a:pPr marL="432000" indent="-324000" defTabSz="914400">
              <a:lnSpc>
                <a:spcPct val="100000"/>
              </a:lnSpc>
              <a:buClr>
                <a:srgbClr val="000000"/>
              </a:buClr>
              <a:buSzPct val="45000"/>
              <a:buFont typeface="Wingdings" charset="2"/>
              <a:buChar char=""/>
            </a:pPr>
            <a:r>
              <a:rPr b="0" lang="en-US" sz="1200" spc="-1" strike="noStrike">
                <a:solidFill>
                  <a:srgbClr val="000000"/>
                </a:solidFill>
                <a:latin typeface="Arial"/>
                <a:ea typeface="Noto Sans CJK SC"/>
              </a:rPr>
              <a:t>  </a:t>
            </a:r>
            <a:r>
              <a:rPr b="0" lang="en-US" sz="1200" spc="-1" strike="noStrike">
                <a:solidFill>
                  <a:srgbClr val="000000"/>
                </a:solidFill>
                <a:latin typeface="Arial"/>
                <a:ea typeface="Noto Sans CJK SC"/>
              </a:rPr>
              <a:t>eval_metric="Accuracy", </a:t>
            </a:r>
            <a:r>
              <a:rPr b="0" i="1" lang="en-US" sz="1200" spc="-1" strike="noStrike">
                <a:solidFill>
                  <a:srgbClr val="3465a4"/>
                </a:solidFill>
                <a:latin typeface="Arial"/>
                <a:ea typeface="Noto Sans CJK SC"/>
              </a:rPr>
              <a:t>#Metrică după care modelul monitorizează performanța la fiecare 10 iteratii.</a:t>
            </a:r>
            <a:endParaRPr b="0" lang="en-US" sz="1200" spc="-1" strike="noStrike">
              <a:solidFill>
                <a:srgbClr val="000000"/>
              </a:solidFill>
              <a:latin typeface="Arial"/>
            </a:endParaRPr>
          </a:p>
          <a:p>
            <a:pPr marL="432000" indent="-324000" defTabSz="914400">
              <a:lnSpc>
                <a:spcPct val="100000"/>
              </a:lnSpc>
              <a:buClr>
                <a:srgbClr val="000000"/>
              </a:buClr>
              <a:buSzPct val="45000"/>
              <a:buFont typeface="Wingdings" charset="2"/>
              <a:buChar char=""/>
            </a:pPr>
            <a:r>
              <a:rPr b="0" lang="en-US" sz="1200" spc="-1" strike="noStrike">
                <a:solidFill>
                  <a:srgbClr val="000000"/>
                </a:solidFill>
                <a:latin typeface="Arial"/>
                <a:ea typeface="Noto Sans CJK SC"/>
              </a:rPr>
              <a:t>  </a:t>
            </a:r>
            <a:r>
              <a:rPr b="0" lang="en-US" sz="1200" spc="-1" strike="noStrike">
                <a:solidFill>
                  <a:srgbClr val="000000"/>
                </a:solidFill>
                <a:latin typeface="Arial"/>
                <a:ea typeface="Noto Sans CJK SC"/>
              </a:rPr>
              <a:t>class_weights=[1/0.44, 1/0.26, 1/0.29],</a:t>
            </a:r>
            <a:r>
              <a:rPr b="0" lang="en-US" sz="1200" spc="-1" strike="noStrike">
                <a:solidFill>
                  <a:srgbClr val="000000"/>
                </a:solidFill>
                <a:latin typeface="Arial"/>
                <a:ea typeface="Noto Sans CJK SC"/>
              </a:rPr>
              <a:t>	</a:t>
            </a:r>
            <a:r>
              <a:rPr b="0" i="1" lang="en-US" sz="1200" spc="-1" strike="noStrike">
                <a:solidFill>
                  <a:srgbClr val="3465a4"/>
                </a:solidFill>
                <a:latin typeface="Arial"/>
                <a:ea typeface="Noto Sans CJK SC"/>
              </a:rPr>
              <a:t># valorile reale in functioe de procentajul 1/x/2 din tot datasetul </a:t>
            </a:r>
            <a:endParaRPr b="0" lang="en-US" sz="1200" spc="-1" strike="noStrike">
              <a:solidFill>
                <a:srgbClr val="000000"/>
              </a:solidFill>
              <a:latin typeface="Arial"/>
            </a:endParaRPr>
          </a:p>
          <a:p>
            <a:pPr marL="432000" indent="-324000" defTabSz="914400">
              <a:lnSpc>
                <a:spcPct val="100000"/>
              </a:lnSpc>
              <a:spcBef>
                <a:spcPts val="57"/>
              </a:spcBef>
              <a:buClr>
                <a:srgbClr val="000000"/>
              </a:buClr>
              <a:buSzPct val="45000"/>
              <a:buFont typeface="Wingdings" charset="2"/>
              <a:buChar char=""/>
            </a:pPr>
            <a:r>
              <a:rPr b="0" lang="en-US" sz="1200" spc="-1" strike="noStrike">
                <a:solidFill>
                  <a:srgbClr val="000000"/>
                </a:solidFill>
                <a:latin typeface="Arial"/>
                <a:ea typeface="Noto Sans CJK SC"/>
              </a:rPr>
              <a:t>  </a:t>
            </a:r>
            <a:r>
              <a:rPr b="0" lang="en-US" sz="1200" spc="-1" strike="noStrike">
                <a:solidFill>
                  <a:srgbClr val="000000"/>
                </a:solidFill>
                <a:latin typeface="Arial"/>
                <a:ea typeface="Noto Sans CJK SC"/>
              </a:rPr>
              <a:t>verbose=10 )</a:t>
            </a:r>
            <a:r>
              <a:rPr b="0" lang="en-US" sz="1200" spc="-1" strike="noStrike">
                <a:solidFill>
                  <a:srgbClr val="000000"/>
                </a:solidFill>
                <a:latin typeface="Arial"/>
                <a:ea typeface="Noto Sans CJK SC"/>
              </a:rPr>
              <a:t>	</a:t>
            </a:r>
            <a:r>
              <a:rPr b="0" lang="en-US" sz="1200" spc="-1" strike="noStrike">
                <a:solidFill>
                  <a:srgbClr val="000000"/>
                </a:solidFill>
                <a:latin typeface="Arial"/>
                <a:ea typeface="Noto Sans CJK SC"/>
              </a:rPr>
              <a:t>	</a:t>
            </a:r>
            <a:r>
              <a:rPr b="0" i="1" lang="en-US" sz="1200" spc="-1" strike="noStrike">
                <a:solidFill>
                  <a:srgbClr val="3465a4"/>
                </a:solidFill>
                <a:latin typeface="Arial"/>
                <a:ea typeface="Noto Sans CJK SC"/>
              </a:rPr>
              <a:t>#CatBoost va printa un log la fiecare 10 iteratii</a:t>
            </a:r>
            <a:endParaRPr b="0" lang="en-US" sz="1200" spc="-1" strike="noStrike">
              <a:solidFill>
                <a:srgbClr val="000000"/>
              </a:solidFill>
              <a:latin typeface="Arial"/>
            </a:endParaRPr>
          </a:p>
        </p:txBody>
      </p:sp>
      <p:sp>
        <p:nvSpPr>
          <p:cNvPr id="80" name="Rectangle 73"/>
          <p:cNvSpPr/>
          <p:nvPr/>
        </p:nvSpPr>
        <p:spPr>
          <a:xfrm>
            <a:off x="648360" y="3841920"/>
            <a:ext cx="9039240" cy="1285560"/>
          </a:xfrm>
          <a:prstGeom prst="rect">
            <a:avLst/>
          </a:prstGeom>
          <a:noFill/>
          <a:ln w="0">
            <a:noFill/>
          </a:ln>
        </p:spPr>
        <p:style>
          <a:lnRef idx="0"/>
          <a:fillRef idx="0"/>
          <a:effectRef idx="0"/>
          <a:fontRef idx="minor"/>
        </p:style>
        <p:txBody>
          <a:bodyPr lIns="0" rIns="0" tIns="0" bIns="0" anchor="t">
            <a:normAutofit/>
          </a:bodyPr>
          <a:p>
            <a:pPr marL="432000" indent="-324000" defTabSz="914400">
              <a:lnSpc>
                <a:spcPct val="100000"/>
              </a:lnSpc>
              <a:spcBef>
                <a:spcPts val="340"/>
              </a:spcBef>
              <a:spcAft>
                <a:spcPts val="142"/>
              </a:spcAft>
              <a:buClr>
                <a:srgbClr val="000000"/>
              </a:buClr>
              <a:buSzPct val="45000"/>
              <a:buFont typeface="Wingdings" charset="2"/>
              <a:buChar char=""/>
            </a:pPr>
            <a:r>
              <a:rPr b="0" lang="en-US" sz="1200" spc="-1" strike="noStrike">
                <a:solidFill>
                  <a:srgbClr val="000000"/>
                </a:solidFill>
                <a:latin typeface="Arial"/>
                <a:ea typeface="Noto Sans CJK SC"/>
              </a:rPr>
              <a:t>{</a:t>
            </a:r>
            <a:r>
              <a:rPr b="0" lang="en-US" sz="1200" spc="-1" strike="noStrike">
                <a:solidFill>
                  <a:srgbClr val="000000"/>
                </a:solidFill>
                <a:highlight>
                  <a:srgbClr val="ffff00"/>
                </a:highlight>
                <a:latin typeface="Arial"/>
                <a:ea typeface="Noto Sans CJK SC"/>
              </a:rPr>
              <a:t>'gazde': {'precision': 0.6050420168067226</a:t>
            </a:r>
            <a:r>
              <a:rPr b="0" lang="en-US" sz="1200" spc="-1" strike="noStrike">
                <a:solidFill>
                  <a:srgbClr val="000000"/>
                </a:solidFill>
                <a:latin typeface="Arial"/>
                <a:ea typeface="Noto Sans CJK SC"/>
              </a:rPr>
              <a:t>, 'recall': 0.49352627570449353, 'f1-score': 0.5436241610738255, 'support': 1313.0}, </a:t>
            </a:r>
            <a:r>
              <a:rPr b="0" lang="en-US" sz="1200" spc="-1" strike="noStrike">
                <a:solidFill>
                  <a:srgbClr val="000000"/>
                </a:solidFill>
                <a:highlight>
                  <a:srgbClr val="ffff00"/>
                </a:highlight>
                <a:latin typeface="Arial"/>
                <a:ea typeface="Noto Sans CJK SC"/>
              </a:rPr>
              <a:t>'egalitate': {'precision': 0.297719087635054</a:t>
            </a:r>
            <a:r>
              <a:rPr b="0" lang="en-US" sz="1200" spc="-1" strike="noStrike">
                <a:solidFill>
                  <a:srgbClr val="000000"/>
                </a:solidFill>
                <a:latin typeface="Arial"/>
                <a:ea typeface="Noto Sans CJK SC"/>
              </a:rPr>
              <a:t>, 'recall': 0.32249674902470743, 'f1-score': 0.3096129837702871, 'support': 769.0}, '</a:t>
            </a:r>
            <a:r>
              <a:rPr b="0" lang="en-US" sz="1200" spc="-1" strike="noStrike">
                <a:solidFill>
                  <a:srgbClr val="000000"/>
                </a:solidFill>
                <a:highlight>
                  <a:srgbClr val="ffff00"/>
                </a:highlight>
                <a:latin typeface="Arial"/>
                <a:ea typeface="Noto Sans CJK SC"/>
              </a:rPr>
              <a:t>oaspeti': {'precision': 0.4616087751371115</a:t>
            </a:r>
            <a:r>
              <a:rPr b="0" lang="en-US" sz="1200" spc="-1" strike="noStrike">
                <a:solidFill>
                  <a:srgbClr val="000000"/>
                </a:solidFill>
                <a:latin typeface="Arial"/>
                <a:ea typeface="Noto Sans CJK SC"/>
              </a:rPr>
              <a:t>, 'recall': 0.5513100436681223, 'f1-score': 0.5024875621890548, 'support': 916.0}, 'accuracy': 0.46731154102735156, 'macro avg': {'precision': 0.45478995985962944, 'recall': 0.4557776894657744, 'f1-score': 0.4519082356777225, 'support': 2998.0}, 'weighted avg': {'precision': 0.4823881869526943, 'recall': 0.46731154102735156, 'f1-score': 0.47103052534171375, 'support': 2998.0}}</a:t>
            </a:r>
            <a:endParaRPr b="0" lang="en-US" sz="1200" spc="-1" strike="noStrike">
              <a:solidFill>
                <a:srgbClr val="000000"/>
              </a:solidFill>
              <a:latin typeface="Arial"/>
            </a:endParaRPr>
          </a:p>
          <a:p>
            <a:pPr defTabSz="914400">
              <a:lnSpc>
                <a:spcPct val="100000"/>
              </a:lnSpc>
              <a:spcBef>
                <a:spcPts val="57"/>
              </a:spcBef>
            </a:pPr>
            <a:endParaRPr b="0" lang="en-US" sz="1200" spc="-1" strike="noStrike">
              <a:solidFill>
                <a:srgbClr val="000000"/>
              </a:solidFill>
              <a:latin typeface="Arial"/>
            </a:endParaRPr>
          </a:p>
          <a:p>
            <a:pPr defTabSz="914400">
              <a:lnSpc>
                <a:spcPct val="100000"/>
              </a:lnSpc>
              <a:spcBef>
                <a:spcPts val="57"/>
              </a:spcBef>
            </a:pPr>
            <a:endParaRPr b="0" lang="en-US" sz="1000" spc="-1" strike="noStrike">
              <a:solidFill>
                <a:srgbClr val="000000"/>
              </a:solidFill>
              <a:latin typeface="Arial"/>
            </a:endParaRPr>
          </a:p>
          <a:p>
            <a:pPr defTabSz="914400">
              <a:lnSpc>
                <a:spcPct val="100000"/>
              </a:lnSpc>
            </a:pP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dee6ef"/>
            </a:gs>
            <a:gs pos="100000">
              <a:srgbClr val="729fcf"/>
            </a:gs>
          </a:gsLst>
          <a:lin ang="3600000"/>
        </a:gradFill>
      </p:bgPr>
    </p:bg>
    <p:spTree>
      <p:nvGrpSpPr>
        <p:cNvPr id="1" name=""/>
        <p:cNvGrpSpPr/>
        <p:nvPr/>
      </p:nvGrpSpPr>
      <p:grpSpPr>
        <a:xfrm>
          <a:off x="0" y="0"/>
          <a:ext cx="0" cy="0"/>
          <a:chOff x="0" y="0"/>
          <a:chExt cx="0" cy="0"/>
        </a:xfrm>
      </p:grpSpPr>
      <p:sp>
        <p:nvSpPr>
          <p:cNvPr id="81" name="PlaceHolder 1"/>
          <p:cNvSpPr>
            <a:spLocks noGrp="1"/>
          </p:cNvSpPr>
          <p:nvPr>
            <p:ph type="title"/>
          </p:nvPr>
        </p:nvSpPr>
        <p:spPr>
          <a:xfrm>
            <a:off x="504000" y="226080"/>
            <a:ext cx="9069480" cy="478080"/>
          </a:xfrm>
          <a:prstGeom prst="rect">
            <a:avLst/>
          </a:prstGeom>
          <a:noFill/>
          <a:ln w="0">
            <a:noFill/>
          </a:ln>
        </p:spPr>
        <p:txBody>
          <a:bodyPr lIns="0" rIns="0" tIns="0" bIns="0" anchor="ctr">
            <a:noAutofit/>
          </a:bodyPr>
          <a:p>
            <a:pPr marL="571680" indent="-228600" algn="ctr">
              <a:lnSpc>
                <a:spcPct val="100000"/>
              </a:lnSpc>
              <a:buNone/>
              <a:tabLst>
                <a:tab algn="l" pos="0"/>
              </a:tabLst>
            </a:pPr>
            <a:r>
              <a:rPr b="1" lang="en-US" sz="2100" spc="-1" strike="noStrike">
                <a:solidFill>
                  <a:srgbClr val="222222"/>
                </a:solidFill>
                <a:latin typeface="Times New Roman"/>
                <a:ea typeface="Noto Sans CJK SC"/>
              </a:rPr>
              <a:t>Apelarea algoritmilor de training</a:t>
            </a:r>
            <a:endParaRPr b="0" lang="en-US" sz="2100" spc="-1" strike="noStrike">
              <a:solidFill>
                <a:srgbClr val="000000"/>
              </a:solidFill>
              <a:latin typeface="Arial"/>
            </a:endParaRPr>
          </a:p>
        </p:txBody>
      </p:sp>
      <p:sp>
        <p:nvSpPr>
          <p:cNvPr id="82" name="PlaceHolder 2"/>
          <p:cNvSpPr>
            <a:spLocks noGrp="1"/>
          </p:cNvSpPr>
          <p:nvPr>
            <p:ph/>
          </p:nvPr>
        </p:nvSpPr>
        <p:spPr>
          <a:xfrm>
            <a:off x="504000" y="829080"/>
            <a:ext cx="9070200" cy="4478760"/>
          </a:xfrm>
          <a:prstGeom prst="rect">
            <a:avLst/>
          </a:prstGeom>
          <a:noFill/>
          <a:ln w="0">
            <a:noFill/>
          </a:ln>
        </p:spPr>
        <p:txBody>
          <a:bodyPr lIns="0" rIns="0" tIns="0" bIns="0" anchor="t">
            <a:normAutofit/>
          </a:bodyPr>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spcBef>
                <a:spcPts val="1191"/>
              </a:spcBef>
              <a:spcAft>
                <a:spcPts val="992"/>
              </a:spcAft>
              <a:buNone/>
              <a:tabLst>
                <a:tab algn="l" pos="0"/>
              </a:tabLst>
            </a:pPr>
            <a:r>
              <a:rPr b="0" lang="en-US" sz="1400" spc="-1" strike="noStrike">
                <a:solidFill>
                  <a:srgbClr val="000000"/>
                </a:solidFill>
                <a:latin typeface="Arial"/>
                <a:ea typeface="DejaVu Sans"/>
              </a:rPr>
              <a:t>Algoritmii de training pot fi apelati din browser, dintr-o pagina HTML, prin intermediul unei functii async + await mapate pe un link disponibil prin FastAPI (ex: </a:t>
            </a:r>
            <a:r>
              <a:rPr b="0" lang="en-US" sz="1400" spc="-1" strike="noStrike" u="sng">
                <a:solidFill>
                  <a:srgbClr val="0000ee"/>
                </a:solidFill>
                <a:uFillTx/>
                <a:latin typeface="Arial"/>
                <a:ea typeface="DejaVu Sans"/>
                <a:hlinkClick r:id="rId1"/>
              </a:rPr>
              <a:t>http://127.0.0.1:8000/train/CB</a:t>
            </a:r>
            <a:r>
              <a:rPr b="0" lang="en-US" sz="1400" spc="-1" strike="noStrike">
                <a:solidFill>
                  <a:srgbClr val="000000"/>
                </a:solidFill>
                <a:latin typeface="Arial"/>
                <a:ea typeface="DejaVu Sans"/>
              </a:rPr>
              <a:t>) ; raspunsul este de tip JSON , iar decodarea lui (matricea de confuzie) este afisata intr-un tabel. In scriptul </a:t>
            </a:r>
            <a:r>
              <a:rPr b="0" i="1" lang="en-US" sz="1400" spc="-1" strike="noStrike" u="sng">
                <a:solidFill>
                  <a:srgbClr val="000000"/>
                </a:solidFill>
                <a:uFillTx/>
                <a:latin typeface="Arial"/>
                <a:ea typeface="DejaVu Sans"/>
              </a:rPr>
              <a:t>fast_api.py</a:t>
            </a:r>
            <a:r>
              <a:rPr b="0" lang="en-US" sz="1400" spc="-1" strike="noStrike">
                <a:solidFill>
                  <a:srgbClr val="000000"/>
                </a:solidFill>
                <a:latin typeface="Arial"/>
                <a:ea typeface="DejaVu Sans"/>
              </a:rPr>
              <a:t> exista un decorator care “mapeaza” cererea GET(cu link-ul din pagina HTML) de o functie din script care executa antrenarea modelului, logarea parametrilor prin mlflow si salvarea modelului</a:t>
            </a:r>
            <a:r>
              <a:rPr b="0" lang="en-US" sz="1400" spc="-1" strike="noStrike">
                <a:solidFill>
                  <a:srgbClr val="000000"/>
                </a:solidFill>
                <a:latin typeface="Arial"/>
                <a:ea typeface="DejaVu Sans"/>
              </a:rPr>
              <a:t>	</a:t>
            </a:r>
            <a:endParaRPr b="0" lang="en-US" sz="1400" spc="-1" strike="noStrike">
              <a:solidFill>
                <a:srgbClr val="000000"/>
              </a:solidFill>
              <a:latin typeface="Arial"/>
            </a:endParaRPr>
          </a:p>
          <a:p>
            <a:pPr indent="0" defTabSz="914400">
              <a:lnSpc>
                <a:spcPct val="100000"/>
              </a:lnSpc>
              <a:buNone/>
              <a:tabLst>
                <a:tab algn="l" pos="0"/>
              </a:tabLst>
            </a:pPr>
            <a:r>
              <a:rPr b="0" lang="en-US" sz="1400" spc="-1" strike="noStrike">
                <a:solidFill>
                  <a:srgbClr val="000000"/>
                </a:solidFill>
                <a:latin typeface="Arial"/>
                <a:ea typeface="DejaVu Sans"/>
              </a:rPr>
              <a:t>Putem accesa pagina de training</a:t>
            </a:r>
            <a:endParaRPr b="0" lang="en-US" sz="1400" spc="-1" strike="noStrike">
              <a:solidFill>
                <a:srgbClr val="000000"/>
              </a:solidFill>
              <a:latin typeface="Arial"/>
            </a:endParaRPr>
          </a:p>
          <a:p>
            <a:pPr indent="0" defTabSz="914400">
              <a:lnSpc>
                <a:spcPct val="100000"/>
              </a:lnSpc>
              <a:buNone/>
              <a:tabLst>
                <a:tab algn="l" pos="0"/>
              </a:tabLst>
            </a:pPr>
            <a:r>
              <a:rPr b="0" lang="en-US" sz="1400" spc="-1" strike="noStrike">
                <a:solidFill>
                  <a:srgbClr val="000000"/>
                </a:solidFill>
                <a:latin typeface="Arial"/>
                <a:ea typeface="DejaVu Sans"/>
              </a:rPr>
              <a:t>din meniu</a:t>
            </a: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r>
              <a:rPr b="0" lang="en-US" sz="1400" spc="-1" strike="noStrike">
                <a:solidFill>
                  <a:srgbClr val="000000"/>
                </a:solidFill>
                <a:latin typeface="Arial"/>
                <a:ea typeface="DejaVu Sans"/>
              </a:rPr>
              <a:t>La finalul rularii fiecarui algoritm in parte</a:t>
            </a:r>
            <a:endParaRPr b="0" lang="en-US" sz="1400" spc="-1" strike="noStrike">
              <a:solidFill>
                <a:srgbClr val="000000"/>
              </a:solidFill>
              <a:latin typeface="Arial"/>
            </a:endParaRPr>
          </a:p>
          <a:p>
            <a:pPr indent="0" defTabSz="914400">
              <a:lnSpc>
                <a:spcPct val="100000"/>
              </a:lnSpc>
              <a:buNone/>
              <a:tabLst>
                <a:tab algn="l" pos="0"/>
              </a:tabLst>
            </a:pPr>
            <a:r>
              <a:rPr b="0" lang="en-US" sz="1400" spc="-1" strike="noStrike">
                <a:solidFill>
                  <a:srgbClr val="000000"/>
                </a:solidFill>
                <a:latin typeface="Arial"/>
                <a:ea typeface="DejaVu Sans"/>
              </a:rPr>
              <a:t>este afisata matricea de confuzie </a:t>
            </a: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p:txBody>
      </p:sp>
      <p:pic>
        <p:nvPicPr>
          <p:cNvPr id="83" name="Picture 76" descr=""/>
          <p:cNvPicPr/>
          <p:nvPr/>
        </p:nvPicPr>
        <p:blipFill>
          <a:blip r:embed="rId2"/>
          <a:stretch/>
        </p:blipFill>
        <p:spPr>
          <a:xfrm>
            <a:off x="5760360" y="2337840"/>
            <a:ext cx="3461760" cy="1051560"/>
          </a:xfrm>
          <a:prstGeom prst="rect">
            <a:avLst/>
          </a:prstGeom>
          <a:ln w="0">
            <a:noFill/>
          </a:ln>
        </p:spPr>
      </p:pic>
      <p:pic>
        <p:nvPicPr>
          <p:cNvPr id="84" name="Picture 77" descr=""/>
          <p:cNvPicPr/>
          <p:nvPr/>
        </p:nvPicPr>
        <p:blipFill>
          <a:blip r:embed="rId3"/>
          <a:stretch/>
        </p:blipFill>
        <p:spPr>
          <a:xfrm>
            <a:off x="5364360" y="3560400"/>
            <a:ext cx="4091760" cy="193788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dee6ef"/>
            </a:gs>
            <a:gs pos="100000">
              <a:srgbClr val="729fcf"/>
            </a:gs>
          </a:gsLst>
          <a:lin ang="3600000"/>
        </a:gradFill>
      </p:bgPr>
    </p:bg>
    <p:spTree>
      <p:nvGrpSpPr>
        <p:cNvPr id="1" name=""/>
        <p:cNvGrpSpPr/>
        <p:nvPr/>
      </p:nvGrpSpPr>
      <p:grpSpPr>
        <a:xfrm>
          <a:off x="0" y="0"/>
          <a:ext cx="0" cy="0"/>
          <a:chOff x="0" y="0"/>
          <a:chExt cx="0" cy="0"/>
        </a:xfrm>
      </p:grpSpPr>
      <p:sp>
        <p:nvSpPr>
          <p:cNvPr id="85" name="PlaceHolder 1"/>
          <p:cNvSpPr>
            <a:spLocks noGrp="1"/>
          </p:cNvSpPr>
          <p:nvPr>
            <p:ph type="title"/>
          </p:nvPr>
        </p:nvSpPr>
        <p:spPr>
          <a:xfrm>
            <a:off x="504000" y="226080"/>
            <a:ext cx="9069480" cy="478080"/>
          </a:xfrm>
          <a:prstGeom prst="rect">
            <a:avLst/>
          </a:prstGeom>
          <a:noFill/>
          <a:ln w="0">
            <a:noFill/>
          </a:ln>
        </p:spPr>
        <p:txBody>
          <a:bodyPr lIns="0" rIns="0" tIns="0" bIns="0" anchor="ctr">
            <a:noAutofit/>
          </a:bodyPr>
          <a:p>
            <a:pPr marL="571680" indent="-228600" algn="ctr">
              <a:lnSpc>
                <a:spcPct val="100000"/>
              </a:lnSpc>
              <a:buNone/>
              <a:tabLst>
                <a:tab algn="l" pos="0"/>
              </a:tabLst>
            </a:pPr>
            <a:r>
              <a:rPr b="1" lang="en-US" sz="2100" spc="-1" strike="noStrike">
                <a:solidFill>
                  <a:srgbClr val="222222"/>
                </a:solidFill>
                <a:latin typeface="Times New Roman"/>
                <a:ea typeface="Noto Sans CJK SC"/>
              </a:rPr>
              <a:t>Realizarea predictiilor</a:t>
            </a:r>
            <a:endParaRPr b="0" lang="en-US" sz="2100" spc="-1" strike="noStrike">
              <a:solidFill>
                <a:srgbClr val="000000"/>
              </a:solidFill>
              <a:latin typeface="Arial"/>
            </a:endParaRPr>
          </a:p>
        </p:txBody>
      </p:sp>
      <p:sp>
        <p:nvSpPr>
          <p:cNvPr id="86" name="PlaceHolder 2"/>
          <p:cNvSpPr>
            <a:spLocks noGrp="1"/>
          </p:cNvSpPr>
          <p:nvPr>
            <p:ph/>
          </p:nvPr>
        </p:nvSpPr>
        <p:spPr>
          <a:xfrm>
            <a:off x="504000" y="829080"/>
            <a:ext cx="9070200" cy="4478760"/>
          </a:xfrm>
          <a:prstGeom prst="rect">
            <a:avLst/>
          </a:prstGeom>
          <a:noFill/>
          <a:ln w="0">
            <a:noFill/>
          </a:ln>
        </p:spPr>
        <p:txBody>
          <a:bodyPr lIns="0" rIns="0" tIns="0" bIns="0" anchor="t">
            <a:normAutofit/>
          </a:bodyPr>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spcBef>
                <a:spcPts val="1191"/>
              </a:spcBef>
              <a:spcAft>
                <a:spcPts val="992"/>
              </a:spcAft>
              <a:buNone/>
              <a:tabLst>
                <a:tab algn="l" pos="0"/>
              </a:tabLst>
            </a:pPr>
            <a:r>
              <a:rPr b="0" lang="en-US" sz="1400" spc="-1" strike="noStrike">
                <a:solidFill>
                  <a:srgbClr val="000000"/>
                </a:solidFill>
                <a:latin typeface="Arial"/>
                <a:ea typeface="DejaVu Sans"/>
              </a:rPr>
              <a:t>Predictiile pot fi apelate din browser, dintr-o pagina HTML, prin intermediul unei functii async + await mapate pe un link disponibil prin FastAPI (ex: </a:t>
            </a:r>
            <a:r>
              <a:rPr b="0" lang="en-US" sz="1400" spc="-1" strike="noStrike" u="sng">
                <a:solidFill>
                  <a:srgbClr val="0000ee"/>
                </a:solidFill>
                <a:uFillTx/>
                <a:latin typeface="Arial"/>
                <a:ea typeface="DejaVu Sans"/>
                <a:hlinkClick r:id="rId1"/>
              </a:rPr>
              <a:t>http://127.0.0.1:8000/predict/CB</a:t>
            </a:r>
            <a:r>
              <a:rPr b="0" lang="en-US" sz="1400" spc="-1" strike="noStrike">
                <a:solidFill>
                  <a:srgbClr val="000000"/>
                </a:solidFill>
                <a:latin typeface="Arial"/>
                <a:ea typeface="DejaVu Sans"/>
              </a:rPr>
              <a:t>) ; raspunsul este de tip JSON , iar decodarea lui (nr de predictii) este afisat intr-un tabel. In scriptul </a:t>
            </a:r>
            <a:r>
              <a:rPr b="0" i="1" lang="en-US" sz="1400" spc="-1" strike="noStrike" u="sng">
                <a:solidFill>
                  <a:srgbClr val="000000"/>
                </a:solidFill>
                <a:uFillTx/>
                <a:latin typeface="Arial"/>
                <a:ea typeface="DejaVu Sans"/>
              </a:rPr>
              <a:t>fast_api.py</a:t>
            </a:r>
            <a:r>
              <a:rPr b="0" lang="en-US" sz="1400" spc="-1" strike="noStrike">
                <a:solidFill>
                  <a:srgbClr val="000000"/>
                </a:solidFill>
                <a:latin typeface="Arial"/>
                <a:ea typeface="DejaVu Sans"/>
              </a:rPr>
              <a:t> exista un decorator care “mapeaza” cererea GET(cu link-ul din pagina HTML) de o functie din script care executa incarcarea modelului, generarea predictiei pe meciurile selectate, si actualizarea in baza de date a predictiilor, astfel ca acestea sa poata fi vizualizate ulterior</a:t>
            </a:r>
            <a:r>
              <a:rPr b="0" lang="en-US" sz="1400" spc="-1" strike="noStrike">
                <a:solidFill>
                  <a:srgbClr val="000000"/>
                </a:solidFill>
                <a:latin typeface="Arial"/>
                <a:ea typeface="DejaVu Sans"/>
              </a:rPr>
              <a:t>	</a:t>
            </a:r>
            <a:endParaRPr b="0" lang="en-US" sz="1400" spc="-1" strike="noStrike">
              <a:solidFill>
                <a:srgbClr val="000000"/>
              </a:solidFill>
              <a:latin typeface="Arial"/>
            </a:endParaRPr>
          </a:p>
          <a:p>
            <a:pPr indent="0" defTabSz="914400">
              <a:lnSpc>
                <a:spcPct val="100000"/>
              </a:lnSpc>
              <a:buNone/>
              <a:tabLst>
                <a:tab algn="l" pos="0"/>
              </a:tabLst>
            </a:pPr>
            <a:r>
              <a:rPr b="0" lang="en-US" sz="1400" spc="-1" strike="noStrike">
                <a:solidFill>
                  <a:srgbClr val="000000"/>
                </a:solidFill>
                <a:latin typeface="Arial"/>
                <a:ea typeface="DejaVu Sans"/>
              </a:rPr>
              <a:t>Putem accesa pagina de predictii</a:t>
            </a:r>
            <a:endParaRPr b="0" lang="en-US" sz="1400" spc="-1" strike="noStrike">
              <a:solidFill>
                <a:srgbClr val="000000"/>
              </a:solidFill>
              <a:latin typeface="Arial"/>
            </a:endParaRPr>
          </a:p>
          <a:p>
            <a:pPr indent="0" defTabSz="914400">
              <a:lnSpc>
                <a:spcPct val="100000"/>
              </a:lnSpc>
              <a:buNone/>
              <a:tabLst>
                <a:tab algn="l" pos="0"/>
              </a:tabLst>
            </a:pPr>
            <a:r>
              <a:rPr b="0" lang="en-US" sz="1400" spc="-1" strike="noStrike">
                <a:solidFill>
                  <a:srgbClr val="000000"/>
                </a:solidFill>
                <a:latin typeface="Arial"/>
                <a:ea typeface="DejaVu Sans"/>
              </a:rPr>
              <a:t>din meniu</a:t>
            </a: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r>
              <a:rPr b="0" lang="en-US" sz="1400" spc="-1" strike="noStrike">
                <a:solidFill>
                  <a:srgbClr val="000000"/>
                </a:solidFill>
                <a:latin typeface="Arial"/>
                <a:ea typeface="DejaVu Sans"/>
              </a:rPr>
              <a:t>La finalul rularii fiecarui algoritm in parte</a:t>
            </a:r>
            <a:endParaRPr b="0" lang="en-US" sz="1400" spc="-1" strike="noStrike">
              <a:solidFill>
                <a:srgbClr val="000000"/>
              </a:solidFill>
              <a:latin typeface="Arial"/>
            </a:endParaRPr>
          </a:p>
          <a:p>
            <a:pPr indent="0" defTabSz="914400">
              <a:lnSpc>
                <a:spcPct val="100000"/>
              </a:lnSpc>
              <a:buNone/>
              <a:tabLst>
                <a:tab algn="l" pos="0"/>
              </a:tabLst>
            </a:pPr>
            <a:r>
              <a:rPr b="0" lang="en-US" sz="1400" spc="-1" strike="noStrike">
                <a:solidFill>
                  <a:srgbClr val="000000"/>
                </a:solidFill>
                <a:latin typeface="Arial"/>
                <a:ea typeface="DejaVu Sans"/>
              </a:rPr>
              <a:t>este afisat numarul de predictii </a:t>
            </a: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a:p>
            <a:pPr indent="0" defTabSz="914400">
              <a:lnSpc>
                <a:spcPct val="100000"/>
              </a:lnSpc>
              <a:buNone/>
              <a:tabLst>
                <a:tab algn="l" pos="0"/>
              </a:tabLst>
            </a:pPr>
            <a:endParaRPr b="0" lang="en-US" sz="1400" spc="-1" strike="noStrike">
              <a:solidFill>
                <a:srgbClr val="000000"/>
              </a:solidFill>
              <a:latin typeface="Arial"/>
            </a:endParaRPr>
          </a:p>
        </p:txBody>
      </p:sp>
      <p:pic>
        <p:nvPicPr>
          <p:cNvPr id="87" name="Picture 82" descr=""/>
          <p:cNvPicPr/>
          <p:nvPr/>
        </p:nvPicPr>
        <p:blipFill>
          <a:blip r:embed="rId2"/>
          <a:stretch/>
        </p:blipFill>
        <p:spPr>
          <a:xfrm>
            <a:off x="5028120" y="2429640"/>
            <a:ext cx="4756680" cy="1220040"/>
          </a:xfrm>
          <a:prstGeom prst="rect">
            <a:avLst/>
          </a:prstGeom>
          <a:ln w="0">
            <a:noFill/>
          </a:ln>
          <a:effectLst>
            <a:outerShdw dir="2700000" dist="101823" rotWithShape="0">
              <a:srgbClr val="808080"/>
            </a:outerShdw>
          </a:effectLst>
        </p:spPr>
      </p:pic>
      <p:pic>
        <p:nvPicPr>
          <p:cNvPr id="88" name="Picture 83" descr=""/>
          <p:cNvPicPr/>
          <p:nvPr/>
        </p:nvPicPr>
        <p:blipFill>
          <a:blip r:embed="rId3"/>
          <a:stretch/>
        </p:blipFill>
        <p:spPr>
          <a:xfrm>
            <a:off x="5001480" y="3858480"/>
            <a:ext cx="4813920" cy="1449360"/>
          </a:xfrm>
          <a:prstGeom prst="rect">
            <a:avLst/>
          </a:prstGeom>
          <a:ln w="0">
            <a:noFill/>
          </a:ln>
          <a:effectLst>
            <a:outerShdw dir="2700000" dist="101823" rotWithShape="0">
              <a:srgbClr val="808080"/>
            </a:outerShdw>
          </a:effectLst>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dee6ef"/>
            </a:gs>
            <a:gs pos="100000">
              <a:srgbClr val="729fcf"/>
            </a:gs>
          </a:gsLst>
          <a:lin ang="3600000"/>
        </a:gradFill>
      </p:bgPr>
    </p:bg>
    <p:spTree>
      <p:nvGrpSpPr>
        <p:cNvPr id="1" name=""/>
        <p:cNvGrpSpPr/>
        <p:nvPr/>
      </p:nvGrpSpPr>
      <p:grpSpPr>
        <a:xfrm>
          <a:off x="0" y="0"/>
          <a:ext cx="0" cy="0"/>
          <a:chOff x="0" y="0"/>
          <a:chExt cx="0" cy="0"/>
        </a:xfrm>
      </p:grpSpPr>
      <p:sp>
        <p:nvSpPr>
          <p:cNvPr id="89" name="PlaceHolder 1"/>
          <p:cNvSpPr>
            <a:spLocks noGrp="1"/>
          </p:cNvSpPr>
          <p:nvPr>
            <p:ph type="title"/>
          </p:nvPr>
        </p:nvSpPr>
        <p:spPr>
          <a:xfrm>
            <a:off x="504000" y="226080"/>
            <a:ext cx="9069480" cy="514080"/>
          </a:xfrm>
          <a:prstGeom prst="rect">
            <a:avLst/>
          </a:prstGeom>
          <a:noFill/>
          <a:ln w="0">
            <a:noFill/>
          </a:ln>
        </p:spPr>
        <p:txBody>
          <a:bodyPr lIns="0" rIns="0" tIns="0" bIns="0" anchor="ctr">
            <a:noAutofit/>
          </a:bodyPr>
          <a:p>
            <a:pPr marL="571680" indent="-228600" algn="ctr">
              <a:lnSpc>
                <a:spcPct val="100000"/>
              </a:lnSpc>
              <a:buNone/>
              <a:tabLst>
                <a:tab algn="l" pos="0"/>
              </a:tabLst>
            </a:pPr>
            <a:r>
              <a:rPr b="1" lang="en-US" sz="2100" spc="-1" strike="noStrike">
                <a:solidFill>
                  <a:srgbClr val="222222"/>
                </a:solidFill>
                <a:latin typeface="Times New Roman"/>
                <a:ea typeface="Noto Sans CJK SC"/>
              </a:rPr>
              <a:t>Statistici</a:t>
            </a:r>
            <a:endParaRPr b="0" lang="en-US" sz="2100" spc="-1" strike="noStrike">
              <a:solidFill>
                <a:srgbClr val="000000"/>
              </a:solidFill>
              <a:latin typeface="Arial"/>
            </a:endParaRPr>
          </a:p>
        </p:txBody>
      </p:sp>
      <p:sp>
        <p:nvSpPr>
          <p:cNvPr id="90" name="PlaceHolder 2"/>
          <p:cNvSpPr>
            <a:spLocks noGrp="1"/>
          </p:cNvSpPr>
          <p:nvPr>
            <p:ph/>
          </p:nvPr>
        </p:nvSpPr>
        <p:spPr>
          <a:xfrm>
            <a:off x="504000" y="804600"/>
            <a:ext cx="9070200" cy="4421520"/>
          </a:xfrm>
          <a:prstGeom prst="rect">
            <a:avLst/>
          </a:prstGeom>
          <a:noFill/>
          <a:ln w="0">
            <a:noFill/>
          </a:ln>
        </p:spPr>
        <p:txBody>
          <a:bodyPr lIns="0" rIns="0" tIns="0" bIns="0" anchor="t">
            <a:normAutofit/>
          </a:bodyPr>
          <a:p>
            <a:pPr marL="432000" indent="0" defTabSz="914400">
              <a:lnSpc>
                <a:spcPct val="100000"/>
              </a:lnSpc>
              <a:spcBef>
                <a:spcPts val="1417"/>
              </a:spcBef>
              <a:buNone/>
              <a:tabLst>
                <a:tab algn="l" pos="0"/>
              </a:tabLst>
            </a:pPr>
            <a:r>
              <a:rPr b="0" lang="en-US" sz="1600" spc="-1" strike="noStrike">
                <a:solidFill>
                  <a:srgbClr val="000000"/>
                </a:solidFill>
                <a:latin typeface="Arial"/>
                <a:ea typeface="DejaVu Sans"/>
              </a:rPr>
              <a:t>Putem obtine statistici dupa mai multe criterii : </a:t>
            </a:r>
            <a:r>
              <a:rPr b="0" i="1" lang="en-US" sz="1600" spc="-1" strike="noStrike">
                <a:solidFill>
                  <a:srgbClr val="000000"/>
                </a:solidFill>
                <a:latin typeface="Arial"/>
                <a:ea typeface="DejaVu Sans"/>
              </a:rPr>
              <a:t>tip de algoritm AI</a:t>
            </a:r>
            <a:r>
              <a:rPr b="0" lang="en-US" sz="1600" spc="-1" strike="noStrike">
                <a:solidFill>
                  <a:srgbClr val="000000"/>
                </a:solidFill>
                <a:latin typeface="Arial"/>
                <a:ea typeface="DejaVu Sans"/>
              </a:rPr>
              <a:t>,</a:t>
            </a:r>
            <a:r>
              <a:rPr b="0" i="1" lang="en-US" sz="1600" spc="-1" strike="noStrike">
                <a:solidFill>
                  <a:srgbClr val="000000"/>
                </a:solidFill>
                <a:latin typeface="Arial"/>
                <a:ea typeface="DejaVu Sans"/>
              </a:rPr>
              <a:t> perioada desfasurare meciuri</a:t>
            </a:r>
            <a:r>
              <a:rPr b="0" lang="en-US" sz="1600" spc="-1" strike="noStrike">
                <a:solidFill>
                  <a:srgbClr val="000000"/>
                </a:solidFill>
                <a:latin typeface="Arial"/>
                <a:ea typeface="DejaVu Sans"/>
              </a:rPr>
              <a:t>,  </a:t>
            </a:r>
            <a:r>
              <a:rPr b="0" i="1" lang="en-US" sz="1600" spc="-1" strike="noStrike">
                <a:solidFill>
                  <a:srgbClr val="000000"/>
                </a:solidFill>
                <a:latin typeface="Arial"/>
                <a:ea typeface="DejaVu Sans"/>
              </a:rPr>
              <a:t>o anumita liga, tip de rezultat in meci.</a:t>
            </a:r>
            <a:r>
              <a:rPr b="0" lang="en-US" sz="1600" spc="-1" strike="noStrike">
                <a:solidFill>
                  <a:srgbClr val="000000"/>
                </a:solidFill>
                <a:latin typeface="Arial"/>
                <a:ea typeface="DejaVu Sans"/>
              </a:rPr>
              <a:t> De asemenea se calculeaza </a:t>
            </a:r>
            <a:r>
              <a:rPr b="1" lang="en-US" sz="1600" spc="-1" strike="noStrike">
                <a:solidFill>
                  <a:srgbClr val="000000"/>
                </a:solidFill>
                <a:latin typeface="Arial"/>
                <a:ea typeface="DejaVu Sans"/>
              </a:rPr>
              <a:t>precizia predictiilor</a:t>
            </a:r>
            <a:r>
              <a:rPr b="0" lang="en-US" sz="1600" spc="-1" strike="noStrike">
                <a:solidFill>
                  <a:srgbClr val="000000"/>
                </a:solidFill>
                <a:latin typeface="Arial"/>
                <a:ea typeface="DejaVu Sans"/>
              </a:rPr>
              <a:t> pe fiecare tip de algoritm si fiecare tip de rezultat. (ex: pt rezultat “oaspeti” la NN obtinem o precizie de 0.506 pt meciurile desfasurate intre 01.11.2025 – 20.12.2025) (culorile semnifica tipul de rezultat din meci sau al predictiei pt  fi mai usor de identificat vizual)</a:t>
            </a:r>
            <a:endParaRPr b="0" lang="en-US" sz="1600" spc="-1" strike="noStrike">
              <a:solidFill>
                <a:srgbClr val="000000"/>
              </a:solidFill>
              <a:latin typeface="Arial"/>
            </a:endParaRPr>
          </a:p>
          <a:p>
            <a:pPr marL="432000" indent="0" defTabSz="914400">
              <a:lnSpc>
                <a:spcPct val="100000"/>
              </a:lnSpc>
              <a:spcBef>
                <a:spcPts val="1417"/>
              </a:spcBef>
              <a:buNone/>
              <a:tabLst>
                <a:tab algn="l" pos="0"/>
              </a:tabLst>
            </a:pPr>
            <a:endParaRPr b="0" lang="en-US" sz="1600" spc="-1" strike="noStrike">
              <a:solidFill>
                <a:srgbClr val="000000"/>
              </a:solidFill>
              <a:latin typeface="Arial"/>
            </a:endParaRPr>
          </a:p>
          <a:p>
            <a:pPr marL="432000" indent="0" defTabSz="914400">
              <a:lnSpc>
                <a:spcPct val="100000"/>
              </a:lnSpc>
              <a:spcBef>
                <a:spcPts val="1417"/>
              </a:spcBef>
              <a:buNone/>
              <a:tabLst>
                <a:tab algn="l" pos="0"/>
              </a:tabLst>
            </a:pPr>
            <a:endParaRPr b="0" lang="en-US" sz="1600" spc="-1" strike="noStrike">
              <a:solidFill>
                <a:srgbClr val="000000"/>
              </a:solidFill>
              <a:latin typeface="Arial"/>
            </a:endParaRPr>
          </a:p>
        </p:txBody>
      </p:sp>
      <p:pic>
        <p:nvPicPr>
          <p:cNvPr id="91" name="Picture 86" descr=""/>
          <p:cNvPicPr/>
          <p:nvPr/>
        </p:nvPicPr>
        <p:blipFill>
          <a:blip r:embed="rId1"/>
          <a:stretch/>
        </p:blipFill>
        <p:spPr>
          <a:xfrm>
            <a:off x="504000" y="2270160"/>
            <a:ext cx="9353520" cy="327780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dee6ef"/>
            </a:gs>
            <a:gs pos="100000">
              <a:srgbClr val="729fcf"/>
            </a:gs>
          </a:gsLst>
          <a:lin ang="3600000"/>
        </a:gradFill>
      </p:bgPr>
    </p:bg>
    <p:spTree>
      <p:nvGrpSpPr>
        <p:cNvPr id="1" name=""/>
        <p:cNvGrpSpPr/>
        <p:nvPr/>
      </p:nvGrpSpPr>
      <p:grpSpPr>
        <a:xfrm>
          <a:off x="0" y="0"/>
          <a:ext cx="0" cy="0"/>
          <a:chOff x="0" y="0"/>
          <a:chExt cx="0" cy="0"/>
        </a:xfrm>
      </p:grpSpPr>
      <p:sp>
        <p:nvSpPr>
          <p:cNvPr id="92" name="PlaceHolder 1"/>
          <p:cNvSpPr>
            <a:spLocks noGrp="1"/>
          </p:cNvSpPr>
          <p:nvPr>
            <p:ph type="title"/>
          </p:nvPr>
        </p:nvSpPr>
        <p:spPr>
          <a:xfrm>
            <a:off x="504000" y="226080"/>
            <a:ext cx="9069480" cy="514080"/>
          </a:xfrm>
          <a:prstGeom prst="rect">
            <a:avLst/>
          </a:prstGeom>
          <a:noFill/>
          <a:ln w="0">
            <a:noFill/>
          </a:ln>
        </p:spPr>
        <p:txBody>
          <a:bodyPr lIns="0" rIns="0" tIns="0" bIns="0" anchor="ctr">
            <a:noAutofit/>
          </a:bodyPr>
          <a:p>
            <a:pPr marL="571680" indent="-228600" algn="ctr">
              <a:lnSpc>
                <a:spcPct val="100000"/>
              </a:lnSpc>
              <a:buNone/>
              <a:tabLst>
                <a:tab algn="l" pos="0"/>
              </a:tabLst>
            </a:pPr>
            <a:r>
              <a:rPr b="1" lang="en-US" sz="2100" spc="-1" strike="noStrike">
                <a:solidFill>
                  <a:srgbClr val="222222"/>
                </a:solidFill>
                <a:latin typeface="Times New Roman"/>
                <a:ea typeface="Noto Sans CJK SC"/>
              </a:rPr>
              <a:t>Predictia pe meciuri care urmeaza a se desfasura</a:t>
            </a:r>
            <a:endParaRPr b="0" lang="en-US" sz="2100" spc="-1" strike="noStrike">
              <a:solidFill>
                <a:srgbClr val="000000"/>
              </a:solidFill>
              <a:latin typeface="Arial"/>
            </a:endParaRPr>
          </a:p>
        </p:txBody>
      </p:sp>
      <p:sp>
        <p:nvSpPr>
          <p:cNvPr id="93" name="PlaceHolder 2"/>
          <p:cNvSpPr>
            <a:spLocks noGrp="1"/>
          </p:cNvSpPr>
          <p:nvPr>
            <p:ph/>
          </p:nvPr>
        </p:nvSpPr>
        <p:spPr>
          <a:xfrm>
            <a:off x="504000" y="804600"/>
            <a:ext cx="9070200" cy="4421520"/>
          </a:xfrm>
          <a:prstGeom prst="rect">
            <a:avLst/>
          </a:prstGeom>
          <a:noFill/>
          <a:ln w="0">
            <a:noFill/>
          </a:ln>
        </p:spPr>
        <p:txBody>
          <a:bodyPr lIns="0" rIns="0" tIns="0" bIns="0" anchor="t">
            <a:normAutofit/>
          </a:bodyPr>
          <a:p>
            <a:pPr marL="432000" indent="0" defTabSz="914400">
              <a:lnSpc>
                <a:spcPct val="100000"/>
              </a:lnSpc>
              <a:spcBef>
                <a:spcPts val="1417"/>
              </a:spcBef>
              <a:buNone/>
              <a:tabLst>
                <a:tab algn="l" pos="0"/>
              </a:tabLst>
            </a:pPr>
            <a:endParaRPr b="0" lang="en-US" sz="1600" spc="-1" strike="noStrike">
              <a:solidFill>
                <a:srgbClr val="000000"/>
              </a:solidFill>
              <a:latin typeface="Arial"/>
            </a:endParaRPr>
          </a:p>
          <a:p>
            <a:pPr marL="432000" indent="-324000" defTabSz="914400">
              <a:lnSpc>
                <a:spcPct val="100000"/>
              </a:lnSpc>
              <a:spcBef>
                <a:spcPts val="1417"/>
              </a:spcBef>
              <a:buClr>
                <a:srgbClr val="000000"/>
              </a:buClr>
              <a:buSzPct val="45000"/>
              <a:buFont typeface="Wingdings" charset="2"/>
              <a:buChar char=""/>
              <a:tabLst>
                <a:tab algn="l" pos="0"/>
              </a:tabLst>
            </a:pPr>
            <a:r>
              <a:rPr b="0" lang="en-US" sz="1600" spc="-1" strike="noStrike">
                <a:solidFill>
                  <a:srgbClr val="000000"/>
                </a:solidFill>
                <a:latin typeface="Arial"/>
                <a:ea typeface="DejaVu Sans"/>
              </a:rPr>
              <a:t>Putem vizualiza predictiile pentru meciurile care nu s-au desfasurat, dupa mai multe criterii : </a:t>
            </a:r>
            <a:r>
              <a:rPr b="0" i="1" lang="en-US" sz="1600" spc="-1" strike="noStrike">
                <a:solidFill>
                  <a:srgbClr val="000000"/>
                </a:solidFill>
                <a:latin typeface="Arial"/>
                <a:ea typeface="DejaVu Sans"/>
              </a:rPr>
              <a:t>tip de algoritm AI</a:t>
            </a:r>
            <a:r>
              <a:rPr b="0" lang="en-US" sz="1600" spc="-1" strike="noStrike">
                <a:solidFill>
                  <a:srgbClr val="000000"/>
                </a:solidFill>
                <a:latin typeface="Arial"/>
                <a:ea typeface="DejaVu Sans"/>
              </a:rPr>
              <a:t>,</a:t>
            </a:r>
            <a:r>
              <a:rPr b="0" i="1" lang="en-US" sz="1600" spc="-1" strike="noStrike">
                <a:solidFill>
                  <a:srgbClr val="000000"/>
                </a:solidFill>
                <a:latin typeface="Arial"/>
                <a:ea typeface="DejaVu Sans"/>
              </a:rPr>
              <a:t> perioada desfasurare meciuri</a:t>
            </a:r>
            <a:r>
              <a:rPr b="0" lang="en-US" sz="1600" spc="-1" strike="noStrike">
                <a:solidFill>
                  <a:srgbClr val="000000"/>
                </a:solidFill>
                <a:latin typeface="Arial"/>
                <a:ea typeface="DejaVu Sans"/>
              </a:rPr>
              <a:t>,  </a:t>
            </a:r>
            <a:r>
              <a:rPr b="0" i="1" lang="en-US" sz="1600" spc="-1" strike="noStrike">
                <a:solidFill>
                  <a:srgbClr val="000000"/>
                </a:solidFill>
                <a:latin typeface="Arial"/>
                <a:ea typeface="DejaVu Sans"/>
              </a:rPr>
              <a:t>o anumita liga, tip de rezultat in meci</a:t>
            </a:r>
            <a:r>
              <a:rPr b="0" lang="en-US" sz="1600" spc="-1" strike="noStrike">
                <a:solidFill>
                  <a:srgbClr val="000000"/>
                </a:solidFill>
                <a:latin typeface="Arial"/>
                <a:ea typeface="DejaVu Sans"/>
              </a:rPr>
              <a:t>.  (culorile semnifica tipul de rezultat din meci sau al predictiei pt  fi mai usor de identificat vizual)</a:t>
            </a:r>
            <a:endParaRPr b="0" lang="en-US" sz="1600" spc="-1" strike="noStrike">
              <a:solidFill>
                <a:srgbClr val="000000"/>
              </a:solidFill>
              <a:latin typeface="Arial"/>
            </a:endParaRPr>
          </a:p>
          <a:p>
            <a:pPr marL="432000" indent="0" defTabSz="914400">
              <a:lnSpc>
                <a:spcPct val="100000"/>
              </a:lnSpc>
              <a:spcBef>
                <a:spcPts val="1417"/>
              </a:spcBef>
              <a:buNone/>
              <a:tabLst>
                <a:tab algn="l" pos="0"/>
              </a:tabLst>
            </a:pPr>
            <a:endParaRPr b="0" lang="en-US" sz="1600" spc="-1" strike="noStrike">
              <a:solidFill>
                <a:srgbClr val="000000"/>
              </a:solidFill>
              <a:latin typeface="Arial"/>
            </a:endParaRPr>
          </a:p>
          <a:p>
            <a:pPr marL="432000" indent="0" defTabSz="914400">
              <a:lnSpc>
                <a:spcPct val="100000"/>
              </a:lnSpc>
              <a:spcBef>
                <a:spcPts val="1417"/>
              </a:spcBef>
              <a:buNone/>
              <a:tabLst>
                <a:tab algn="l" pos="0"/>
              </a:tabLst>
            </a:pPr>
            <a:endParaRPr b="0" lang="en-US" sz="1600" spc="-1" strike="noStrike">
              <a:solidFill>
                <a:srgbClr val="000000"/>
              </a:solidFill>
              <a:latin typeface="Arial"/>
            </a:endParaRPr>
          </a:p>
        </p:txBody>
      </p:sp>
      <p:pic>
        <p:nvPicPr>
          <p:cNvPr id="94" name="Picture 89" descr=""/>
          <p:cNvPicPr/>
          <p:nvPr/>
        </p:nvPicPr>
        <p:blipFill>
          <a:blip r:embed="rId1"/>
          <a:stretch/>
        </p:blipFill>
        <p:spPr>
          <a:xfrm>
            <a:off x="1329480" y="2426040"/>
            <a:ext cx="7922520" cy="308988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dee6ef"/>
            </a:gs>
            <a:gs pos="100000">
              <a:srgbClr val="729fcf"/>
            </a:gs>
          </a:gsLst>
          <a:lin ang="3600000"/>
        </a:gradFill>
      </p:bgPr>
    </p:bg>
    <p:spTree>
      <p:nvGrpSpPr>
        <p:cNvPr id="1" name=""/>
        <p:cNvGrpSpPr/>
        <p:nvPr/>
      </p:nvGrpSpPr>
      <p:grpSpPr>
        <a:xfrm>
          <a:off x="0" y="0"/>
          <a:ext cx="0" cy="0"/>
          <a:chOff x="0" y="0"/>
          <a:chExt cx="0" cy="0"/>
        </a:xfrm>
      </p:grpSpPr>
      <p:sp>
        <p:nvSpPr>
          <p:cNvPr id="95" name="PlaceHolder 1"/>
          <p:cNvSpPr>
            <a:spLocks noGrp="1"/>
          </p:cNvSpPr>
          <p:nvPr>
            <p:ph type="title"/>
          </p:nvPr>
        </p:nvSpPr>
        <p:spPr>
          <a:xfrm>
            <a:off x="504000" y="226080"/>
            <a:ext cx="9069480" cy="944280"/>
          </a:xfrm>
          <a:prstGeom prst="rect">
            <a:avLst/>
          </a:prstGeom>
          <a:noFill/>
          <a:ln w="0">
            <a:noFill/>
          </a:ln>
        </p:spPr>
        <p:txBody>
          <a:bodyPr lIns="0" rIns="0" tIns="0" bIns="0" anchor="ctr">
            <a:noAutofit/>
          </a:bodyPr>
          <a:p>
            <a:pPr marL="571680" indent="-228600" algn="ctr">
              <a:lnSpc>
                <a:spcPct val="100000"/>
              </a:lnSpc>
              <a:buNone/>
              <a:tabLst>
                <a:tab algn="l" pos="0"/>
              </a:tabLst>
            </a:pPr>
            <a:r>
              <a:rPr b="1" lang="en-US" sz="2100" spc="-1" strike="noStrike">
                <a:solidFill>
                  <a:srgbClr val="222222"/>
                </a:solidFill>
                <a:latin typeface="Times New Roman"/>
                <a:ea typeface="Noto Sans CJK SC"/>
              </a:rPr>
              <a:t>Mediu de dezvoltare soft si hard</a:t>
            </a:r>
            <a:endParaRPr b="0" lang="en-US" sz="2100" spc="-1" strike="noStrike">
              <a:solidFill>
                <a:srgbClr val="000000"/>
              </a:solidFill>
              <a:latin typeface="Arial"/>
            </a:endParaRPr>
          </a:p>
        </p:txBody>
      </p:sp>
      <p:sp>
        <p:nvSpPr>
          <p:cNvPr id="96" name="PlaceHolder 2"/>
          <p:cNvSpPr>
            <a:spLocks noGrp="1"/>
          </p:cNvSpPr>
          <p:nvPr>
            <p:ph/>
          </p:nvPr>
        </p:nvSpPr>
        <p:spPr>
          <a:xfrm>
            <a:off x="504000" y="1326600"/>
            <a:ext cx="9070200" cy="3286800"/>
          </a:xfrm>
          <a:prstGeom prst="rect">
            <a:avLst/>
          </a:prstGeom>
          <a:noFill/>
          <a:ln w="0">
            <a:noFill/>
          </a:ln>
        </p:spPr>
        <p:txBody>
          <a:bodyPr lIns="0" rIns="0" tIns="0" bIns="0" anchor="t">
            <a:normAutofit/>
          </a:bodyPr>
          <a:p>
            <a:pPr marL="432000" indent="-324000" defTabSz="914400">
              <a:lnSpc>
                <a:spcPct val="100000"/>
              </a:lnSpc>
              <a:spcBef>
                <a:spcPts val="283"/>
              </a:spcBef>
              <a:buClr>
                <a:srgbClr val="000000"/>
              </a:buClr>
              <a:buSzPct val="45000"/>
              <a:buFont typeface="Wingdings" charset="2"/>
              <a:buChar char=""/>
            </a:pPr>
            <a:r>
              <a:rPr b="0" lang="en-US" sz="1200" spc="-1" strike="noStrike">
                <a:solidFill>
                  <a:srgbClr val="000000"/>
                </a:solidFill>
                <a:latin typeface="Arial"/>
                <a:ea typeface="DejaVu Sans"/>
              </a:rPr>
              <a:t>Sistem de operare Ubuntu 24.04.03 LTS</a:t>
            </a:r>
            <a:endParaRPr b="0" lang="en-US" sz="1200" spc="-1" strike="noStrike">
              <a:solidFill>
                <a:srgbClr val="000000"/>
              </a:solidFill>
              <a:latin typeface="Arial"/>
              <a:ea typeface="Noto Sans CJK SC"/>
            </a:endParaRPr>
          </a:p>
          <a:p>
            <a:pPr marL="432000" indent="-324000" defTabSz="914400">
              <a:lnSpc>
                <a:spcPct val="100000"/>
              </a:lnSpc>
              <a:spcBef>
                <a:spcPts val="283"/>
              </a:spcBef>
              <a:buClr>
                <a:srgbClr val="000000"/>
              </a:buClr>
              <a:buSzPct val="45000"/>
              <a:buFont typeface="Wingdings" charset="2"/>
              <a:buChar char=""/>
            </a:pPr>
            <a:r>
              <a:rPr b="0" lang="en-US" sz="1200" spc="-1" strike="noStrike">
                <a:solidFill>
                  <a:srgbClr val="000000"/>
                </a:solidFill>
                <a:latin typeface="Arial"/>
                <a:ea typeface="DejaVu Sans"/>
              </a:rPr>
              <a:t>Logarea performantelor algoritmilor AI a fost realizata cu mlflow : mlflow server --host 127.0.0.1 --port 5000</a:t>
            </a:r>
            <a:endParaRPr b="0" lang="en-US" sz="1200" spc="-1" strike="noStrike">
              <a:solidFill>
                <a:srgbClr val="000000"/>
              </a:solidFill>
              <a:latin typeface="Arial"/>
              <a:ea typeface="Noto Sans CJK SC"/>
            </a:endParaRPr>
          </a:p>
          <a:p>
            <a:pPr marL="432000" indent="-324000" defTabSz="914400">
              <a:lnSpc>
                <a:spcPct val="100000"/>
              </a:lnSpc>
              <a:spcBef>
                <a:spcPts val="283"/>
              </a:spcBef>
              <a:buClr>
                <a:srgbClr val="000000"/>
              </a:buClr>
              <a:buSzPct val="45000"/>
              <a:buFont typeface="Wingdings" charset="2"/>
              <a:buChar char=""/>
            </a:pPr>
            <a:r>
              <a:rPr b="0" lang="en-US" sz="1200" spc="-1" strike="noStrike">
                <a:solidFill>
                  <a:srgbClr val="000000"/>
                </a:solidFill>
                <a:latin typeface="Arial"/>
                <a:ea typeface="DejaVu Sans"/>
              </a:rPr>
              <a:t>Interfata dintre utilizator si modulele Python a fost realizata cu FastAPI : uvicorn fast_api:app –reload</a:t>
            </a:r>
            <a:endParaRPr b="0" lang="en-US" sz="1200" spc="-1" strike="noStrike">
              <a:solidFill>
                <a:srgbClr val="000000"/>
              </a:solidFill>
              <a:latin typeface="Arial"/>
              <a:ea typeface="Noto Sans CJK SC"/>
            </a:endParaRPr>
          </a:p>
          <a:p>
            <a:pPr marL="432000" indent="-324000" defTabSz="914400">
              <a:lnSpc>
                <a:spcPct val="100000"/>
              </a:lnSpc>
              <a:spcBef>
                <a:spcPts val="283"/>
              </a:spcBef>
              <a:buClr>
                <a:srgbClr val="000000"/>
              </a:buClr>
              <a:buSzPct val="45000"/>
              <a:buFont typeface="Wingdings" charset="2"/>
              <a:buChar char=""/>
            </a:pPr>
            <a:r>
              <a:rPr b="0" lang="en-US" sz="1200" spc="-1" strike="noStrike">
                <a:solidFill>
                  <a:srgbClr val="000000"/>
                </a:solidFill>
                <a:latin typeface="Arial"/>
                <a:ea typeface="DejaVu Sans"/>
              </a:rPr>
              <a:t>Server web folosit Apache Web Server</a:t>
            </a:r>
            <a:endParaRPr b="0" lang="en-US" sz="1200" spc="-1" strike="noStrike">
              <a:solidFill>
                <a:srgbClr val="000000"/>
              </a:solidFill>
              <a:latin typeface="Arial"/>
              <a:ea typeface="Noto Sans CJK SC"/>
            </a:endParaRPr>
          </a:p>
          <a:p>
            <a:pPr marL="432000" indent="-324000" defTabSz="914400">
              <a:lnSpc>
                <a:spcPct val="100000"/>
              </a:lnSpc>
              <a:spcBef>
                <a:spcPts val="283"/>
              </a:spcBef>
              <a:buClr>
                <a:srgbClr val="000000"/>
              </a:buClr>
              <a:buSzPct val="45000"/>
              <a:buFont typeface="Wingdings" charset="2"/>
              <a:buChar char=""/>
            </a:pPr>
            <a:r>
              <a:rPr b="0" lang="en-US" sz="1200" spc="-1" strike="noStrike">
                <a:solidFill>
                  <a:srgbClr val="000000"/>
                </a:solidFill>
                <a:latin typeface="Arial"/>
                <a:ea typeface="DejaVu Sans"/>
              </a:rPr>
              <a:t>Server Database MySQL 8.0.44</a:t>
            </a:r>
            <a:endParaRPr b="0" lang="en-US" sz="1200" spc="-1" strike="noStrike">
              <a:solidFill>
                <a:srgbClr val="000000"/>
              </a:solidFill>
              <a:latin typeface="Arial"/>
              <a:ea typeface="Noto Sans CJK SC"/>
            </a:endParaRPr>
          </a:p>
          <a:p>
            <a:pPr marL="432000" indent="-324000" defTabSz="914400">
              <a:lnSpc>
                <a:spcPct val="100000"/>
              </a:lnSpc>
              <a:spcBef>
                <a:spcPts val="283"/>
              </a:spcBef>
              <a:buClr>
                <a:srgbClr val="000000"/>
              </a:buClr>
              <a:buSzPct val="45000"/>
              <a:buFont typeface="Wingdings" charset="2"/>
              <a:buChar char=""/>
            </a:pPr>
            <a:r>
              <a:rPr b="0" lang="en-US" sz="1200" spc="-1" strike="noStrike">
                <a:solidFill>
                  <a:srgbClr val="000000"/>
                </a:solidFill>
                <a:latin typeface="Arial"/>
                <a:ea typeface="DejaVu Sans"/>
              </a:rPr>
              <a:t>Accesare server www localhost : </a:t>
            </a:r>
            <a:r>
              <a:rPr b="0" lang="en-US" sz="1200" spc="-1" strike="noStrike" u="sng">
                <a:solidFill>
                  <a:srgbClr val="0000ee"/>
                </a:solidFill>
                <a:uFillTx/>
                <a:latin typeface="Arial"/>
                <a:ea typeface="DejaVu Sans"/>
                <a:hlinkClick r:id="rId1"/>
              </a:rPr>
              <a:t>http://localhost</a:t>
            </a:r>
            <a:endParaRPr b="0" lang="en-US" sz="1200" spc="-1" strike="noStrike">
              <a:solidFill>
                <a:srgbClr val="000000"/>
              </a:solidFill>
              <a:latin typeface="Arial"/>
              <a:ea typeface="Noto Sans CJK SC"/>
            </a:endParaRPr>
          </a:p>
          <a:p>
            <a:pPr marL="432000" indent="-324000" defTabSz="914400">
              <a:lnSpc>
                <a:spcPct val="100000"/>
              </a:lnSpc>
              <a:spcBef>
                <a:spcPts val="283"/>
              </a:spcBef>
              <a:buClr>
                <a:srgbClr val="000000"/>
              </a:buClr>
              <a:buSzPct val="45000"/>
              <a:buFont typeface="Wingdings" charset="2"/>
              <a:buChar char=""/>
            </a:pPr>
            <a:r>
              <a:rPr b="0" lang="en-US" sz="1500" spc="-1" strike="noStrike">
                <a:solidFill>
                  <a:srgbClr val="000000"/>
                </a:solidFill>
                <a:latin typeface="Arial"/>
                <a:ea typeface="Noto Sans CJK SC"/>
              </a:rPr>
              <a:t>GitHub </a:t>
            </a:r>
            <a:r>
              <a:rPr b="0" lang="en-US" sz="1500" spc="-1" strike="noStrike">
                <a:solidFill>
                  <a:srgbClr val="000000"/>
                </a:solidFill>
                <a:latin typeface="Arial"/>
                <a:ea typeface="Noto Sans CJK SC"/>
                <a:hlinkClick r:id="rId2"/>
              </a:rPr>
              <a:t>https://github.com/hohagigi/FinalProjectSDA_HOHA.git</a:t>
            </a:r>
            <a:endParaRPr b="0" lang="en-US" sz="1500" spc="-1" strike="noStrike">
              <a:solidFill>
                <a:srgbClr val="000000"/>
              </a:solidFill>
              <a:latin typeface="Arial"/>
              <a:ea typeface="Noto Sans CJK SC"/>
            </a:endParaRPr>
          </a:p>
          <a:p>
            <a:pPr marL="432000" indent="0" defTabSz="914400">
              <a:lnSpc>
                <a:spcPct val="100000"/>
              </a:lnSpc>
              <a:spcBef>
                <a:spcPts val="283"/>
              </a:spcBef>
              <a:buNone/>
            </a:pPr>
            <a:endParaRPr b="0" lang="en-US" sz="1500" spc="-1" strike="noStrike">
              <a:solidFill>
                <a:srgbClr val="000000"/>
              </a:solidFill>
              <a:latin typeface="Arial"/>
              <a:ea typeface="Noto Sans CJK SC"/>
            </a:endParaRPr>
          </a:p>
          <a:p>
            <a:pPr marL="108000" indent="0" defTabSz="914400">
              <a:lnSpc>
                <a:spcPct val="100000"/>
              </a:lnSpc>
              <a:spcBef>
                <a:spcPts val="1191"/>
              </a:spcBef>
              <a:spcAft>
                <a:spcPts val="992"/>
              </a:spcAft>
              <a:buNone/>
              <a:tabLst>
                <a:tab algn="l" pos="0"/>
              </a:tabLst>
            </a:pPr>
            <a:r>
              <a:rPr b="0" lang="en-US" sz="1600" spc="-1" strike="noStrike">
                <a:solidFill>
                  <a:srgbClr val="000000"/>
                </a:solidFill>
                <a:latin typeface="Arial"/>
                <a:ea typeface="DejaVu Sans"/>
              </a:rPr>
              <a:t>Aplicatia a fost initial dezvoltata local, ca proiect partial in cadrul cursului SDA AI. Pe parcursul intregii perioade au fost aduse schimbari majore atat in abordarea problemei cat si in structurarea datelor si a codului.</a:t>
            </a:r>
            <a:endParaRPr b="0" lang="en-US" sz="1600" spc="-1" strike="noStrike">
              <a:solidFill>
                <a:srgbClr val="000000"/>
              </a:solidFill>
              <a:latin typeface="Arial"/>
            </a:endParaRPr>
          </a:p>
          <a:p>
            <a:pPr marL="108000" indent="0" defTabSz="914400">
              <a:lnSpc>
                <a:spcPct val="100000"/>
              </a:lnSpc>
              <a:spcBef>
                <a:spcPts val="1191"/>
              </a:spcBef>
              <a:spcAft>
                <a:spcPts val="992"/>
              </a:spcAft>
              <a:buNone/>
              <a:tabLst>
                <a:tab algn="l" pos="0"/>
              </a:tabLst>
            </a:pPr>
            <a:r>
              <a:rPr b="0" lang="en-US" sz="1600" spc="-1" strike="noStrike">
                <a:solidFill>
                  <a:srgbClr val="000000"/>
                </a:solidFill>
                <a:latin typeface="Arial"/>
                <a:ea typeface="DejaVu Sans"/>
              </a:rPr>
              <a:t>La finalul perioadei de development aplicatia a trecut printr-un proces de dockerizare.</a:t>
            </a:r>
            <a:endParaRPr b="0" lang="en-US" sz="1600" spc="-1" strike="noStrike">
              <a:solidFill>
                <a:srgbClr val="000000"/>
              </a:solidFill>
              <a:latin typeface="Arial"/>
            </a:endParaRPr>
          </a:p>
          <a:p>
            <a:pPr marL="864000" indent="0" defTabSz="914400">
              <a:lnSpc>
                <a:spcPct val="100000"/>
              </a:lnSpc>
              <a:spcBef>
                <a:spcPts val="1191"/>
              </a:spcBef>
              <a:spcAft>
                <a:spcPts val="992"/>
              </a:spcAft>
              <a:buNone/>
              <a:tabLst>
                <a:tab algn="l" pos="0"/>
              </a:tabLst>
            </a:pP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dee6ef"/>
            </a:gs>
            <a:gs pos="100000">
              <a:srgbClr val="729fcf"/>
            </a:gs>
          </a:gsLst>
          <a:lin ang="3600000"/>
        </a:gradFill>
      </p:bgPr>
    </p:bg>
    <p:spTree>
      <p:nvGrpSpPr>
        <p:cNvPr id="1" name=""/>
        <p:cNvGrpSpPr/>
        <p:nvPr/>
      </p:nvGrpSpPr>
      <p:grpSpPr>
        <a:xfrm>
          <a:off x="0" y="0"/>
          <a:ext cx="0" cy="0"/>
          <a:chOff x="0" y="0"/>
          <a:chExt cx="0" cy="0"/>
        </a:xfrm>
      </p:grpSpPr>
      <p:sp>
        <p:nvSpPr>
          <p:cNvPr id="97" name="PlaceHolder 1"/>
          <p:cNvSpPr>
            <a:spLocks noGrp="1"/>
          </p:cNvSpPr>
          <p:nvPr>
            <p:ph type="title"/>
          </p:nvPr>
        </p:nvSpPr>
        <p:spPr>
          <a:xfrm>
            <a:off x="504000" y="226080"/>
            <a:ext cx="9069480" cy="944280"/>
          </a:xfrm>
          <a:prstGeom prst="rect">
            <a:avLst/>
          </a:prstGeom>
          <a:noFill/>
          <a:ln w="0">
            <a:noFill/>
          </a:ln>
        </p:spPr>
        <p:txBody>
          <a:bodyPr lIns="0" rIns="0" tIns="0" bIns="0" anchor="ctr">
            <a:noAutofit/>
          </a:bodyPr>
          <a:p>
            <a:pPr marL="571680" indent="-228600" algn="ctr">
              <a:lnSpc>
                <a:spcPct val="100000"/>
              </a:lnSpc>
              <a:spcBef>
                <a:spcPts val="1191"/>
              </a:spcBef>
              <a:spcAft>
                <a:spcPts val="992"/>
              </a:spcAft>
              <a:buNone/>
              <a:tabLst>
                <a:tab algn="l" pos="0"/>
              </a:tabLst>
            </a:pPr>
            <a:r>
              <a:rPr b="1" lang="en-US" sz="2100" spc="-1" strike="noStrike">
                <a:solidFill>
                  <a:srgbClr val="222222"/>
                </a:solidFill>
                <a:latin typeface="Times New Roman"/>
                <a:ea typeface="Noto Sans CJK SC"/>
              </a:rPr>
              <a:t>Dockerizarea aplicatiei  </a:t>
            </a:r>
            <a:br>
              <a:rPr sz="2100"/>
            </a:br>
            <a:endParaRPr b="0" lang="en-US" sz="2100" spc="-1" strike="noStrike">
              <a:solidFill>
                <a:srgbClr val="000000"/>
              </a:solidFill>
              <a:latin typeface="Arial"/>
            </a:endParaRPr>
          </a:p>
        </p:txBody>
      </p:sp>
      <p:sp>
        <p:nvSpPr>
          <p:cNvPr id="98" name="PlaceHolder 2"/>
          <p:cNvSpPr>
            <a:spLocks noGrp="1"/>
          </p:cNvSpPr>
          <p:nvPr>
            <p:ph/>
          </p:nvPr>
        </p:nvSpPr>
        <p:spPr>
          <a:xfrm>
            <a:off x="504000" y="982800"/>
            <a:ext cx="9070200" cy="1774800"/>
          </a:xfrm>
          <a:prstGeom prst="rect">
            <a:avLst/>
          </a:prstGeom>
          <a:noFill/>
          <a:ln w="0">
            <a:noFill/>
          </a:ln>
        </p:spPr>
        <p:txBody>
          <a:bodyPr lIns="0" rIns="0" tIns="0" bIns="0" anchor="t">
            <a:normAutofit/>
          </a:bodyPr>
          <a:p>
            <a:pPr marL="432000" indent="0" defTabSz="914400">
              <a:lnSpc>
                <a:spcPct val="100000"/>
              </a:lnSpc>
              <a:spcBef>
                <a:spcPts val="1417"/>
              </a:spcBef>
              <a:buNone/>
              <a:tabLst>
                <a:tab algn="l" pos="0"/>
              </a:tabLst>
            </a:pPr>
            <a:r>
              <a:rPr b="0" lang="en-US" sz="1200" spc="-1" strike="noStrike">
                <a:solidFill>
                  <a:srgbClr val="000000"/>
                </a:solidFill>
                <a:latin typeface="Arial"/>
                <a:ea typeface="DejaVu Sans"/>
              </a:rPr>
              <a:t>Pentru mediul de dezvoltare am folosit o configuratie “dev”</a:t>
            </a:r>
            <a:r>
              <a:rPr b="0" lang="ro-RO" sz="1200" spc="-1" strike="noStrike">
                <a:solidFill>
                  <a:srgbClr val="000000"/>
                </a:solidFill>
                <a:latin typeface="Arial"/>
                <a:ea typeface="DejaVu Sans"/>
              </a:rPr>
              <a:t> care include 4 containere : (http://localhost:81)</a:t>
            </a:r>
            <a:endParaRPr b="0" lang="en-US" sz="1200" spc="-1" strike="noStrike">
              <a:solidFill>
                <a:srgbClr val="000000"/>
              </a:solidFill>
              <a:latin typeface="Arial"/>
            </a:endParaRPr>
          </a:p>
          <a:p>
            <a:pPr marL="432000" indent="0" defTabSz="914400">
              <a:lnSpc>
                <a:spcPct val="100000"/>
              </a:lnSpc>
              <a:spcBef>
                <a:spcPts val="1417"/>
              </a:spcBef>
              <a:buNone/>
              <a:tabLst>
                <a:tab algn="l" pos="0"/>
              </a:tabLst>
            </a:pPr>
            <a:endParaRPr b="0" lang="en-US" sz="1200" spc="-1" strike="noStrike">
              <a:solidFill>
                <a:srgbClr val="000000"/>
              </a:solidFill>
              <a:latin typeface="Arial"/>
            </a:endParaRPr>
          </a:p>
          <a:p>
            <a:pPr marL="432000" indent="0" defTabSz="914400">
              <a:lnSpc>
                <a:spcPct val="100000"/>
              </a:lnSpc>
              <a:spcBef>
                <a:spcPts val="1417"/>
              </a:spcBef>
              <a:buNone/>
              <a:tabLst>
                <a:tab algn="l" pos="0"/>
              </a:tabLst>
            </a:pPr>
            <a:endParaRPr b="0" lang="en-US" sz="1200" spc="-1" strike="noStrike">
              <a:solidFill>
                <a:srgbClr val="000000"/>
              </a:solidFill>
              <a:latin typeface="Arial"/>
            </a:endParaRPr>
          </a:p>
          <a:p>
            <a:pPr marL="432000" indent="0" defTabSz="914400">
              <a:lnSpc>
                <a:spcPct val="100000"/>
              </a:lnSpc>
              <a:spcBef>
                <a:spcPts val="1417"/>
              </a:spcBef>
              <a:buNone/>
              <a:tabLst>
                <a:tab algn="l" pos="0"/>
              </a:tabLst>
            </a:pPr>
            <a:endParaRPr b="0" lang="en-US" sz="1200" spc="-1" strike="noStrike">
              <a:solidFill>
                <a:srgbClr val="000000"/>
              </a:solidFill>
              <a:latin typeface="Arial"/>
            </a:endParaRPr>
          </a:p>
          <a:p>
            <a:pPr marL="432000" indent="0" defTabSz="914400">
              <a:lnSpc>
                <a:spcPct val="100000"/>
              </a:lnSpc>
              <a:spcBef>
                <a:spcPts val="1417"/>
              </a:spcBef>
              <a:buNone/>
              <a:tabLst>
                <a:tab algn="l" pos="0"/>
              </a:tabLst>
            </a:pPr>
            <a:endParaRPr b="0" lang="en-US" sz="1200" spc="-1" strike="noStrike">
              <a:solidFill>
                <a:srgbClr val="000000"/>
              </a:solidFill>
              <a:latin typeface="Arial"/>
            </a:endParaRPr>
          </a:p>
          <a:p>
            <a:pPr marL="432000" indent="0" defTabSz="914400">
              <a:lnSpc>
                <a:spcPct val="100000"/>
              </a:lnSpc>
              <a:spcBef>
                <a:spcPts val="1417"/>
              </a:spcBef>
              <a:buNone/>
              <a:tabLst>
                <a:tab algn="l" pos="0"/>
              </a:tabLst>
            </a:pPr>
            <a:endParaRPr b="0" lang="en-US" sz="1200" spc="-1" strike="noStrike">
              <a:solidFill>
                <a:srgbClr val="000000"/>
              </a:solidFill>
              <a:latin typeface="Arial"/>
            </a:endParaRPr>
          </a:p>
        </p:txBody>
      </p:sp>
      <p:pic>
        <p:nvPicPr>
          <p:cNvPr id="99" name="Picture 92" descr=""/>
          <p:cNvPicPr/>
          <p:nvPr/>
        </p:nvPicPr>
        <p:blipFill>
          <a:blip r:embed="rId1"/>
          <a:stretch/>
        </p:blipFill>
        <p:spPr>
          <a:xfrm>
            <a:off x="691200" y="294120"/>
            <a:ext cx="993600" cy="550800"/>
          </a:xfrm>
          <a:prstGeom prst="rect">
            <a:avLst/>
          </a:prstGeom>
          <a:ln w="0">
            <a:noFill/>
          </a:ln>
        </p:spPr>
      </p:pic>
      <p:grpSp>
        <p:nvGrpSpPr>
          <p:cNvPr id="100" name="Group 2"/>
          <p:cNvGrpSpPr/>
          <p:nvPr/>
        </p:nvGrpSpPr>
        <p:grpSpPr>
          <a:xfrm>
            <a:off x="936000" y="1316520"/>
            <a:ext cx="1906920" cy="866520"/>
            <a:chOff x="936000" y="1316520"/>
            <a:chExt cx="1906920" cy="866520"/>
          </a:xfrm>
        </p:grpSpPr>
        <p:sp>
          <p:nvSpPr>
            <p:cNvPr id="101" name="Rectangle 1"/>
            <p:cNvSpPr/>
            <p:nvPr/>
          </p:nvSpPr>
          <p:spPr>
            <a:xfrm>
              <a:off x="936000" y="1535760"/>
              <a:ext cx="1906920" cy="215280"/>
            </a:xfrm>
            <a:prstGeom prst="rect">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ro-RO" sz="1100" spc="-1" strike="noStrike">
                  <a:solidFill>
                    <a:schemeClr val="lt1"/>
                  </a:solidFill>
                  <a:latin typeface="Arial"/>
                  <a:ea typeface="DejaVu Sans"/>
                </a:rPr>
                <a:t>Image:finalprojectsda-web</a:t>
              </a:r>
              <a:endParaRPr b="0" lang="en-US" sz="1100" spc="-1" strike="noStrike">
                <a:solidFill>
                  <a:srgbClr val="ffffff"/>
                </a:solidFill>
                <a:latin typeface="Arial"/>
              </a:endParaRPr>
            </a:p>
          </p:txBody>
        </p:sp>
        <p:sp>
          <p:nvSpPr>
            <p:cNvPr id="102" name="Rectangle 5"/>
            <p:cNvSpPr/>
            <p:nvPr/>
          </p:nvSpPr>
          <p:spPr>
            <a:xfrm>
              <a:off x="936000" y="1316520"/>
              <a:ext cx="1906920" cy="215280"/>
            </a:xfrm>
            <a:prstGeom prst="rect">
              <a:avLst/>
            </a:prstGeom>
            <a:solidFill>
              <a:schemeClr val="accent2">
                <a:lumMod val="75000"/>
              </a:schemeClr>
            </a:solidFill>
            <a:ln>
              <a:solidFill>
                <a:srgbClr val="0070c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ro-RO" sz="1200" spc="-1" strike="noStrike">
                  <a:solidFill>
                    <a:schemeClr val="lt1"/>
                  </a:solidFill>
                  <a:latin typeface="Arial"/>
                  <a:ea typeface="DejaVu Sans"/>
                </a:rPr>
                <a:t>Container</a:t>
              </a:r>
              <a:endParaRPr b="0" lang="en-US" sz="1200" spc="-1" strike="noStrike">
                <a:solidFill>
                  <a:srgbClr val="ffffff"/>
                </a:solidFill>
                <a:latin typeface="Arial"/>
              </a:endParaRPr>
            </a:p>
          </p:txBody>
        </p:sp>
        <p:sp>
          <p:nvSpPr>
            <p:cNvPr id="103" name="Rectangle 6"/>
            <p:cNvSpPr/>
            <p:nvPr/>
          </p:nvSpPr>
          <p:spPr>
            <a:xfrm>
              <a:off x="936000" y="1751760"/>
              <a:ext cx="1906920" cy="215280"/>
            </a:xfrm>
            <a:prstGeom prst="rect">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ro-RO" sz="1200" spc="-1" strike="noStrike">
                  <a:solidFill>
                    <a:schemeClr val="lt1"/>
                  </a:solidFill>
                  <a:latin typeface="Arial"/>
                  <a:ea typeface="DejaVu Sans"/>
                </a:rPr>
                <a:t>ports 81:80</a:t>
              </a:r>
              <a:endParaRPr b="0" lang="en-US" sz="1200" spc="-1" strike="noStrike">
                <a:solidFill>
                  <a:srgbClr val="ffffff"/>
                </a:solidFill>
                <a:latin typeface="Arial"/>
              </a:endParaRPr>
            </a:p>
          </p:txBody>
        </p:sp>
        <p:sp>
          <p:nvSpPr>
            <p:cNvPr id="104" name="Rectangle 7"/>
            <p:cNvSpPr/>
            <p:nvPr/>
          </p:nvSpPr>
          <p:spPr>
            <a:xfrm>
              <a:off x="936000" y="1967760"/>
              <a:ext cx="1906920" cy="215280"/>
            </a:xfrm>
            <a:prstGeom prst="rect">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ro-RO" sz="1200" spc="-1" strike="noStrike">
                  <a:solidFill>
                    <a:schemeClr val="lt1"/>
                  </a:solidFill>
                  <a:latin typeface="Arial"/>
                  <a:ea typeface="DejaVu Sans"/>
                </a:rPr>
                <a:t>name: dev-web</a:t>
              </a:r>
              <a:endParaRPr b="0" lang="en-US" sz="1200" spc="-1" strike="noStrike">
                <a:solidFill>
                  <a:srgbClr val="ffffff"/>
                </a:solidFill>
                <a:latin typeface="Arial"/>
              </a:endParaRPr>
            </a:p>
          </p:txBody>
        </p:sp>
      </p:grpSp>
      <p:grpSp>
        <p:nvGrpSpPr>
          <p:cNvPr id="105" name="Group 9"/>
          <p:cNvGrpSpPr/>
          <p:nvPr/>
        </p:nvGrpSpPr>
        <p:grpSpPr>
          <a:xfrm>
            <a:off x="2995920" y="1317960"/>
            <a:ext cx="1906920" cy="866880"/>
            <a:chOff x="2995920" y="1317960"/>
            <a:chExt cx="1906920" cy="866880"/>
          </a:xfrm>
        </p:grpSpPr>
        <p:sp>
          <p:nvSpPr>
            <p:cNvPr id="106" name="Rectangle 10"/>
            <p:cNvSpPr/>
            <p:nvPr/>
          </p:nvSpPr>
          <p:spPr>
            <a:xfrm>
              <a:off x="2995920" y="1537560"/>
              <a:ext cx="1906920" cy="215280"/>
            </a:xfrm>
            <a:prstGeom prst="rect">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ro-RO" sz="1100" spc="-1" strike="noStrike">
                  <a:solidFill>
                    <a:schemeClr val="lt1"/>
                  </a:solidFill>
                  <a:latin typeface="Arial"/>
                  <a:ea typeface="DejaVu Sans"/>
                </a:rPr>
                <a:t>Image:finalprojectsda-api</a:t>
              </a:r>
              <a:endParaRPr b="0" lang="en-US" sz="1100" spc="-1" strike="noStrike">
                <a:solidFill>
                  <a:srgbClr val="ffffff"/>
                </a:solidFill>
                <a:latin typeface="Arial"/>
              </a:endParaRPr>
            </a:p>
          </p:txBody>
        </p:sp>
        <p:sp>
          <p:nvSpPr>
            <p:cNvPr id="107" name="Rectangle 11"/>
            <p:cNvSpPr/>
            <p:nvPr/>
          </p:nvSpPr>
          <p:spPr>
            <a:xfrm>
              <a:off x="2995920" y="1317960"/>
              <a:ext cx="1906920" cy="215280"/>
            </a:xfrm>
            <a:prstGeom prst="rect">
              <a:avLst/>
            </a:prstGeom>
            <a:solidFill>
              <a:schemeClr val="accent2">
                <a:lumMod val="75000"/>
              </a:schemeClr>
            </a:solidFill>
            <a:ln>
              <a:solidFill>
                <a:srgbClr val="0070c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ro-RO" sz="1200" spc="-1" strike="noStrike">
                  <a:solidFill>
                    <a:schemeClr val="lt1"/>
                  </a:solidFill>
                  <a:latin typeface="Arial"/>
                  <a:ea typeface="DejaVu Sans"/>
                </a:rPr>
                <a:t>Container</a:t>
              </a:r>
              <a:endParaRPr b="0" lang="en-US" sz="1200" spc="-1" strike="noStrike">
                <a:solidFill>
                  <a:srgbClr val="ffffff"/>
                </a:solidFill>
                <a:latin typeface="Arial"/>
              </a:endParaRPr>
            </a:p>
          </p:txBody>
        </p:sp>
        <p:sp>
          <p:nvSpPr>
            <p:cNvPr id="108" name="Rectangle 12"/>
            <p:cNvSpPr/>
            <p:nvPr/>
          </p:nvSpPr>
          <p:spPr>
            <a:xfrm>
              <a:off x="2995920" y="1753560"/>
              <a:ext cx="1906920" cy="215280"/>
            </a:xfrm>
            <a:prstGeom prst="rect">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ro-RO" sz="1200" spc="-1" strike="noStrike">
                  <a:solidFill>
                    <a:schemeClr val="lt1"/>
                  </a:solidFill>
                  <a:latin typeface="Arial"/>
                  <a:ea typeface="DejaVu Sans"/>
                </a:rPr>
                <a:t>ports 8000:8000</a:t>
              </a:r>
              <a:endParaRPr b="0" lang="en-US" sz="1200" spc="-1" strike="noStrike">
                <a:solidFill>
                  <a:srgbClr val="ffffff"/>
                </a:solidFill>
                <a:latin typeface="Arial"/>
              </a:endParaRPr>
            </a:p>
          </p:txBody>
        </p:sp>
        <p:sp>
          <p:nvSpPr>
            <p:cNvPr id="109" name="Rectangle 13"/>
            <p:cNvSpPr/>
            <p:nvPr/>
          </p:nvSpPr>
          <p:spPr>
            <a:xfrm>
              <a:off x="2995920" y="1969560"/>
              <a:ext cx="1906920" cy="215280"/>
            </a:xfrm>
            <a:prstGeom prst="rect">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ro-RO" sz="1200" spc="-1" strike="noStrike">
                  <a:solidFill>
                    <a:schemeClr val="lt1"/>
                  </a:solidFill>
                  <a:latin typeface="Arial"/>
                  <a:ea typeface="DejaVu Sans"/>
                </a:rPr>
                <a:t>name: dev-api</a:t>
              </a:r>
              <a:endParaRPr b="0" lang="en-US" sz="1200" spc="-1" strike="noStrike">
                <a:solidFill>
                  <a:srgbClr val="ffffff"/>
                </a:solidFill>
                <a:latin typeface="Arial"/>
              </a:endParaRPr>
            </a:p>
          </p:txBody>
        </p:sp>
      </p:grpSp>
      <p:grpSp>
        <p:nvGrpSpPr>
          <p:cNvPr id="110" name="Group 14"/>
          <p:cNvGrpSpPr/>
          <p:nvPr/>
        </p:nvGrpSpPr>
        <p:grpSpPr>
          <a:xfrm>
            <a:off x="5076000" y="1319760"/>
            <a:ext cx="1906920" cy="866520"/>
            <a:chOff x="5076000" y="1319760"/>
            <a:chExt cx="1906920" cy="866520"/>
          </a:xfrm>
        </p:grpSpPr>
        <p:sp>
          <p:nvSpPr>
            <p:cNvPr id="111" name="Rectangle 15"/>
            <p:cNvSpPr/>
            <p:nvPr/>
          </p:nvSpPr>
          <p:spPr>
            <a:xfrm>
              <a:off x="5076000" y="1539000"/>
              <a:ext cx="1906920" cy="215280"/>
            </a:xfrm>
            <a:prstGeom prst="rect">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ro-RO" sz="900" spc="-1" strike="noStrike">
                  <a:solidFill>
                    <a:schemeClr val="lt1"/>
                  </a:solidFill>
                  <a:latin typeface="Arial"/>
                  <a:ea typeface="DejaVu Sans"/>
                </a:rPr>
                <a:t>Image</a:t>
              </a:r>
              <a:r>
                <a:rPr b="0" lang="ro-RO" sz="1100" spc="-1" strike="noStrike">
                  <a:solidFill>
                    <a:schemeClr val="lt1"/>
                  </a:solidFill>
                  <a:latin typeface="Arial"/>
                  <a:ea typeface="DejaVu Sans"/>
                </a:rPr>
                <a:t>:finalprojectsda-mlflow</a:t>
              </a:r>
              <a:endParaRPr b="0" lang="en-US" sz="1100" spc="-1" strike="noStrike">
                <a:solidFill>
                  <a:srgbClr val="ffffff"/>
                </a:solidFill>
                <a:latin typeface="Arial"/>
              </a:endParaRPr>
            </a:p>
          </p:txBody>
        </p:sp>
        <p:sp>
          <p:nvSpPr>
            <p:cNvPr id="112" name="Rectangle 16"/>
            <p:cNvSpPr/>
            <p:nvPr/>
          </p:nvSpPr>
          <p:spPr>
            <a:xfrm>
              <a:off x="5076000" y="1319760"/>
              <a:ext cx="1906920" cy="215280"/>
            </a:xfrm>
            <a:prstGeom prst="rect">
              <a:avLst/>
            </a:prstGeom>
            <a:solidFill>
              <a:schemeClr val="accent2">
                <a:lumMod val="75000"/>
              </a:schemeClr>
            </a:solidFill>
            <a:ln>
              <a:solidFill>
                <a:srgbClr val="0070c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ro-RO" sz="1200" spc="-1" strike="noStrike">
                  <a:solidFill>
                    <a:schemeClr val="lt1"/>
                  </a:solidFill>
                  <a:latin typeface="Arial"/>
                  <a:ea typeface="DejaVu Sans"/>
                </a:rPr>
                <a:t>Container</a:t>
              </a:r>
              <a:endParaRPr b="0" lang="en-US" sz="1200" spc="-1" strike="noStrike">
                <a:solidFill>
                  <a:srgbClr val="ffffff"/>
                </a:solidFill>
                <a:latin typeface="Arial"/>
              </a:endParaRPr>
            </a:p>
          </p:txBody>
        </p:sp>
        <p:sp>
          <p:nvSpPr>
            <p:cNvPr id="113" name="Rectangle 17"/>
            <p:cNvSpPr/>
            <p:nvPr/>
          </p:nvSpPr>
          <p:spPr>
            <a:xfrm>
              <a:off x="5076000" y="1755000"/>
              <a:ext cx="1906920" cy="215280"/>
            </a:xfrm>
            <a:prstGeom prst="rect">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ro-RO" sz="1200" spc="-1" strike="noStrike">
                  <a:solidFill>
                    <a:schemeClr val="lt1"/>
                  </a:solidFill>
                  <a:latin typeface="Arial"/>
                  <a:ea typeface="DejaVu Sans"/>
                </a:rPr>
                <a:t>ports 5000:5000</a:t>
              </a:r>
              <a:endParaRPr b="0" lang="en-US" sz="1200" spc="-1" strike="noStrike">
                <a:solidFill>
                  <a:srgbClr val="ffffff"/>
                </a:solidFill>
                <a:latin typeface="Arial"/>
              </a:endParaRPr>
            </a:p>
          </p:txBody>
        </p:sp>
        <p:sp>
          <p:nvSpPr>
            <p:cNvPr id="114" name="Rectangle 18"/>
            <p:cNvSpPr/>
            <p:nvPr/>
          </p:nvSpPr>
          <p:spPr>
            <a:xfrm>
              <a:off x="5076000" y="1971000"/>
              <a:ext cx="1906920" cy="215280"/>
            </a:xfrm>
            <a:prstGeom prst="rect">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ro-RO" sz="1200" spc="-1" strike="noStrike">
                  <a:solidFill>
                    <a:schemeClr val="lt1"/>
                  </a:solidFill>
                  <a:latin typeface="Arial"/>
                  <a:ea typeface="DejaVu Sans"/>
                </a:rPr>
                <a:t>name: dev-mlflow</a:t>
              </a:r>
              <a:endParaRPr b="0" lang="en-US" sz="1200" spc="-1" strike="noStrike">
                <a:solidFill>
                  <a:srgbClr val="ffffff"/>
                </a:solidFill>
                <a:latin typeface="Arial"/>
              </a:endParaRPr>
            </a:p>
          </p:txBody>
        </p:sp>
      </p:grpSp>
      <p:grpSp>
        <p:nvGrpSpPr>
          <p:cNvPr id="115" name="Group 19"/>
          <p:cNvGrpSpPr/>
          <p:nvPr/>
        </p:nvGrpSpPr>
        <p:grpSpPr>
          <a:xfrm>
            <a:off x="7236000" y="1303920"/>
            <a:ext cx="1906920" cy="866880"/>
            <a:chOff x="7236000" y="1303920"/>
            <a:chExt cx="1906920" cy="866880"/>
          </a:xfrm>
        </p:grpSpPr>
        <p:sp>
          <p:nvSpPr>
            <p:cNvPr id="116" name="Rectangle 20"/>
            <p:cNvSpPr/>
            <p:nvPr/>
          </p:nvSpPr>
          <p:spPr>
            <a:xfrm>
              <a:off x="7236000" y="1523160"/>
              <a:ext cx="1906920" cy="215280"/>
            </a:xfrm>
            <a:prstGeom prst="rect">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ro-RO" sz="900" spc="-1" strike="noStrike">
                  <a:solidFill>
                    <a:schemeClr val="lt1"/>
                  </a:solidFill>
                  <a:latin typeface="Arial"/>
                  <a:ea typeface="DejaVu Sans"/>
                </a:rPr>
                <a:t>Image</a:t>
              </a:r>
              <a:r>
                <a:rPr b="0" lang="ro-RO" sz="1100" spc="-1" strike="noStrike">
                  <a:solidFill>
                    <a:schemeClr val="lt1"/>
                  </a:solidFill>
                  <a:latin typeface="Arial"/>
                  <a:ea typeface="DejaVu Sans"/>
                </a:rPr>
                <a:t>:mysql:8.0</a:t>
              </a:r>
              <a:endParaRPr b="0" lang="en-US" sz="1100" spc="-1" strike="noStrike">
                <a:solidFill>
                  <a:srgbClr val="ffffff"/>
                </a:solidFill>
                <a:latin typeface="Arial"/>
              </a:endParaRPr>
            </a:p>
          </p:txBody>
        </p:sp>
        <p:sp>
          <p:nvSpPr>
            <p:cNvPr id="117" name="Rectangle 21"/>
            <p:cNvSpPr/>
            <p:nvPr/>
          </p:nvSpPr>
          <p:spPr>
            <a:xfrm>
              <a:off x="7236000" y="1303920"/>
              <a:ext cx="1906920" cy="215280"/>
            </a:xfrm>
            <a:prstGeom prst="rect">
              <a:avLst/>
            </a:prstGeom>
            <a:solidFill>
              <a:schemeClr val="accent2">
                <a:lumMod val="75000"/>
              </a:schemeClr>
            </a:solidFill>
            <a:ln>
              <a:solidFill>
                <a:srgbClr val="0070c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ro-RO" sz="1200" spc="-1" strike="noStrike">
                  <a:solidFill>
                    <a:schemeClr val="lt1"/>
                  </a:solidFill>
                  <a:latin typeface="Arial"/>
                  <a:ea typeface="DejaVu Sans"/>
                </a:rPr>
                <a:t>Container</a:t>
              </a:r>
              <a:endParaRPr b="0" lang="en-US" sz="1200" spc="-1" strike="noStrike">
                <a:solidFill>
                  <a:srgbClr val="ffffff"/>
                </a:solidFill>
                <a:latin typeface="Arial"/>
              </a:endParaRPr>
            </a:p>
          </p:txBody>
        </p:sp>
        <p:sp>
          <p:nvSpPr>
            <p:cNvPr id="118" name="Rectangle 22"/>
            <p:cNvSpPr/>
            <p:nvPr/>
          </p:nvSpPr>
          <p:spPr>
            <a:xfrm>
              <a:off x="7236000" y="1739160"/>
              <a:ext cx="1906920" cy="215280"/>
            </a:xfrm>
            <a:prstGeom prst="rect">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ro-RO" sz="1200" spc="-1" strike="noStrike">
                  <a:solidFill>
                    <a:schemeClr val="lt1"/>
                  </a:solidFill>
                  <a:latin typeface="Arial"/>
                  <a:ea typeface="DejaVu Sans"/>
                </a:rPr>
                <a:t>ports 3307:3306</a:t>
              </a:r>
              <a:endParaRPr b="0" lang="en-US" sz="1200" spc="-1" strike="noStrike">
                <a:solidFill>
                  <a:srgbClr val="ffffff"/>
                </a:solidFill>
                <a:latin typeface="Arial"/>
              </a:endParaRPr>
            </a:p>
          </p:txBody>
        </p:sp>
        <p:sp>
          <p:nvSpPr>
            <p:cNvPr id="119" name="Rectangle 23"/>
            <p:cNvSpPr/>
            <p:nvPr/>
          </p:nvSpPr>
          <p:spPr>
            <a:xfrm>
              <a:off x="7236000" y="1955520"/>
              <a:ext cx="1906920" cy="215280"/>
            </a:xfrm>
            <a:prstGeom prst="rect">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ro-RO" sz="1200" spc="-1" strike="noStrike">
                  <a:solidFill>
                    <a:schemeClr val="lt1"/>
                  </a:solidFill>
                  <a:latin typeface="Arial"/>
                  <a:ea typeface="DejaVu Sans"/>
                </a:rPr>
                <a:t>name: my_bet_db</a:t>
              </a:r>
              <a:endParaRPr b="0" lang="en-US" sz="1200" spc="-1" strike="noStrike">
                <a:solidFill>
                  <a:srgbClr val="ffffff"/>
                </a:solidFill>
                <a:latin typeface="Arial"/>
              </a:endParaRPr>
            </a:p>
          </p:txBody>
        </p:sp>
      </p:grpSp>
      <p:sp>
        <p:nvSpPr>
          <p:cNvPr id="120" name="Rectangle 24"/>
          <p:cNvSpPr/>
          <p:nvPr/>
        </p:nvSpPr>
        <p:spPr>
          <a:xfrm>
            <a:off x="936000" y="2187360"/>
            <a:ext cx="1906920" cy="431280"/>
          </a:xfrm>
          <a:prstGeom prst="rect">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ro-RO" sz="1000" spc="-1" strike="noStrike">
                <a:solidFill>
                  <a:schemeClr val="lt1"/>
                </a:solidFill>
                <a:latin typeface="Arial"/>
                <a:ea typeface="DejaVu Sans"/>
              </a:rPr>
              <a:t>Include partea de web server (paginile html si php)</a:t>
            </a:r>
            <a:endParaRPr b="0" lang="en-US" sz="1000" spc="-1" strike="noStrike">
              <a:solidFill>
                <a:srgbClr val="ffffff"/>
              </a:solidFill>
              <a:latin typeface="Arial"/>
            </a:endParaRPr>
          </a:p>
        </p:txBody>
      </p:sp>
      <p:sp>
        <p:nvSpPr>
          <p:cNvPr id="121" name="Rectangle 26"/>
          <p:cNvSpPr/>
          <p:nvPr/>
        </p:nvSpPr>
        <p:spPr>
          <a:xfrm>
            <a:off x="2995560" y="2187360"/>
            <a:ext cx="1906920" cy="431280"/>
          </a:xfrm>
          <a:prstGeom prst="rect">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ro-RO" sz="1000" spc="-1" strike="noStrike">
                <a:solidFill>
                  <a:schemeClr val="lt1"/>
                </a:solidFill>
                <a:latin typeface="Arial"/>
                <a:ea typeface="DejaVu Sans"/>
              </a:rPr>
              <a:t>Include modulele de python (calcul clasamente, training si prediction)</a:t>
            </a:r>
            <a:endParaRPr b="0" lang="en-US" sz="1000" spc="-1" strike="noStrike">
              <a:solidFill>
                <a:srgbClr val="ffffff"/>
              </a:solidFill>
              <a:latin typeface="Arial"/>
            </a:endParaRPr>
          </a:p>
        </p:txBody>
      </p:sp>
      <p:sp>
        <p:nvSpPr>
          <p:cNvPr id="122" name="Rectangle 27"/>
          <p:cNvSpPr/>
          <p:nvPr/>
        </p:nvSpPr>
        <p:spPr>
          <a:xfrm>
            <a:off x="5076000" y="2187720"/>
            <a:ext cx="1906920" cy="431280"/>
          </a:xfrm>
          <a:prstGeom prst="rect">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ro-RO" sz="1000" spc="-1" strike="noStrike">
                <a:solidFill>
                  <a:schemeClr val="lt1"/>
                </a:solidFill>
                <a:latin typeface="Arial"/>
                <a:ea typeface="DejaVu Sans"/>
              </a:rPr>
              <a:t>Include partea de logare performante modele AI</a:t>
            </a:r>
            <a:endParaRPr b="0" lang="en-US" sz="1000" spc="-1" strike="noStrike">
              <a:solidFill>
                <a:srgbClr val="ffffff"/>
              </a:solidFill>
              <a:latin typeface="Arial"/>
            </a:endParaRPr>
          </a:p>
        </p:txBody>
      </p:sp>
      <p:sp>
        <p:nvSpPr>
          <p:cNvPr id="123" name="Rectangle 28"/>
          <p:cNvSpPr/>
          <p:nvPr/>
        </p:nvSpPr>
        <p:spPr>
          <a:xfrm>
            <a:off x="7236000" y="2187360"/>
            <a:ext cx="1906920" cy="431280"/>
          </a:xfrm>
          <a:prstGeom prst="rect">
            <a:avLst/>
          </a:prstGeom>
          <a:solidFill>
            <a:schemeClr val="accent2">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ro-RO" sz="1000" spc="-1" strike="noStrike">
                <a:solidFill>
                  <a:schemeClr val="lt1"/>
                </a:solidFill>
                <a:latin typeface="Arial"/>
                <a:ea typeface="DejaVu Sans"/>
              </a:rPr>
              <a:t>Include partea de  baze de date</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dee6ef"/>
            </a:gs>
            <a:gs pos="100000">
              <a:srgbClr val="729fcf"/>
            </a:gs>
          </a:gsLst>
          <a:lin ang="3600000"/>
        </a:gradFill>
      </p:bgPr>
    </p:bg>
    <p:spTree>
      <p:nvGrpSpPr>
        <p:cNvPr id="1" name=""/>
        <p:cNvGrpSpPr/>
        <p:nvPr/>
      </p:nvGrpSpPr>
      <p:grpSpPr>
        <a:xfrm>
          <a:off x="0" y="0"/>
          <a:ext cx="0" cy="0"/>
          <a:chOff x="0" y="0"/>
          <a:chExt cx="0" cy="0"/>
        </a:xfrm>
      </p:grpSpPr>
      <p:sp>
        <p:nvSpPr>
          <p:cNvPr id="124" name="PlaceHolder 1"/>
          <p:cNvSpPr>
            <a:spLocks noGrp="1"/>
          </p:cNvSpPr>
          <p:nvPr>
            <p:ph type="title"/>
          </p:nvPr>
        </p:nvSpPr>
        <p:spPr>
          <a:xfrm>
            <a:off x="504000" y="226080"/>
            <a:ext cx="9069480" cy="1108800"/>
          </a:xfrm>
          <a:prstGeom prst="rect">
            <a:avLst/>
          </a:prstGeom>
          <a:noFill/>
          <a:ln w="0">
            <a:noFill/>
          </a:ln>
        </p:spPr>
        <p:txBody>
          <a:bodyPr lIns="0" rIns="0" tIns="0" bIns="0" anchor="ctr">
            <a:noAutofit/>
          </a:bodyPr>
          <a:p>
            <a:pPr marL="571680" indent="-228600" algn="ctr">
              <a:lnSpc>
                <a:spcPct val="100000"/>
              </a:lnSpc>
              <a:buNone/>
              <a:tabLst>
                <a:tab algn="l" pos="0"/>
              </a:tabLst>
            </a:pPr>
            <a:r>
              <a:rPr b="1" lang="en-US" sz="2100" spc="-1" strike="noStrike">
                <a:solidFill>
                  <a:srgbClr val="222222"/>
                </a:solidFill>
                <a:latin typeface="Times New Roman"/>
                <a:ea typeface="Noto Sans CJK SC"/>
              </a:rPr>
              <a:t>Planuri de viitor pentru aplicatie</a:t>
            </a:r>
            <a:endParaRPr b="0" lang="en-US" sz="2100" spc="-1" strike="noStrike">
              <a:solidFill>
                <a:srgbClr val="000000"/>
              </a:solidFill>
              <a:latin typeface="Arial"/>
            </a:endParaRPr>
          </a:p>
        </p:txBody>
      </p:sp>
      <p:sp>
        <p:nvSpPr>
          <p:cNvPr id="125" name="PlaceHolder 2"/>
          <p:cNvSpPr>
            <a:spLocks noGrp="1"/>
          </p:cNvSpPr>
          <p:nvPr>
            <p:ph/>
          </p:nvPr>
        </p:nvSpPr>
        <p:spPr>
          <a:xfrm>
            <a:off x="504000" y="1729440"/>
            <a:ext cx="9070200" cy="3357000"/>
          </a:xfrm>
          <a:prstGeom prst="rect">
            <a:avLst/>
          </a:prstGeom>
          <a:noFill/>
          <a:ln w="0">
            <a:noFill/>
          </a:ln>
        </p:spPr>
        <p:txBody>
          <a:bodyPr lIns="0" rIns="0" tIns="0" bIns="0" anchor="t">
            <a:normAutofit fontScale="81111"/>
          </a:bodyPr>
          <a:p>
            <a:pPr marL="432000" indent="-324000" defTabSz="914400">
              <a:lnSpc>
                <a:spcPct val="100000"/>
              </a:lnSpc>
              <a:spcBef>
                <a:spcPts val="1417"/>
              </a:spcBef>
              <a:buClr>
                <a:srgbClr val="000000"/>
              </a:buClr>
              <a:buSzPct val="45000"/>
              <a:buFont typeface="Wingdings" charset="2"/>
              <a:buChar char=""/>
            </a:pPr>
            <a:r>
              <a:rPr b="0" lang="en-US" sz="1400" spc="-1" strike="noStrike">
                <a:solidFill>
                  <a:srgbClr val="000000"/>
                </a:solidFill>
                <a:latin typeface="Arial"/>
                <a:ea typeface="DejaVu Sans"/>
              </a:rPr>
              <a:t>Creare de modele pentru intervale bine definite de cote (ex: cota castig gazde intre 1.1 si 1.6) si aplicarea lor tot pe aceleasi intervale</a:t>
            </a:r>
            <a:endParaRPr b="0" lang="en-US" sz="1400" spc="-1" strike="noStrike">
              <a:solidFill>
                <a:srgbClr val="000000"/>
              </a:solidFill>
              <a:latin typeface="Arial"/>
            </a:endParaRPr>
          </a:p>
          <a:p>
            <a:pPr marL="432000" indent="-324000" defTabSz="914400">
              <a:lnSpc>
                <a:spcPct val="100000"/>
              </a:lnSpc>
              <a:spcBef>
                <a:spcPts val="1417"/>
              </a:spcBef>
              <a:buClr>
                <a:srgbClr val="000000"/>
              </a:buClr>
              <a:buSzPct val="45000"/>
              <a:buFont typeface="Wingdings" charset="2"/>
              <a:buChar char=""/>
            </a:pPr>
            <a:r>
              <a:rPr b="0" lang="en-US" sz="1400" spc="-1" strike="noStrike">
                <a:solidFill>
                  <a:srgbClr val="000000"/>
                </a:solidFill>
                <a:latin typeface="Arial"/>
                <a:ea typeface="DejaVu Sans"/>
              </a:rPr>
              <a:t>Aplicarea inca odata a unui algoritm AI doar pentru inregistrarile care sunt considerate surprize.</a:t>
            </a:r>
            <a:endParaRPr b="0" lang="en-US" sz="1400" spc="-1" strike="noStrike">
              <a:solidFill>
                <a:srgbClr val="000000"/>
              </a:solidFill>
              <a:latin typeface="Arial"/>
            </a:endParaRPr>
          </a:p>
          <a:p>
            <a:pPr marL="432000" indent="-324000" defTabSz="914400">
              <a:lnSpc>
                <a:spcPct val="100000"/>
              </a:lnSpc>
              <a:spcBef>
                <a:spcPts val="1417"/>
              </a:spcBef>
              <a:buClr>
                <a:srgbClr val="000000"/>
              </a:buClr>
              <a:buSzPct val="45000"/>
              <a:buFont typeface="Wingdings" charset="2"/>
              <a:buChar char=""/>
            </a:pPr>
            <a:r>
              <a:rPr b="0" lang="en-US" sz="1400" spc="-1" strike="noStrike">
                <a:solidFill>
                  <a:srgbClr val="000000"/>
                </a:solidFill>
                <a:latin typeface="Arial"/>
                <a:ea typeface="DejaVu Sans"/>
              </a:rPr>
              <a:t>Adaptarea functiei piRating </a:t>
            </a:r>
            <a:endParaRPr b="0" lang="en-US" sz="1400" spc="-1" strike="noStrike">
              <a:solidFill>
                <a:srgbClr val="000000"/>
              </a:solidFill>
              <a:latin typeface="Arial"/>
            </a:endParaRPr>
          </a:p>
          <a:p>
            <a:pPr marL="432000" indent="-324000" defTabSz="914400">
              <a:lnSpc>
                <a:spcPct val="100000"/>
              </a:lnSpc>
              <a:spcBef>
                <a:spcPts val="1417"/>
              </a:spcBef>
              <a:buClr>
                <a:srgbClr val="000000"/>
              </a:buClr>
              <a:buSzPct val="45000"/>
              <a:buFont typeface="Wingdings" charset="2"/>
              <a:buChar char=""/>
            </a:pPr>
            <a:r>
              <a:rPr b="0" lang="en-US" sz="1400" spc="-1" strike="noStrike">
                <a:solidFill>
                  <a:srgbClr val="000000"/>
                </a:solidFill>
                <a:latin typeface="Arial"/>
                <a:ea typeface="DejaVu Sans"/>
              </a:rPr>
              <a:t>Documentarea din studii legate de predictia rezultatelor sportive folosind algoritmi de ML precum:</a:t>
            </a:r>
            <a:endParaRPr b="0" lang="en-US" sz="1400" spc="-1" strike="noStrike">
              <a:solidFill>
                <a:srgbClr val="000000"/>
              </a:solidFill>
              <a:latin typeface="Arial"/>
            </a:endParaRPr>
          </a:p>
          <a:p>
            <a:pPr lvl="1" marL="864000" indent="-324000" defTabSz="914400">
              <a:lnSpc>
                <a:spcPct val="100000"/>
              </a:lnSpc>
              <a:spcBef>
                <a:spcPts val="1191"/>
              </a:spcBef>
              <a:spcAft>
                <a:spcPts val="992"/>
              </a:spcAft>
              <a:buClr>
                <a:srgbClr val="000000"/>
              </a:buClr>
              <a:buSzPct val="75000"/>
              <a:buFont typeface="Wingdings" charset="2"/>
              <a:buChar char=""/>
            </a:pPr>
            <a:r>
              <a:rPr b="0" lang="en-US" sz="1400" spc="-1" strike="noStrike">
                <a:solidFill>
                  <a:srgbClr val="000000"/>
                </a:solidFill>
                <a:latin typeface="Arial"/>
                <a:ea typeface="DejaVu Sans"/>
              </a:rPr>
              <a:t>Incorporating domain knowledge in machine learning for soccer outcome prediction</a:t>
            </a:r>
            <a:r>
              <a:rPr b="0" lang="en-US" sz="1400" spc="-1" strike="noStrike" u="sng">
                <a:solidFill>
                  <a:srgbClr val="0000ee"/>
                </a:solidFill>
                <a:uFillTx/>
                <a:latin typeface="Arial"/>
                <a:ea typeface="DejaVu Sans"/>
                <a:hlinkClick r:id="rId1"/>
              </a:rPr>
              <a:t>https://link.springer.com/article/10.1007/s10994-018-5747-8</a:t>
            </a:r>
            <a:r>
              <a:rPr b="0" lang="en-US" sz="1400" spc="-1" strike="noStrike">
                <a:solidFill>
                  <a:srgbClr val="000000"/>
                </a:solidFill>
                <a:latin typeface="Arial"/>
                <a:ea typeface="DejaVu Sans"/>
              </a:rPr>
              <a:t> </a:t>
            </a:r>
            <a:endParaRPr b="0" lang="en-US" sz="1400" spc="-1" strike="noStrike">
              <a:solidFill>
                <a:srgbClr val="000000"/>
              </a:solidFill>
              <a:latin typeface="Arial"/>
            </a:endParaRPr>
          </a:p>
          <a:p>
            <a:pPr lvl="1" marL="864000" indent="-324000" defTabSz="914400">
              <a:lnSpc>
                <a:spcPct val="100000"/>
              </a:lnSpc>
              <a:spcBef>
                <a:spcPts val="1191"/>
              </a:spcBef>
              <a:spcAft>
                <a:spcPts val="992"/>
              </a:spcAft>
              <a:buClr>
                <a:srgbClr val="000000"/>
              </a:buClr>
              <a:buSzPct val="75000"/>
              <a:buFont typeface="Wingdings" charset="2"/>
              <a:buChar char=""/>
            </a:pPr>
            <a:r>
              <a:rPr b="0" lang="en-US" sz="1400" spc="-1" strike="noStrike">
                <a:solidFill>
                  <a:srgbClr val="000000"/>
                </a:solidFill>
                <a:latin typeface="Arial"/>
                <a:ea typeface="DejaVu Sans"/>
              </a:rPr>
              <a:t>Data-driven prediction of soccer outcomes using enhanced machine and deep learning techniques </a:t>
            </a:r>
            <a:r>
              <a:rPr b="0" lang="en-US" sz="1400" spc="-1" strike="noStrike">
                <a:solidFill>
                  <a:srgbClr val="000000"/>
                </a:solidFill>
                <a:latin typeface="Arial"/>
                <a:ea typeface="DejaVu Sans"/>
                <a:hlinkClick r:id="rId2"/>
              </a:rPr>
              <a:t>https://link.springer.com/article/10.1186/s40537-024-01008-2</a:t>
            </a:r>
            <a:endParaRPr b="0" lang="en-US" sz="1400" spc="-1" strike="noStrike">
              <a:solidFill>
                <a:srgbClr val="000000"/>
              </a:solidFill>
              <a:latin typeface="Arial"/>
            </a:endParaRPr>
          </a:p>
          <a:p>
            <a:pPr marL="432000" indent="-324000" defTabSz="914400">
              <a:lnSpc>
                <a:spcPct val="100000"/>
              </a:lnSpc>
              <a:spcBef>
                <a:spcPts val="1417"/>
              </a:spcBef>
              <a:buClr>
                <a:srgbClr val="000000"/>
              </a:buClr>
              <a:buSzPct val="45000"/>
              <a:buFont typeface="Wingdings" charset="2"/>
              <a:buChar char=""/>
            </a:pPr>
            <a:r>
              <a:rPr b="0" lang="en-US" sz="1400" spc="-1" strike="noStrike">
                <a:solidFill>
                  <a:srgbClr val="000000"/>
                </a:solidFill>
                <a:latin typeface="Arial"/>
                <a:ea typeface="DejaVu Sans"/>
              </a:rPr>
              <a:t>Folosirea unui nginx server pentru DNS forwarding si </a:t>
            </a:r>
            <a:endParaRPr b="0" lang="en-US" sz="1400" spc="-1" strike="noStrike">
              <a:solidFill>
                <a:srgbClr val="000000"/>
              </a:solidFill>
              <a:latin typeface="Arial"/>
            </a:endParaRPr>
          </a:p>
          <a:p>
            <a:pPr marL="864000" indent="0" defTabSz="914400">
              <a:lnSpc>
                <a:spcPct val="100000"/>
              </a:lnSpc>
              <a:spcBef>
                <a:spcPts val="1191"/>
              </a:spcBef>
              <a:spcAft>
                <a:spcPts val="992"/>
              </a:spcAft>
              <a:buNone/>
              <a:tabLst>
                <a:tab algn="l" pos="0"/>
              </a:tabLst>
            </a:pPr>
            <a:r>
              <a:rPr b="0" lang="en-US" sz="1600" spc="-1" strike="noStrike">
                <a:solidFill>
                  <a:srgbClr val="000000"/>
                </a:solidFill>
                <a:latin typeface="Arial"/>
                <a:ea typeface="DejaVu Sans"/>
              </a:rPr>
              <a:t> </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17299</TotalTime>
  <Application>LibreOffice/24.2.7.2$Linux_X86_64 LibreOffice_project/420$Build-2</Application>
  <AppVersion>15.0000</AppVersion>
  <Words>2475</Words>
  <Paragraphs>239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2025-11-25T17:48:16Z</dcterms:created>
  <dc:creator/>
  <dc:description/>
  <dc:language>en-US</dc:language>
  <cp:lastModifiedBy/>
  <dcterms:modified xsi:type="dcterms:W3CDTF">2025-12-27T17:13:10Z</dcterms:modified>
  <cp:revision>54</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Custom</vt:lpwstr>
  </property>
  <property fmtid="{D5CDD505-2E9C-101B-9397-08002B2CF9AE}" pid="3" name="Slides">
    <vt:i4>19</vt:i4>
  </property>
</Properties>
</file>